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7" r:id="rId13"/>
    <p:sldId id="268" r:id="rId14"/>
    <p:sldId id="269" r:id="rId15"/>
    <p:sldId id="270" r:id="rId16"/>
    <p:sldId id="276" r:id="rId17"/>
    <p:sldId id="271" r:id="rId18"/>
    <p:sldId id="272" r:id="rId19"/>
    <p:sldId id="273" r:id="rId20"/>
    <p:sldId id="274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E3EC"/>
    <a:srgbClr val="EFFA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13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6781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تشرح العنوان. اتركه يُشرح نفسه في القسم الأول.
قواعد الإلقاء: المسؤولية تُنسب إلى الأدوات لا إلى الأشخاص · كل عقبة تُعرض تُغلق · لا رقم غير مُتحقَّق.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تتخطَّ اللوح الأيمن. مالك النظام القائم في القاعة، والإنصاف هو ما يجعله يستمع بدل أن يدافع.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شغّل اللقطة أو اعرض صورة الشيت المموّهة، واصمت عشر ثوان، ثم اقرأ السطر الأخير ببطء. لا تُضف بعده شيئاً.
تحذير: لا تُعرض أي صورة قبل تمويه أسماء العملاء وأرقام هواتفهم.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الشريحة هي محور القسم الأول. اشرح المبادئ الأربعة في دقيقتين، ثم شغّل اللقطة واصمت، ثم اقرأ الشريط.
يُذكر استيعاب الجهد مرة واحدة فقط ثم يُنتقل.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افتخار. هذه إجابة عن سؤالٍ واحد: لماذا استغرق العمل هذه المدة.
مهمة قبل الاجتماع: تحقّق من أن البيانات نُقلت فعلاً إلى القاعدة الهدف قبل قول أي رقم عن النقل.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الشريحة تحمل السعة. العمق في الشرائح التالية — فلا تشرح هنا، اعرض الخريطة وامضِ.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اربطها بالماضي: التاريخ الكامل لعميلٍ واحد كان يستلزم فتح ملفٍ لكل شهر ولكل دور. اليوم شاشة واحدة.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الجهاز في البنية القائمة كان سطراً في عقد. اليوم كيانٌ له تاريخ — وهذا ما يجعل تحليل الأعطال ممكناً.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تقل «متوقفاً» — النظام القائم فيه 20,948 طلباً و13,780 مقابلة، فيُدحض الوصف بالأرقام. قل «مبتوراً» بدليله.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الحالات مأخوذة من قيود التحقّق في قاعدة البيانات — أي ما يفرضه النظام فعلاً، لا ما نقوله عنه.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اربطها بما بعدها: نظافة هذه النقطة هي شرط صحة كل رقم يُعرض بعدها.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اربطها بما بعدها: نظافة هذه النقطة هي شرط صحة كل رقم يُعرض بعدها.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527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أعقد ما بُني. المفتاح: الاستبعاد صار قراراً مُعلَّلاً بسبب، وكان قبلها إغفالاً لا يُعرف.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الوحدة هي أساس ما يليها. اشرحها قبل الزيارة لا بعدها.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قلب التغيير. الزيارة حدثٌ لوجستي، والنتيجة خاصّةٌ بالعمل — وحملُها على الزيارة كان يخلط الوعاء بالمحتوى.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قلب التغيير. الزيارة حدثٌ لوجستي، والنتيجة خاصّةٌ بالعمل — وحملُها على الزيارة كان يخلط الوعاء بالمحتوى.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5331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أوضح مثال على الطابع الإداري: الأثر البيعي صار قابلاً للقياس لأول مرة.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أقوى مقارنة تفصيلية في العرض: مرئية في صورة الملف، ومسندة في بنية النظام معاً.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الفصل هو شرط إمكان كل ما سبقه: لولاه لا صيانة دورية قابلة للإدارة ولا هوية للجهاز.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الطلب الوارد من التطبيق لا يبقى رسالة: يتحوّل إلى مهمة داخل خطة الفرع. هذه هي الحلقة التي تُغلق المنظومة.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kern="0" spc="200" dirty="0">
                <a:solidFill>
                  <a:srgbClr val="1C6E8C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GOLDEN CRM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94360" y="21031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60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من نظام تسجيل إلى منظومة تشغيل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94360" y="33375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dirty="0">
                <a:solidFill>
                  <a:srgbClr val="C8D6E2"/>
                </a:solidFill>
                <a:latin typeface="Dubai Light" pitchFamily="34" charset="0"/>
                <a:ea typeface="Dubai Light" pitchFamily="34" charset="-122"/>
                <a:cs typeface="Dubai Light" pitchFamily="34" charset="-120"/>
              </a:rPr>
              <a:t>ترقيةٌ في الهدف، وتأسيسٌ في العمل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335524" y="5394960"/>
            <a:ext cx="173736" cy="173736"/>
          </a:xfrm>
          <a:prstGeom prst="rect">
            <a:avLst/>
          </a:prstGeom>
          <a:solidFill>
            <a:srgbClr val="A06C2C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0" y="5394960"/>
            <a:ext cx="173736" cy="173736"/>
          </a:xfrm>
          <a:prstGeom prst="rect">
            <a:avLst/>
          </a:prstGeom>
          <a:solidFill>
            <a:srgbClr val="A06C2C">
              <a:alpha val="29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20156" y="5394960"/>
            <a:ext cx="173736" cy="173736"/>
          </a:xfrm>
          <a:prstGeom prst="rect">
            <a:avLst/>
          </a:prstGeom>
          <a:solidFill>
            <a:srgbClr val="A06C2C">
              <a:alpha val="3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62472" y="5394960"/>
            <a:ext cx="173736" cy="173736"/>
          </a:xfrm>
          <a:prstGeom prst="rect">
            <a:avLst/>
          </a:prstGeom>
          <a:solidFill>
            <a:srgbClr val="A06C2C">
              <a:alpha val="3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4788" y="5394960"/>
            <a:ext cx="173736" cy="173736"/>
          </a:xfrm>
          <a:prstGeom prst="rect">
            <a:avLst/>
          </a:prstGeom>
          <a:solidFill>
            <a:srgbClr val="A06C2C">
              <a:alpha val="4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47104" y="5394960"/>
            <a:ext cx="173736" cy="173736"/>
          </a:xfrm>
          <a:prstGeom prst="rect">
            <a:avLst/>
          </a:prstGeom>
          <a:solidFill>
            <a:srgbClr val="A06C2C">
              <a:alpha val="4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89420" y="5394960"/>
            <a:ext cx="173736" cy="173736"/>
          </a:xfrm>
          <a:prstGeom prst="rect">
            <a:avLst/>
          </a:prstGeom>
          <a:solidFill>
            <a:srgbClr val="A06C2C">
              <a:alpha val="51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31736" y="5394960"/>
            <a:ext cx="173736" cy="173736"/>
          </a:xfrm>
          <a:prstGeom prst="rect">
            <a:avLst/>
          </a:prstGeom>
          <a:solidFill>
            <a:srgbClr val="A06C2C">
              <a:alpha val="5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74052" y="5394960"/>
            <a:ext cx="173736" cy="173736"/>
          </a:xfrm>
          <a:prstGeom prst="rect">
            <a:avLst/>
          </a:prstGeom>
          <a:solidFill>
            <a:srgbClr val="A06C2C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16368" y="5394960"/>
            <a:ext cx="173736" cy="173736"/>
          </a:xfrm>
          <a:prstGeom prst="rect">
            <a:avLst/>
          </a:prstGeom>
          <a:solidFill>
            <a:srgbClr val="A06C2C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58684" y="5394960"/>
            <a:ext cx="173736" cy="173736"/>
          </a:xfrm>
          <a:prstGeom prst="rect">
            <a:avLst/>
          </a:prstGeom>
          <a:solidFill>
            <a:srgbClr val="A06C2C">
              <a:alpha val="69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5394960"/>
            <a:ext cx="173736" cy="173736"/>
          </a:xfrm>
          <a:prstGeom prst="rect">
            <a:avLst/>
          </a:prstGeom>
          <a:solidFill>
            <a:srgbClr val="5A6E7A">
              <a:alpha val="7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43316" y="5394960"/>
            <a:ext cx="173736" cy="173736"/>
          </a:xfrm>
          <a:prstGeom prst="rect">
            <a:avLst/>
          </a:prstGeom>
          <a:solidFill>
            <a:srgbClr val="5A6E7A">
              <a:alpha val="7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85632" y="5394960"/>
            <a:ext cx="173736" cy="173736"/>
          </a:xfrm>
          <a:prstGeom prst="rect">
            <a:avLst/>
          </a:prstGeom>
          <a:solidFill>
            <a:srgbClr val="5A6E7A">
              <a:alpha val="7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27948" y="5394960"/>
            <a:ext cx="173736" cy="173736"/>
          </a:xfrm>
          <a:prstGeom prst="rect">
            <a:avLst/>
          </a:prstGeom>
          <a:solidFill>
            <a:srgbClr val="5A6E7A">
              <a:alpha val="7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70264" y="5394960"/>
            <a:ext cx="173736" cy="173736"/>
          </a:xfrm>
          <a:prstGeom prst="rect">
            <a:avLst/>
          </a:prstGeom>
          <a:solidFill>
            <a:srgbClr val="1C6E8C">
              <a:alpha val="69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12580" y="5394960"/>
            <a:ext cx="173736" cy="173736"/>
          </a:xfrm>
          <a:prstGeom prst="rect">
            <a:avLst/>
          </a:prstGeom>
          <a:solidFill>
            <a:srgbClr val="1C6E8C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54896" y="5394960"/>
            <a:ext cx="173736" cy="173736"/>
          </a:xfrm>
          <a:prstGeom prst="rect">
            <a:avLst/>
          </a:prstGeom>
          <a:solidFill>
            <a:srgbClr val="1C6E8C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97212" y="5394960"/>
            <a:ext cx="173736" cy="173736"/>
          </a:xfrm>
          <a:prstGeom prst="rect">
            <a:avLst/>
          </a:prstGeom>
          <a:solidFill>
            <a:srgbClr val="1C6E8C">
              <a:alpha val="5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39528" y="5394960"/>
            <a:ext cx="173736" cy="173736"/>
          </a:xfrm>
          <a:prstGeom prst="rect">
            <a:avLst/>
          </a:prstGeom>
          <a:solidFill>
            <a:srgbClr val="1C6E8C">
              <a:alpha val="51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81844" y="5394960"/>
            <a:ext cx="173736" cy="173736"/>
          </a:xfrm>
          <a:prstGeom prst="rect">
            <a:avLst/>
          </a:prstGeom>
          <a:solidFill>
            <a:srgbClr val="1C6E8C">
              <a:alpha val="4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424160" y="5394960"/>
            <a:ext cx="173736" cy="173736"/>
          </a:xfrm>
          <a:prstGeom prst="rect">
            <a:avLst/>
          </a:prstGeom>
          <a:solidFill>
            <a:srgbClr val="1C6E8C">
              <a:alpha val="4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66476" y="5394960"/>
            <a:ext cx="173736" cy="173736"/>
          </a:xfrm>
          <a:prstGeom prst="rect">
            <a:avLst/>
          </a:prstGeom>
          <a:solidFill>
            <a:srgbClr val="1C6E8C">
              <a:alpha val="3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08792" y="5394960"/>
            <a:ext cx="173736" cy="173736"/>
          </a:xfrm>
          <a:prstGeom prst="rect">
            <a:avLst/>
          </a:prstGeom>
          <a:solidFill>
            <a:srgbClr val="1C6E8C">
              <a:alpha val="3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151108" y="5394960"/>
            <a:ext cx="173736" cy="173736"/>
          </a:xfrm>
          <a:prstGeom prst="rect">
            <a:avLst/>
          </a:prstGeom>
          <a:solidFill>
            <a:srgbClr val="1C6E8C">
              <a:alpha val="29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393424" y="5394960"/>
            <a:ext cx="173736" cy="173736"/>
          </a:xfrm>
          <a:prstGeom prst="rect">
            <a:avLst/>
          </a:prstGeom>
          <a:solidFill>
            <a:srgbClr val="1C6E8C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945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kern="0" spc="60" dirty="0">
                <a:solidFill>
                  <a:srgbClr val="1C6E8C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الجهد والتشخيص · ‏2‏ من ‏5‏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1055096" y="530352"/>
            <a:ext cx="512064" cy="512064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4" name="Text 2"/>
          <p:cNvSpPr/>
          <p:nvPr/>
        </p:nvSpPr>
        <p:spPr>
          <a:xfrm>
            <a:off x="11055096" y="5303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‏2‏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493776"/>
            <a:ext cx="10259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البنية القائمة ‏—‏ ما كانت تؤدّيه، وما لم تكن تستطيعه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208776" y="1329538"/>
            <a:ext cx="5358384" cy="3522726"/>
          </a:xfrm>
          <a:prstGeom prst="roundRect">
            <a:avLst>
              <a:gd name="adj" fmla="val 1817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blurRad="114300" dist="25400" dir="5400000" algn="bl" rotWithShape="0">
              <a:srgbClr val="0A1829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9944" y="1497787"/>
            <a:ext cx="495604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A06C2C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ما كانت تؤدّيه فعلاً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9944" y="1960474"/>
            <a:ext cx="4956048" cy="274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السعة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‏30‏ صفحة عاملة ببيانات حقيقية، و‏45‏ تقريراً على ستة تصنيفات</a:t>
            </a:r>
            <a:endParaRPr lang="en-US" sz="1430" dirty="0"/>
          </a:p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التنظيم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‏18‏ قائمة مرجعية، وستة فروع عاملة</a:t>
            </a:r>
            <a:endParaRPr lang="en-US" sz="1430" dirty="0"/>
          </a:p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الصلاحيات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محرّر صلاحيات على مستوى العملية، لا تسميات شكلية</a:t>
            </a:r>
            <a:endParaRPr lang="en-US" sz="1430" dirty="0"/>
          </a:p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الإسناد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حقول لمندوب التسويق وللمشرفة ولفني الصيانة</a:t>
            </a:r>
            <a:endParaRPr lang="en-US" sz="1430" dirty="0"/>
          </a:p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الحجم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‏188,040‏ مدخل عميل، و‏283,928‏ زيارة صيانة، و‏7,310‏ موظفاً</a:t>
            </a:r>
            <a:endParaRPr lang="en-US" sz="1430" dirty="0"/>
          </a:p>
        </p:txBody>
      </p:sp>
      <p:sp>
        <p:nvSpPr>
          <p:cNvPr id="9" name="Shape 7"/>
          <p:cNvSpPr/>
          <p:nvPr/>
        </p:nvSpPr>
        <p:spPr>
          <a:xfrm>
            <a:off x="594360" y="1329538"/>
            <a:ext cx="5358384" cy="3522726"/>
          </a:xfrm>
          <a:prstGeom prst="roundRect">
            <a:avLst>
              <a:gd name="adj" fmla="val 1817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blurRad="114300" dist="25400" dir="5400000" algn="bl" rotWithShape="0">
              <a:srgbClr val="0A1829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5528" y="1497787"/>
            <a:ext cx="495604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A06C2C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وما لم تكن تستطيعه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95528" y="1960474"/>
            <a:ext cx="4956048" cy="274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لا سجل تعديلات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لا يُعرف من عدّل ولا متى ولا ما تغيّر ‏—‏ فلا مساءلة</a:t>
            </a:r>
            <a:endParaRPr lang="en-US" sz="1430" dirty="0"/>
          </a:p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لا حالات سير عمل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تبديلٌ ثنائي بين فعّال وغير فعّال، وحقول نتيجةٍ متفرّقة</a:t>
            </a:r>
            <a:endParaRPr lang="en-US" sz="1430" dirty="0"/>
          </a:p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لا تنبيهات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ولا تذكير في أي صفحة من الثلاثين ‏—‏ الذاكرة البشرية هي النظام</a:t>
            </a:r>
            <a:endParaRPr lang="en-US" sz="1430" dirty="0"/>
          </a:p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لا عرض مرئي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‏45‏ تقريراً كلها جداول أرقام، دون رسمٍ بياني واحد</a:t>
            </a:r>
            <a:endParaRPr lang="en-US" sz="1430" dirty="0"/>
          </a:p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لا تقويم ولا تصدير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الجدولة حقول تاريخ، والبيانات محتجزة داخل الشاشة</a:t>
            </a:r>
            <a:endParaRPr lang="en-US" sz="1430" dirty="0"/>
          </a:p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وحداتٌ مبتورة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شاشة »طالبي وظائف« تعرض صفراً مع ‏20,521‏ مدخلاً، وإدارة المستخدمين معطّلة بلا رابط</a:t>
            </a:r>
            <a:endParaRPr lang="en-US" sz="1430" dirty="0"/>
          </a:p>
        </p:txBody>
      </p:sp>
      <p:sp>
        <p:nvSpPr>
          <p:cNvPr id="12" name="Shape 10"/>
          <p:cNvSpPr/>
          <p:nvPr/>
        </p:nvSpPr>
        <p:spPr>
          <a:xfrm>
            <a:off x="594360" y="5062576"/>
            <a:ext cx="10972800" cy="1104138"/>
          </a:xfrm>
          <a:prstGeom prst="roundRect">
            <a:avLst>
              <a:gd name="adj" fmla="val 5797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5062576"/>
            <a:ext cx="10424160" cy="1104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3300"/>
              </a:lnSpc>
              <a:buNone/>
            </a:pPr>
            <a:r>
              <a:rPr lang="en-US" sz="2230" b="1" dirty="0">
                <a:solidFill>
                  <a:srgbClr val="10243D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كانت منظومة تسجيلٍ مُتقنة فيما بُنيت له ‏—‏ لا منظومة تشغيل</a:t>
            </a:r>
            <a:endParaRPr lang="en-US" sz="22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945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kern="0" spc="60" dirty="0">
                <a:solidFill>
                  <a:srgbClr val="5E8CA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الجهد والتشخيص · ‏3‏ من ‏5‏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1055096" y="530352"/>
            <a:ext cx="512064" cy="512064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4" name="Text 2"/>
          <p:cNvSpPr/>
          <p:nvPr/>
        </p:nvSpPr>
        <p:spPr>
          <a:xfrm>
            <a:off x="11055096" y="5303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‏3‏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493776"/>
            <a:ext cx="10259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الطبقة التشغيلية الموازية ‏—‏ الملف الواحد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9944" y="1325880"/>
            <a:ext cx="5157216" cy="3489350"/>
          </a:xfrm>
          <a:prstGeom prst="roundRect">
            <a:avLst>
              <a:gd name="adj" fmla="val 1834"/>
            </a:avLst>
          </a:prstGeom>
          <a:solidFill>
            <a:srgbClr val="0A1829"/>
          </a:solidFill>
          <a:ln w="12700">
            <a:solidFill>
              <a:srgbClr val="1C6E8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592824" y="1325880"/>
            <a:ext cx="4791456" cy="3489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2300"/>
              </a:lnSpc>
              <a:buNone/>
            </a:pPr>
            <a:r>
              <a:rPr lang="en-US" sz="1330" dirty="0">
                <a:solidFill>
                  <a:srgbClr val="5E8CA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مساحة اللقطة الصامتة</a:t>
            </a:r>
            <a:endParaRPr lang="en-US" sz="1330" dirty="0"/>
          </a:p>
          <a:p>
            <a:pPr marL="0" indent="0" algn="ctr" rtl="1">
              <a:lnSpc>
                <a:spcPts val="2300"/>
              </a:lnSpc>
              <a:buNone/>
            </a:pPr>
            <a:r>
              <a:rPr lang="en-US" sz="1330" dirty="0">
                <a:solidFill>
                  <a:srgbClr val="5E8CA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الكوخ الخلفي، ‏10‏ ثوان</a:t>
            </a:r>
            <a:endParaRPr lang="en-US" sz="1330" dirty="0"/>
          </a:p>
        </p:txBody>
      </p:sp>
      <p:sp>
        <p:nvSpPr>
          <p:cNvPr id="8" name="Text 6"/>
          <p:cNvSpPr/>
          <p:nvPr/>
        </p:nvSpPr>
        <p:spPr>
          <a:xfrm>
            <a:off x="594360" y="1325880"/>
            <a:ext cx="5157216" cy="67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1740" b="1" dirty="0">
                <a:solidFill>
                  <a:srgbClr val="1C6E8C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العمل الفعلي لم يكن يجري داخل النظام، بل في ملفات جداول بيانية خارجه.</a:t>
            </a:r>
            <a:endParaRPr lang="en-US" sz="1740" dirty="0"/>
          </a:p>
        </p:txBody>
      </p:sp>
      <p:sp>
        <p:nvSpPr>
          <p:cNvPr id="9" name="Text 7"/>
          <p:cNvSpPr/>
          <p:nvPr/>
        </p:nvSpPr>
        <p:spPr>
          <a:xfrm>
            <a:off x="594360" y="2101291"/>
            <a:ext cx="5157216" cy="2713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الحجم  </a:t>
            </a:r>
            <a:r>
              <a:rPr lang="en-US" sz="1330" dirty="0">
                <a:solidFill>
                  <a:srgbClr val="C8D6E2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‏35‏ عموداً في تبويبٍ واحد، ونحو عشرة تبويبات في الملف</a:t>
            </a:r>
            <a:endParaRPr lang="en-US" sz="133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ما يديره الملف  </a:t>
            </a:r>
            <a:r>
              <a:rPr lang="en-US" sz="1330" dirty="0">
                <a:solidFill>
                  <a:srgbClr val="C8D6E2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استقبال الطلب، والتوجيه الميداني، والجدولة، والتنفيذ، والقطع، والمال، والرقابة</a:t>
            </a:r>
            <a:endParaRPr lang="en-US" sz="133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المال  </a:t>
            </a:r>
            <a:r>
              <a:rPr lang="en-US" sz="1330" dirty="0">
                <a:solidFill>
                  <a:srgbClr val="C8D6E2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عمولة الفني عن آخر زيارة، وحسم المحاسبة، وقيمة الحسم</a:t>
            </a:r>
            <a:endParaRPr lang="en-US" sz="133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الرقابة  </a:t>
            </a:r>
            <a:r>
              <a:rPr lang="en-US" sz="1330" dirty="0">
                <a:solidFill>
                  <a:srgbClr val="C8D6E2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ثلاث طبقات تقييم متعاقبة، دون إلزامٍ ولا تتبّع</a:t>
            </a:r>
            <a:endParaRPr lang="en-US" sz="133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 smtClean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و </a:t>
            </a:r>
            <a:r>
              <a:rPr lang="ar-SA" sz="1330" b="1" dirty="0" smtClean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محصلة</a:t>
            </a:r>
            <a:r>
              <a:rPr lang="en-US" sz="133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  </a:t>
            </a:r>
            <a:r>
              <a:rPr lang="en-US" sz="1330" dirty="0">
                <a:solidFill>
                  <a:srgbClr val="C8D6E2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ملاحظات الإدارة في حال تأخير التنفيذ ‏—‏ التأخير يُعالَج بملاحظةٍ يكتبها إنسان</a:t>
            </a:r>
            <a:endParaRPr lang="en-US" sz="1330" dirty="0"/>
          </a:p>
        </p:txBody>
      </p:sp>
      <p:sp>
        <p:nvSpPr>
          <p:cNvPr id="10" name="Shape 8"/>
          <p:cNvSpPr/>
          <p:nvPr/>
        </p:nvSpPr>
        <p:spPr>
          <a:xfrm>
            <a:off x="594360" y="5106010"/>
            <a:ext cx="10972800" cy="1066190"/>
          </a:xfrm>
          <a:prstGeom prst="roundRect">
            <a:avLst>
              <a:gd name="adj" fmla="val 6003"/>
            </a:avLst>
          </a:prstGeom>
          <a:solidFill>
            <a:srgbClr val="0A1829"/>
          </a:solidFill>
          <a:ln w="12700">
            <a:solidFill>
              <a:srgbClr val="0A1829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5106010"/>
            <a:ext cx="10424160" cy="106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2560" b="1" dirty="0">
                <a:solidFill>
                  <a:srgbClr val="FFFFFF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وهذا ملفٌ واحد، لفرعٍ واحد، لشهرٍ واحد، </a:t>
            </a:r>
            <a:r>
              <a:rPr lang="en-US" sz="2560" b="1" dirty="0" err="1" smtClean="0">
                <a:solidFill>
                  <a:srgbClr val="FFFFFF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ول</a:t>
            </a:r>
            <a:r>
              <a:rPr lang="ar-SA" sz="2560" b="1" dirty="0" smtClean="0">
                <a:solidFill>
                  <a:srgbClr val="FFFFFF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إدوار مختلفة</a:t>
            </a:r>
            <a:endParaRPr lang="en-US" sz="256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297" y="1574299"/>
            <a:ext cx="5036133" cy="28108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945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kern="0" spc="60" dirty="0">
                <a:solidFill>
                  <a:srgbClr val="1C6E8C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الجهد والتشخيص · ‏4‏ من ‏5‏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1055096" y="530352"/>
            <a:ext cx="512064" cy="512064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4" name="Text 2"/>
          <p:cNvSpPr/>
          <p:nvPr/>
        </p:nvSpPr>
        <p:spPr>
          <a:xfrm>
            <a:off x="11055096" y="5303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‏4‏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493776"/>
            <a:ext cx="10259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أربعة مبادئ خاطئة، وقرار إعادة التأسيس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9015984" y="1325880"/>
            <a:ext cx="2551176" cy="1938528"/>
          </a:xfrm>
          <a:prstGeom prst="roundRect">
            <a:avLst>
              <a:gd name="adj" fmla="val 3302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blurRad="114300" dist="25400" dir="5400000" algn="bl" rotWithShape="0">
              <a:srgbClr val="0A1829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217152" y="1473577"/>
            <a:ext cx="2148840" cy="35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10" b="1" dirty="0">
                <a:solidFill>
                  <a:srgbClr val="A06C2C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تطويع الزيارة</a:t>
            </a:r>
            <a:endParaRPr lang="en-US" sz="1610" dirty="0"/>
          </a:p>
        </p:txBody>
      </p:sp>
      <p:sp>
        <p:nvSpPr>
          <p:cNvPr id="8" name="Text 6"/>
          <p:cNvSpPr/>
          <p:nvPr/>
        </p:nvSpPr>
        <p:spPr>
          <a:xfrm>
            <a:off x="9217152" y="1879745"/>
            <a:ext cx="2148840" cy="1255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الزيارة كانت وحدة العمل ووحدة النتيجة معاً، فتُحشر كل أنواع العمل في حقولٍ واحدة ‏—‏ وتتكرّر داخل الصف نفسه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08776" y="1325880"/>
            <a:ext cx="2551176" cy="1938528"/>
          </a:xfrm>
          <a:prstGeom prst="roundRect">
            <a:avLst>
              <a:gd name="adj" fmla="val 3302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blurRad="114300" dist="25400" dir="5400000" algn="bl" rotWithShape="0">
              <a:srgbClr val="0A1829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9944" y="1473577"/>
            <a:ext cx="2148840" cy="35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10" b="1" dirty="0">
                <a:solidFill>
                  <a:srgbClr val="A06C2C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قالب العقد الواحد</a:t>
            </a:r>
            <a:endParaRPr lang="en-US" sz="1610" dirty="0"/>
          </a:p>
        </p:txBody>
      </p:sp>
      <p:sp>
        <p:nvSpPr>
          <p:cNvPr id="11" name="Text 9"/>
          <p:cNvSpPr/>
          <p:nvPr/>
        </p:nvSpPr>
        <p:spPr>
          <a:xfrm>
            <a:off x="6409944" y="1879745"/>
            <a:ext cx="2148840" cy="1255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العقد واتفاقية الخدمة والجهاز الخارجي في قالبٍ واحد، فتفسد إحصاءات البيع وسجل الأداء الفني معاً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01568" y="1325880"/>
            <a:ext cx="2551176" cy="1938528"/>
          </a:xfrm>
          <a:prstGeom prst="roundRect">
            <a:avLst>
              <a:gd name="adj" fmla="val 3302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blurRad="114300" dist="25400" dir="5400000" algn="bl" rotWithShape="0">
              <a:srgbClr val="0A1829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02736" y="1473577"/>
            <a:ext cx="2148840" cy="35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10" b="1" dirty="0">
                <a:solidFill>
                  <a:srgbClr val="A06C2C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لا خطة للفريق</a:t>
            </a:r>
            <a:endParaRPr lang="en-US" sz="1610" dirty="0"/>
          </a:p>
        </p:txBody>
      </p:sp>
      <p:sp>
        <p:nvSpPr>
          <p:cNvPr id="14" name="Text 12"/>
          <p:cNvSpPr/>
          <p:nvPr/>
        </p:nvSpPr>
        <p:spPr>
          <a:xfrm>
            <a:off x="3602736" y="1879745"/>
            <a:ext cx="2148840" cy="1255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العمل يُقرَّر في يوم تنفيذه، فيصبح الاستبعاد بالإغفال لا بالقرار، ولا تُقاس طاقة الفريق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" y="1325880"/>
            <a:ext cx="2551176" cy="1938528"/>
          </a:xfrm>
          <a:prstGeom prst="roundRect">
            <a:avLst>
              <a:gd name="adj" fmla="val 3302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blurRad="114300" dist="25400" dir="5400000" algn="bl" rotWithShape="0">
              <a:srgbClr val="0A1829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95528" y="1473577"/>
            <a:ext cx="2148840" cy="35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10" b="1" dirty="0">
                <a:solidFill>
                  <a:srgbClr val="A06C2C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إدخالٌ غير موثوق</a:t>
            </a:r>
            <a:endParaRPr lang="en-US" sz="1610" dirty="0"/>
          </a:p>
        </p:txBody>
      </p:sp>
      <p:sp>
        <p:nvSpPr>
          <p:cNvPr id="17" name="Text 15"/>
          <p:cNvSpPr/>
          <p:nvPr/>
        </p:nvSpPr>
        <p:spPr>
          <a:xfrm>
            <a:off x="795528" y="1879745"/>
            <a:ext cx="2148840" cy="1255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كل من يصل يُنشئ عميلاً، وأي اسمٍ يدخل القاعدة الأساسية ‏—‏ فيُفسد كل ما يُبنى فوقه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5110625"/>
            <a:ext cx="10972800" cy="1061575"/>
          </a:xfrm>
          <a:prstGeom prst="roundRect">
            <a:avLst>
              <a:gd name="adj" fmla="val 6030"/>
            </a:avLst>
          </a:prstGeom>
          <a:solidFill>
            <a:srgbClr val="10243D"/>
          </a:solidFill>
          <a:ln w="12700">
            <a:solidFill>
              <a:srgbClr val="10243D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5110625"/>
            <a:ext cx="10424160" cy="106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900"/>
              </a:lnSpc>
              <a:buNone/>
            </a:pPr>
            <a:r>
              <a:rPr lang="en-US" sz="1910" b="1" dirty="0">
                <a:solidFill>
                  <a:srgbClr val="FFFFFF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مبادئ لا تقبل الترقية.‏ فأُعيد التأسيس على فهمٍ </a:t>
            </a:r>
            <a:r>
              <a:rPr lang="en-US" sz="1910" b="1" dirty="0" err="1">
                <a:solidFill>
                  <a:srgbClr val="FFFFFF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صحيح</a:t>
            </a:r>
            <a:r>
              <a:rPr lang="en-US" sz="1910" b="1" dirty="0">
                <a:solidFill>
                  <a:srgbClr val="FFFFFF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 </a:t>
            </a:r>
            <a:r>
              <a:rPr lang="en-US" sz="1910" b="1" dirty="0" smtClean="0">
                <a:solidFill>
                  <a:srgbClr val="FFFFFF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ل</a:t>
            </a:r>
            <a:r>
              <a:rPr lang="ar-SA" sz="1910" b="1" dirty="0" smtClean="0">
                <a:solidFill>
                  <a:srgbClr val="FFFFFF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واقع العمل.</a:t>
            </a:r>
            <a:endParaRPr lang="en-US" sz="19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945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kern="0" spc="60" dirty="0">
                <a:solidFill>
                  <a:srgbClr val="1C6E8C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الجهد والتشخيص · ‏5‏ من ‏5‏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1055096" y="530352"/>
            <a:ext cx="512064" cy="512064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4" name="Text 2"/>
          <p:cNvSpPr/>
          <p:nvPr/>
        </p:nvSpPr>
        <p:spPr>
          <a:xfrm>
            <a:off x="11055096" y="5303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‏5‏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493776"/>
            <a:ext cx="10259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حجم الإنجاز ‏—‏ الأرقام التي تُثبت الجهد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9015984" y="1325880"/>
            <a:ext cx="2551176" cy="1439501"/>
          </a:xfrm>
          <a:prstGeom prst="roundRect">
            <a:avLst>
              <a:gd name="adj" fmla="val 4447"/>
            </a:avLst>
          </a:prstGeom>
          <a:solidFill>
            <a:srgbClr val="10243D"/>
          </a:solidFill>
          <a:ln w="12700">
            <a:solidFill>
              <a:srgbClr val="10243D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07424" y="1489023"/>
            <a:ext cx="2368296" cy="526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75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‏216,417‏</a:t>
            </a:r>
            <a:endParaRPr lang="en-US" sz="2750" dirty="0"/>
          </a:p>
        </p:txBody>
      </p:sp>
      <p:sp>
        <p:nvSpPr>
          <p:cNvPr id="8" name="Text 6"/>
          <p:cNvSpPr/>
          <p:nvPr/>
        </p:nvSpPr>
        <p:spPr>
          <a:xfrm>
            <a:off x="9144000" y="2083145"/>
            <a:ext cx="2295144" cy="56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700"/>
              </a:lnSpc>
              <a:buNone/>
            </a:pPr>
            <a:r>
              <a:rPr lang="en-US" sz="1170" dirty="0">
                <a:solidFill>
                  <a:srgbClr val="A9BDCE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سطراً برمجياً في ‏770‏ ملفاً</a:t>
            </a:r>
            <a:endParaRPr lang="en-US" sz="1170" dirty="0"/>
          </a:p>
        </p:txBody>
      </p:sp>
      <p:sp>
        <p:nvSpPr>
          <p:cNvPr id="9" name="Shape 7"/>
          <p:cNvSpPr/>
          <p:nvPr/>
        </p:nvSpPr>
        <p:spPr>
          <a:xfrm>
            <a:off x="6208776" y="1325880"/>
            <a:ext cx="2551176" cy="1439501"/>
          </a:xfrm>
          <a:prstGeom prst="roundRect">
            <a:avLst>
              <a:gd name="adj" fmla="val 4447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14300" dist="25400" dir="5400000" algn="bl" rotWithShape="0">
              <a:srgbClr val="0A1829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0216" y="1489023"/>
            <a:ext cx="2368296" cy="61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37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‏158‏</a:t>
            </a:r>
            <a:endParaRPr lang="en-US" sz="3370" dirty="0"/>
          </a:p>
        </p:txBody>
      </p:sp>
      <p:sp>
        <p:nvSpPr>
          <p:cNvPr id="11" name="Text 9"/>
          <p:cNvSpPr/>
          <p:nvPr/>
        </p:nvSpPr>
        <p:spPr>
          <a:xfrm>
            <a:off x="6336792" y="2170387"/>
            <a:ext cx="2295144" cy="4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700"/>
              </a:lnSpc>
              <a:buNone/>
            </a:pPr>
            <a:r>
              <a:rPr lang="en-US" sz="117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جدولاً مترابطاً في قاعدة البيانات</a:t>
            </a:r>
            <a:endParaRPr lang="en-US" sz="1170" dirty="0"/>
          </a:p>
        </p:txBody>
      </p:sp>
      <p:sp>
        <p:nvSpPr>
          <p:cNvPr id="12" name="Shape 10"/>
          <p:cNvSpPr/>
          <p:nvPr/>
        </p:nvSpPr>
        <p:spPr>
          <a:xfrm>
            <a:off x="3401568" y="1325880"/>
            <a:ext cx="2551176" cy="1439501"/>
          </a:xfrm>
          <a:prstGeom prst="roundRect">
            <a:avLst>
              <a:gd name="adj" fmla="val 4447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14300" dist="25400" dir="5400000" algn="bl" rotWithShape="0">
              <a:srgbClr val="0A1829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93008" y="1489023"/>
            <a:ext cx="2368296" cy="61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37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‏101‏</a:t>
            </a:r>
            <a:endParaRPr lang="en-US" sz="3370" dirty="0"/>
          </a:p>
        </p:txBody>
      </p:sp>
      <p:sp>
        <p:nvSpPr>
          <p:cNvPr id="14" name="Text 12"/>
          <p:cNvSpPr/>
          <p:nvPr/>
        </p:nvSpPr>
        <p:spPr>
          <a:xfrm>
            <a:off x="3529584" y="2170387"/>
            <a:ext cx="2295144" cy="4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700"/>
              </a:lnSpc>
              <a:buNone/>
            </a:pPr>
            <a:r>
              <a:rPr lang="en-US" sz="117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شاشة في واجهة النظام</a:t>
            </a:r>
            <a:endParaRPr lang="en-US" sz="1170" dirty="0"/>
          </a:p>
        </p:txBody>
      </p:sp>
      <p:sp>
        <p:nvSpPr>
          <p:cNvPr id="15" name="Shape 13"/>
          <p:cNvSpPr/>
          <p:nvPr/>
        </p:nvSpPr>
        <p:spPr>
          <a:xfrm>
            <a:off x="594360" y="1325880"/>
            <a:ext cx="2551176" cy="1439501"/>
          </a:xfrm>
          <a:prstGeom prst="roundRect">
            <a:avLst>
              <a:gd name="adj" fmla="val 4447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14300" dist="25400" dir="5400000" algn="bl" rotWithShape="0">
              <a:srgbClr val="0A1829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1489023"/>
            <a:ext cx="2368296" cy="61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37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‏86‏</a:t>
            </a:r>
            <a:endParaRPr lang="en-US" sz="3370" dirty="0"/>
          </a:p>
        </p:txBody>
      </p:sp>
      <p:sp>
        <p:nvSpPr>
          <p:cNvPr id="17" name="Text 15"/>
          <p:cNvSpPr/>
          <p:nvPr/>
        </p:nvSpPr>
        <p:spPr>
          <a:xfrm>
            <a:off x="722376" y="2170387"/>
            <a:ext cx="2295144" cy="4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700"/>
              </a:lnSpc>
              <a:buNone/>
            </a:pPr>
            <a:r>
              <a:rPr lang="en-US" sz="117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ملف مسار في الخدمة الخلفية</a:t>
            </a:r>
            <a:endParaRPr lang="en-US" sz="1170" dirty="0"/>
          </a:p>
        </p:txBody>
      </p:sp>
      <p:sp>
        <p:nvSpPr>
          <p:cNvPr id="18" name="Shape 16"/>
          <p:cNvSpPr/>
          <p:nvPr/>
        </p:nvSpPr>
        <p:spPr>
          <a:xfrm>
            <a:off x="9015984" y="2957314"/>
            <a:ext cx="2551176" cy="1439501"/>
          </a:xfrm>
          <a:prstGeom prst="roundRect">
            <a:avLst>
              <a:gd name="adj" fmla="val 4447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14300" dist="25400" dir="5400000" algn="bl" rotWithShape="0">
              <a:srgbClr val="0A1829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07424" y="3120458"/>
            <a:ext cx="2368296" cy="61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37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‏272‏</a:t>
            </a:r>
            <a:endParaRPr lang="en-US" sz="3370" dirty="0"/>
          </a:p>
        </p:txBody>
      </p:sp>
      <p:sp>
        <p:nvSpPr>
          <p:cNvPr id="20" name="Text 18"/>
          <p:cNvSpPr/>
          <p:nvPr/>
        </p:nvSpPr>
        <p:spPr>
          <a:xfrm>
            <a:off x="9144000" y="3801822"/>
            <a:ext cx="2295144" cy="4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700"/>
              </a:lnSpc>
              <a:buNone/>
            </a:pPr>
            <a:r>
              <a:rPr lang="en-US" sz="117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مفتاح صلاحية على ‏31‏ نطاقاً</a:t>
            </a:r>
            <a:endParaRPr lang="en-US" sz="1170" dirty="0"/>
          </a:p>
        </p:txBody>
      </p:sp>
      <p:sp>
        <p:nvSpPr>
          <p:cNvPr id="21" name="Shape 19"/>
          <p:cNvSpPr/>
          <p:nvPr/>
        </p:nvSpPr>
        <p:spPr>
          <a:xfrm>
            <a:off x="6208776" y="2957314"/>
            <a:ext cx="2551176" cy="1439501"/>
          </a:xfrm>
          <a:prstGeom prst="roundRect">
            <a:avLst>
              <a:gd name="adj" fmla="val 4447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14300" dist="25400" dir="5400000" algn="bl" rotWithShape="0">
              <a:srgbClr val="0A1829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00216" y="3120458"/>
            <a:ext cx="2368296" cy="61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37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‏446‏</a:t>
            </a:r>
            <a:endParaRPr lang="en-US" sz="3370" dirty="0"/>
          </a:p>
        </p:txBody>
      </p:sp>
      <p:sp>
        <p:nvSpPr>
          <p:cNvPr id="23" name="Text 21"/>
          <p:cNvSpPr/>
          <p:nvPr/>
        </p:nvSpPr>
        <p:spPr>
          <a:xfrm>
            <a:off x="6336792" y="3801822"/>
            <a:ext cx="2295144" cy="4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700"/>
              </a:lnSpc>
              <a:buNone/>
            </a:pPr>
            <a:r>
              <a:rPr lang="en-US" sz="117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ملف ترحيل لقاعدة البيانات</a:t>
            </a:r>
            <a:endParaRPr lang="en-US" sz="1170" dirty="0"/>
          </a:p>
        </p:txBody>
      </p:sp>
      <p:sp>
        <p:nvSpPr>
          <p:cNvPr id="24" name="Shape 22"/>
          <p:cNvSpPr/>
          <p:nvPr/>
        </p:nvSpPr>
        <p:spPr>
          <a:xfrm>
            <a:off x="3401568" y="2957314"/>
            <a:ext cx="2551176" cy="1439501"/>
          </a:xfrm>
          <a:prstGeom prst="roundRect">
            <a:avLst>
              <a:gd name="adj" fmla="val 4447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14300" dist="25400" dir="5400000" algn="bl" rotWithShape="0">
              <a:srgbClr val="0A1829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93008" y="3120458"/>
            <a:ext cx="2368296" cy="61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37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‏68‏</a:t>
            </a:r>
            <a:endParaRPr lang="en-US" sz="3370" dirty="0"/>
          </a:p>
        </p:txBody>
      </p:sp>
      <p:sp>
        <p:nvSpPr>
          <p:cNvPr id="26" name="Text 24"/>
          <p:cNvSpPr/>
          <p:nvPr/>
        </p:nvSpPr>
        <p:spPr>
          <a:xfrm>
            <a:off x="3529584" y="3801822"/>
            <a:ext cx="2295144" cy="4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700"/>
              </a:lnSpc>
              <a:buNone/>
            </a:pPr>
            <a:r>
              <a:rPr lang="en-US" sz="117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قائمة مرجعية مُدارة</a:t>
            </a:r>
            <a:endParaRPr lang="en-US" sz="1170" dirty="0"/>
          </a:p>
        </p:txBody>
      </p:sp>
      <p:sp>
        <p:nvSpPr>
          <p:cNvPr id="27" name="Shape 25"/>
          <p:cNvSpPr/>
          <p:nvPr/>
        </p:nvSpPr>
        <p:spPr>
          <a:xfrm>
            <a:off x="594360" y="2957314"/>
            <a:ext cx="2551176" cy="1439501"/>
          </a:xfrm>
          <a:prstGeom prst="roundRect">
            <a:avLst>
              <a:gd name="adj" fmla="val 4447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14300" dist="25400" dir="5400000" algn="bl" rotWithShape="0">
              <a:srgbClr val="0A1829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5800" y="3120458"/>
            <a:ext cx="2368296" cy="61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37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‏19‏</a:t>
            </a:r>
            <a:endParaRPr lang="en-US" sz="3370" dirty="0"/>
          </a:p>
        </p:txBody>
      </p:sp>
      <p:sp>
        <p:nvSpPr>
          <p:cNvPr id="29" name="Text 27"/>
          <p:cNvSpPr/>
          <p:nvPr/>
        </p:nvSpPr>
        <p:spPr>
          <a:xfrm>
            <a:off x="722376" y="3801822"/>
            <a:ext cx="2295144" cy="4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700"/>
              </a:lnSpc>
              <a:buNone/>
            </a:pPr>
            <a:r>
              <a:rPr lang="en-US" sz="117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قراراً موثّقاً مرقّماً</a:t>
            </a:r>
            <a:endParaRPr lang="en-US" sz="1170" dirty="0"/>
          </a:p>
        </p:txBody>
      </p:sp>
      <p:sp>
        <p:nvSpPr>
          <p:cNvPr id="30" name="Shape 28"/>
          <p:cNvSpPr/>
          <p:nvPr/>
        </p:nvSpPr>
        <p:spPr>
          <a:xfrm>
            <a:off x="594360" y="4636732"/>
            <a:ext cx="10972800" cy="959667"/>
          </a:xfrm>
          <a:prstGeom prst="roundRect">
            <a:avLst>
              <a:gd name="adj" fmla="val 6670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68680" y="4636732"/>
            <a:ext cx="10424160" cy="959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900"/>
              </a:lnSpc>
              <a:buNone/>
            </a:pPr>
            <a:r>
              <a:rPr lang="en-US" sz="1840" b="1" dirty="0">
                <a:solidFill>
                  <a:srgbClr val="10243D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وحجم البيانات في البنية القائمة نحو ‏600‏ ألف سجل تشغيلي ‏—‏ وهذا مقياس صعوبة الأساس الذي عُمل عليه</a:t>
            </a:r>
            <a:endParaRPr lang="en-US" sz="1840" dirty="0"/>
          </a:p>
        </p:txBody>
      </p:sp>
      <p:sp>
        <p:nvSpPr>
          <p:cNvPr id="32" name="Text 30"/>
          <p:cNvSpPr/>
          <p:nvPr/>
        </p:nvSpPr>
        <p:spPr>
          <a:xfrm>
            <a:off x="594360" y="5740350"/>
            <a:ext cx="10972800" cy="431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وذروة الكثافة في شهرٍ واحد:‏ ‏189‏ تعديلاً مسجّلاً على الكود.</a:t>
            </a:r>
            <a:endParaRPr lang="en-US" sz="15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945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kern="0" spc="60" dirty="0">
                <a:solidFill>
                  <a:srgbClr val="1C6E8C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ما يضمّه النظام · ‏1‏ من ‏5‏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1055096" y="530352"/>
            <a:ext cx="512064" cy="512064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4" name="Text 2"/>
          <p:cNvSpPr/>
          <p:nvPr/>
        </p:nvSpPr>
        <p:spPr>
          <a:xfrm>
            <a:off x="11055096" y="5303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‏6‏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493776"/>
            <a:ext cx="10259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خريطة الميزات ‏—‏ كم ميزة، وأي نطاقات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9015984" y="1518818"/>
            <a:ext cx="2551176" cy="1524762"/>
          </a:xfrm>
          <a:prstGeom prst="roundRect">
            <a:avLst>
              <a:gd name="adj" fmla="val 4198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14300" dist="25400" dir="5400000" algn="bl" rotWithShape="0">
              <a:srgbClr val="0A1829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07424" y="1697584"/>
            <a:ext cx="2368296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50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‏31‏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9144000" y="2444191"/>
            <a:ext cx="2295144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700"/>
              </a:lnSpc>
              <a:buNone/>
            </a:pPr>
            <a:r>
              <a:rPr lang="en-US" sz="122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نطاقاً وظيفياً موزّعة عليه الصلاحيات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208776" y="1518818"/>
            <a:ext cx="2551176" cy="1524762"/>
          </a:xfrm>
          <a:prstGeom prst="roundRect">
            <a:avLst>
              <a:gd name="adj" fmla="val 4198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14300" dist="25400" dir="5400000" algn="bl" rotWithShape="0">
              <a:srgbClr val="0A1829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0216" y="1697584"/>
            <a:ext cx="2368296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50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‏14‏</a:t>
            </a:r>
            <a:endParaRPr lang="en-US" sz="3500" dirty="0"/>
          </a:p>
        </p:txBody>
      </p:sp>
      <p:sp>
        <p:nvSpPr>
          <p:cNvPr id="11" name="Text 9"/>
          <p:cNvSpPr/>
          <p:nvPr/>
        </p:nvSpPr>
        <p:spPr>
          <a:xfrm>
            <a:off x="6336792" y="2444191"/>
            <a:ext cx="2295144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700"/>
              </a:lnSpc>
              <a:buNone/>
            </a:pPr>
            <a:r>
              <a:rPr lang="en-US" sz="122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نوع مهمة معرَّفاً بنتائجه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3401568" y="1518818"/>
            <a:ext cx="2551176" cy="1524762"/>
          </a:xfrm>
          <a:prstGeom prst="roundRect">
            <a:avLst>
              <a:gd name="adj" fmla="val 4198"/>
            </a:avLst>
          </a:prstGeom>
          <a:solidFill>
            <a:srgbClr val="10243D"/>
          </a:solidFill>
          <a:ln w="12700">
            <a:solidFill>
              <a:srgbClr val="10243D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93008" y="1697584"/>
            <a:ext cx="2368296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50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‏79‏</a:t>
            </a:r>
            <a:endParaRPr lang="en-US" sz="3500" dirty="0"/>
          </a:p>
        </p:txBody>
      </p:sp>
      <p:sp>
        <p:nvSpPr>
          <p:cNvPr id="14" name="Text 12"/>
          <p:cNvSpPr/>
          <p:nvPr/>
        </p:nvSpPr>
        <p:spPr>
          <a:xfrm>
            <a:off x="3529584" y="2444191"/>
            <a:ext cx="2295144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700"/>
              </a:lnSpc>
              <a:buNone/>
            </a:pPr>
            <a:r>
              <a:rPr lang="en-US" sz="1220" dirty="0">
                <a:solidFill>
                  <a:srgbClr val="A9BDCE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حالة على ‏11‏ دورة حياة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594360" y="1518818"/>
            <a:ext cx="2551176" cy="1524762"/>
          </a:xfrm>
          <a:prstGeom prst="roundRect">
            <a:avLst>
              <a:gd name="adj" fmla="val 4198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14300" dist="25400" dir="5400000" algn="bl" rotWithShape="0">
              <a:srgbClr val="0A1829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1697584"/>
            <a:ext cx="2368296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50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‏68‏</a:t>
            </a:r>
            <a:endParaRPr lang="en-US" sz="3500" dirty="0"/>
          </a:p>
        </p:txBody>
      </p:sp>
      <p:sp>
        <p:nvSpPr>
          <p:cNvPr id="17" name="Text 15"/>
          <p:cNvSpPr/>
          <p:nvPr/>
        </p:nvSpPr>
        <p:spPr>
          <a:xfrm>
            <a:off x="722376" y="2444191"/>
            <a:ext cx="2295144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700"/>
              </a:lnSpc>
              <a:buNone/>
            </a:pPr>
            <a:r>
              <a:rPr lang="en-US" sz="122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قائمة مرجعية مُدارة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6208776" y="3253892"/>
            <a:ext cx="5358384" cy="2628900"/>
          </a:xfrm>
          <a:prstGeom prst="roundRect">
            <a:avLst>
              <a:gd name="adj" fmla="val 2435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9944" y="3422142"/>
            <a:ext cx="495604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0243D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نطاقات أُعيد بناؤها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9944" y="3884828"/>
            <a:ext cx="4956048" cy="1850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العملاء والأسماء المقترحة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ضبط المصدر ودورة حياة الاسم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الموظفون والتوظيف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دورة الطلب الكاملة والسجل الوظيفي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خطة الفرع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نطاقات العمل والمسارات والمحطات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المهام والزيارات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وحدة عمل واحدة، ونتيجة لكل مهمة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العقود والأجهزة والصيانة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الفصل الثلاثي وهوية الجهاز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المال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‏11‏ جدولاً مالياً مترابطاً</a:t>
            </a:r>
            <a:endParaRPr lang="en-US" sz="1380" dirty="0"/>
          </a:p>
        </p:txBody>
      </p:sp>
      <p:sp>
        <p:nvSpPr>
          <p:cNvPr id="21" name="Shape 19"/>
          <p:cNvSpPr/>
          <p:nvPr/>
        </p:nvSpPr>
        <p:spPr>
          <a:xfrm>
            <a:off x="594360" y="3253892"/>
            <a:ext cx="5358384" cy="2628900"/>
          </a:xfrm>
          <a:prstGeom prst="roundRect">
            <a:avLst>
              <a:gd name="adj" fmla="val 2435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95528" y="3422142"/>
            <a:ext cx="495604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0243D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ونطاقات لم تكن مطروحة أصلاً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95528" y="3884828"/>
            <a:ext cx="4956048" cy="1850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الشكاوى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نطاقٌ مستقل بأربعة عشر جدولاً وسجل تدقيق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الهدايا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ستة جداول:‏ تعريفات ومصادر وأحداث ومهمة تسليم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الضمانات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مسارٌ واحد موحّد، بأقساطه ودفعاته ومهامه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المرجعية الجغرافية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شجرة بأربعة مستويات وتغطية لكل فرع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تطبيق العميل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‏14‏ مساراً خلفياً وثمانية جداول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الصلاحيات والمساءلة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‏272‏ مفتاحاً وسجل نشاط وتنبيهات تصعيد</a:t>
            </a:r>
            <a:endParaRPr lang="en-US" sz="13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945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kern="0" spc="60" dirty="0">
                <a:solidFill>
                  <a:srgbClr val="1C6E8C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ما يضمّه النظام · ‏2‏ من ‏5‏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1055096" y="530352"/>
            <a:ext cx="512064" cy="512064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4" name="Text 2"/>
          <p:cNvSpPr/>
          <p:nvPr/>
        </p:nvSpPr>
        <p:spPr>
          <a:xfrm>
            <a:off x="11055096" y="5303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‏7‏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493776"/>
            <a:ext cx="10259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ما صار يُعرف عن العميل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8080248" y="1687068"/>
            <a:ext cx="3486912" cy="3024890"/>
          </a:xfrm>
          <a:prstGeom prst="roundRect">
            <a:avLst>
              <a:gd name="adj" fmla="val 2536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81416" y="1855318"/>
            <a:ext cx="3084576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0243D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الهوية والتصنيف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81416" y="2318004"/>
            <a:ext cx="3084576" cy="1745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الحالة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مرشّح، ثم محتمل، ثم عميل ‏—‏ بحالاتٍ محدّدة</a:t>
            </a:r>
            <a:endParaRPr lang="en-US" sz="133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التقييم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التقييم والالتزام وصافي تغيّره</a:t>
            </a:r>
            <a:endParaRPr lang="en-US" sz="133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الوسيط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الوسيط ونوعه ومن رشّحه</a:t>
            </a:r>
            <a:endParaRPr lang="en-US" sz="133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وسائل الاتصال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منضبطة الصيغة، ومنعُ التكرار قبل الإنشاء</a:t>
            </a:r>
            <a:endParaRPr lang="en-US" sz="1330" dirty="0"/>
          </a:p>
        </p:txBody>
      </p:sp>
      <p:sp>
        <p:nvSpPr>
          <p:cNvPr id="9" name="Shape 7"/>
          <p:cNvSpPr/>
          <p:nvPr/>
        </p:nvSpPr>
        <p:spPr>
          <a:xfrm>
            <a:off x="4337304" y="1687067"/>
            <a:ext cx="3486912" cy="3024891"/>
          </a:xfrm>
          <a:prstGeom prst="roundRect">
            <a:avLst>
              <a:gd name="adj" fmla="val 2536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38472" y="1855318"/>
            <a:ext cx="3084576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0243D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الموقع والتغطية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56760" y="2527996"/>
            <a:ext cx="3084576" cy="1745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الوحدة الجغرافية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على أربعة مستويات، من المحافظة إلى الحي</a:t>
            </a:r>
            <a:endParaRPr lang="en-US" sz="133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الفرع وخط السير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الفرع الخادم، وخط السير الذي يقع فيه</a:t>
            </a:r>
            <a:endParaRPr lang="en-US" sz="133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مصدر المياه والمهنة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بياناتٌ تشغيلية تُستخدم في الاستهداف</a:t>
            </a:r>
            <a:endParaRPr lang="en-US" sz="133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التغطية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هل يقع داخل تغطية فرعه أم لا</a:t>
            </a:r>
            <a:endParaRPr lang="en-US" sz="1330" dirty="0"/>
          </a:p>
        </p:txBody>
      </p:sp>
      <p:sp>
        <p:nvSpPr>
          <p:cNvPr id="12" name="Shape 10"/>
          <p:cNvSpPr/>
          <p:nvPr/>
        </p:nvSpPr>
        <p:spPr>
          <a:xfrm>
            <a:off x="594360" y="1687067"/>
            <a:ext cx="3486912" cy="3118197"/>
          </a:xfrm>
          <a:prstGeom prst="roundRect">
            <a:avLst>
              <a:gd name="adj" fmla="val 2536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5528" y="1855318"/>
            <a:ext cx="3084576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1700" b="1" dirty="0" smtClean="0">
                <a:solidFill>
                  <a:srgbClr val="10243D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الخدمة</a:t>
            </a:r>
            <a:r>
              <a:rPr lang="en-US" sz="1700" b="1" dirty="0" smtClean="0">
                <a:solidFill>
                  <a:srgbClr val="10243D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 </a:t>
            </a:r>
            <a:r>
              <a:rPr lang="en-US" sz="1700" b="1" dirty="0">
                <a:solidFill>
                  <a:srgbClr val="10243D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والمال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95528" y="2527996"/>
            <a:ext cx="3084576" cy="1745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أجهزته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الأجهزة المركّبة بأرقامها التسلسلية وحالاتها</a:t>
            </a:r>
            <a:endParaRPr lang="en-US" sz="133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عقوده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عقوده واتفاقيات خدمته وضماناته</a:t>
            </a:r>
            <a:endParaRPr lang="en-US" sz="133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مهامه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المفتوحة والمنتظرة والمنفَّذة، ونتيجة كل واحدة</a:t>
            </a:r>
            <a:endParaRPr lang="en-US" sz="133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ar-SA" sz="1330" b="1" dirty="0" smtClean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رصيده</a:t>
            </a: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أقساطه ومستحقاته وذممه وكشف حسابه</a:t>
            </a:r>
            <a:endParaRPr lang="en-US" sz="133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تفاعله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اتصالاته، وشكاواه، وهداياه، وحسابه في التطبيق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529046" y="5113554"/>
            <a:ext cx="10972800" cy="1104138"/>
          </a:xfrm>
          <a:prstGeom prst="roundRect">
            <a:avLst>
              <a:gd name="adj" fmla="val 5797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86968" y="5078349"/>
            <a:ext cx="10424160" cy="1104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3200"/>
              </a:lnSpc>
              <a:buNone/>
            </a:pPr>
            <a:r>
              <a:rPr lang="en-US" sz="2120" b="1" dirty="0">
                <a:solidFill>
                  <a:srgbClr val="10243D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العميل لم يبقَ اسماً ورقماً ‏—‏ صار سجلاً يُقرأ منه تاريخه كله في شاشةٍ واحدة</a:t>
            </a:r>
            <a:endParaRPr lang="en-US" sz="21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945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kern="0" spc="60" dirty="0">
                <a:solidFill>
                  <a:srgbClr val="1C6E8C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ما يضمّه النظام · ‏3‏ من ‏5‏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1055096" y="530352"/>
            <a:ext cx="512064" cy="512064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4" name="Text 2"/>
          <p:cNvSpPr/>
          <p:nvPr/>
        </p:nvSpPr>
        <p:spPr>
          <a:xfrm>
            <a:off x="11055096" y="5303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‏8‏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493776"/>
            <a:ext cx="10259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ما صار يُعرف عن الجهاز المركّب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9015984" y="1539850"/>
            <a:ext cx="2551176" cy="1472184"/>
          </a:xfrm>
          <a:prstGeom prst="roundRect">
            <a:avLst>
              <a:gd name="adj" fmla="val 4348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14300" dist="25400" dir="5400000" algn="bl" rotWithShape="0">
              <a:srgbClr val="0A1829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07424" y="1718615"/>
            <a:ext cx="2368296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50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‏25‏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9144000" y="2465222"/>
            <a:ext cx="2295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700"/>
              </a:lnSpc>
              <a:buNone/>
            </a:pPr>
            <a:r>
              <a:rPr lang="en-US" sz="122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جدولاً في منظومة الأجهزة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208776" y="1539850"/>
            <a:ext cx="2551176" cy="1472184"/>
          </a:xfrm>
          <a:prstGeom prst="roundRect">
            <a:avLst>
              <a:gd name="adj" fmla="val 4348"/>
            </a:avLst>
          </a:prstGeom>
          <a:solidFill>
            <a:srgbClr val="10243D"/>
          </a:solidFill>
          <a:ln w="12700">
            <a:solidFill>
              <a:srgbClr val="10243D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0216" y="1718615"/>
            <a:ext cx="2368296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50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‏10‏</a:t>
            </a:r>
            <a:endParaRPr lang="en-US" sz="3500" dirty="0"/>
          </a:p>
        </p:txBody>
      </p:sp>
      <p:sp>
        <p:nvSpPr>
          <p:cNvPr id="11" name="Text 9"/>
          <p:cNvSpPr/>
          <p:nvPr/>
        </p:nvSpPr>
        <p:spPr>
          <a:xfrm>
            <a:off x="6336792" y="2465222"/>
            <a:ext cx="2295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700"/>
              </a:lnSpc>
              <a:buNone/>
            </a:pPr>
            <a:r>
              <a:rPr lang="en-US" sz="1220" dirty="0">
                <a:solidFill>
                  <a:srgbClr val="A9BDCE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حالات لعمر الجهاز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3401568" y="1539850"/>
            <a:ext cx="2551176" cy="1472184"/>
          </a:xfrm>
          <a:prstGeom prst="roundRect">
            <a:avLst>
              <a:gd name="adj" fmla="val 4348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14300" dist="25400" dir="5400000" algn="bl" rotWithShape="0">
              <a:srgbClr val="0A1829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93008" y="1718615"/>
            <a:ext cx="2368296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50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‏9‏</a:t>
            </a:r>
            <a:endParaRPr lang="en-US" sz="3500" dirty="0"/>
          </a:p>
        </p:txBody>
      </p:sp>
      <p:sp>
        <p:nvSpPr>
          <p:cNvPr id="14" name="Text 12"/>
          <p:cNvSpPr/>
          <p:nvPr/>
        </p:nvSpPr>
        <p:spPr>
          <a:xfrm>
            <a:off x="3529584" y="2465222"/>
            <a:ext cx="2295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700"/>
              </a:lnSpc>
              <a:buNone/>
            </a:pPr>
            <a:r>
              <a:rPr lang="en-US" sz="122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أنواع مهام ترتبط به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594360" y="1539850"/>
            <a:ext cx="2551176" cy="1472184"/>
          </a:xfrm>
          <a:prstGeom prst="roundRect">
            <a:avLst>
              <a:gd name="adj" fmla="val 4348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14300" dist="25400" dir="5400000" algn="bl" rotWithShape="0">
              <a:srgbClr val="0A1829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1718615"/>
            <a:ext cx="2368296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50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‏3‏</a:t>
            </a:r>
            <a:endParaRPr lang="en-US" sz="3500" dirty="0"/>
          </a:p>
        </p:txBody>
      </p:sp>
      <p:sp>
        <p:nvSpPr>
          <p:cNvPr id="17" name="Text 15"/>
          <p:cNvSpPr/>
          <p:nvPr/>
        </p:nvSpPr>
        <p:spPr>
          <a:xfrm>
            <a:off x="722376" y="2465222"/>
            <a:ext cx="2295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700"/>
              </a:lnSpc>
              <a:buNone/>
            </a:pPr>
            <a:r>
              <a:rPr lang="en-US" sz="122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منظومات ضمانٍ مترابطة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6208776" y="3222346"/>
            <a:ext cx="5358384" cy="2628900"/>
          </a:xfrm>
          <a:prstGeom prst="roundRect">
            <a:avLst>
              <a:gd name="adj" fmla="val 2435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9944" y="3390595"/>
            <a:ext cx="495604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0243D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دورة عمره ‏—‏ عشر حالات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9944" y="3853282"/>
            <a:ext cx="4956048" cy="1850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قبل التشغيل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مسجّل، وبانتظار التسليم، ومُسلَّم، ومُركَّب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في الخدمة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فعّال، ومعطّل، وفي الورشة، وجاهز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خارج الخدمة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خارج الخدمة، ومسحوب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الحيازة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سجلٌّ يبيّن من يحوزه في كل لحظة وتاريخ كل انتقال</a:t>
            </a:r>
            <a:endParaRPr lang="en-US" sz="1380" dirty="0"/>
          </a:p>
        </p:txBody>
      </p:sp>
      <p:sp>
        <p:nvSpPr>
          <p:cNvPr id="21" name="Shape 19"/>
          <p:cNvSpPr/>
          <p:nvPr/>
        </p:nvSpPr>
        <p:spPr>
          <a:xfrm>
            <a:off x="594360" y="3222346"/>
            <a:ext cx="5358384" cy="2628900"/>
          </a:xfrm>
          <a:prstGeom prst="roundRect">
            <a:avLst>
              <a:gd name="adj" fmla="val 2435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95528" y="3390595"/>
            <a:ext cx="495604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0243D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سجلّه المرافق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95528" y="3853282"/>
            <a:ext cx="4956048" cy="1850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التواريخ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التركيب، والتشغيل، والاستلام، وكل تغيّر حالة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الصحة الفنية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سجل صحة الجهاز ومكوّناته وقطعه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القطع المبدلة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بالاسم والعدد والسعر كما كان وقت التنفيذ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المال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الذمم المرتبطة به ودفعاتها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الخدمة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الفرع الذي يخدمه، وكل مهمة نُفِّذت عليه ونتيجتها</a:t>
            </a:r>
            <a:endParaRPr lang="en-US" sz="13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945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kern="0" spc="60" dirty="0">
                <a:solidFill>
                  <a:srgbClr val="1C6E8C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ما يضمّه النظام · ‏4‏ من ‏5‏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1055096" y="530352"/>
            <a:ext cx="512064" cy="512064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4" name="Text 2"/>
          <p:cNvSpPr/>
          <p:nvPr/>
        </p:nvSpPr>
        <p:spPr>
          <a:xfrm>
            <a:off x="11055096" y="5303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‏9‏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493776"/>
            <a:ext cx="10259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ما صار يُعرف عن الموظف ‏—‏ من طلب التوظيف إلى سجله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208776" y="1434694"/>
            <a:ext cx="5358384" cy="3364992"/>
          </a:xfrm>
          <a:prstGeom prst="roundRect">
            <a:avLst>
              <a:gd name="adj" fmla="val 1902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9944" y="1602943"/>
            <a:ext cx="495604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0243D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دورة حياة طلب التوظيف ‏—‏ ‏16‏ حالة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9944" y="2065630"/>
            <a:ext cx="4956048" cy="2586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الاستلام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جديد، وقيد المراجعة، ومؤهّل، ومرفوض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المقابلة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مقابلة مجدولة، ومنفَّذة، وغير موفَّقة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القبول والتدريب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مقبول، وتدريب مجدول، وتدريب بدأ، وتدريب منتهٍ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الحسم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إعادة تدريب، وناجح، وتوظيف نهائي، ورفض نهائي، ومنسحب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ولماذا تهمّ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»منسحب« تُميّز من انسحب عمّن رُفض ‏—‏ وهو فرقٌ جوهري في تقييم مصادر التوظيف</a:t>
            </a:r>
            <a:endParaRPr lang="en-US" sz="1380" dirty="0"/>
          </a:p>
        </p:txBody>
      </p:sp>
      <p:sp>
        <p:nvSpPr>
          <p:cNvPr id="9" name="Shape 7"/>
          <p:cNvSpPr/>
          <p:nvPr/>
        </p:nvSpPr>
        <p:spPr>
          <a:xfrm>
            <a:off x="594360" y="1434694"/>
            <a:ext cx="5358384" cy="3364992"/>
          </a:xfrm>
          <a:prstGeom prst="roundRect">
            <a:avLst>
              <a:gd name="adj" fmla="val 1902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5528" y="1602943"/>
            <a:ext cx="495604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0243D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والسجل الوظيفي بعد التوظيف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95528" y="2065630"/>
            <a:ext cx="4956048" cy="2586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الموقع التنظيمي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الفرع، والقسم، والمدير المباشر، والمدرّب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الحالة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أربع حالات:‏ فعّال، وفي عطلة، وموقوف، ومنتهية خدمته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المقارنة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مقارنة المرشّحين على المعايير نفسها، لا حكماً من الذاكرة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التدريب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الدورات ببدايتها ونهايتها وتخرّجها ومدرّبها ومشتركيها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المقابلات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سجلٌ للمقابل والموعد والنتيجة والملاحظات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النقل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عملية نقلٍ صريحة بين الفروع، بضوابط على العمل المفتوح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594360" y="4957420"/>
            <a:ext cx="10972800" cy="1051560"/>
          </a:xfrm>
          <a:prstGeom prst="roundRect">
            <a:avLst>
              <a:gd name="adj" fmla="val 6087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495742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900"/>
              </a:lnSpc>
              <a:buNone/>
            </a:pPr>
            <a:r>
              <a:rPr lang="en-US" sz="1860" b="1" dirty="0">
                <a:solidFill>
                  <a:srgbClr val="10243D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والتوظيف كان مبتوراً بدليل شاشةٍ تعرض صفراً مع ‏20,521‏ مدخلاً ‏—‏ وقبولٍ ورفضٍ على رابطين بلا حالةٍ موحّدة</a:t>
            </a:r>
            <a:endParaRPr lang="en-US" sz="18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945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kern="0" spc="60" dirty="0">
                <a:solidFill>
                  <a:srgbClr val="1C6E8C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ما يضمّه النظام · ‏5‏ من ‏5‏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1055096" y="530352"/>
            <a:ext cx="512064" cy="512064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4" name="Text 2"/>
          <p:cNvSpPr/>
          <p:nvPr/>
        </p:nvSpPr>
        <p:spPr>
          <a:xfrm>
            <a:off x="11055096" y="5303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‏10‏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493776"/>
            <a:ext cx="10259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دورات الحياة والقوائم المُدارة ‏—‏ انضباط كل عملية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208776" y="1497787"/>
            <a:ext cx="5358384" cy="3154680"/>
          </a:xfrm>
          <a:prstGeom prst="roundRect">
            <a:avLst>
              <a:gd name="adj" fmla="val 2029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9944" y="1666037"/>
            <a:ext cx="495604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0243D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من تبديلٍ ثنائي إلى ‏11‏ دورة حياة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9944" y="2128723"/>
            <a:ext cx="4956048" cy="2376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الوضع القائم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تبديلٌ ثنائي واحد بين فعّال وغير فعّال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طلب التوظيف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‏16‏ حالة، المهمة المفتوحة ‏11‏ حالة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الجهاز المركّب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‏10‏ حالات، الزيارة ‏7‏، مهمة الزيارة ‏5‏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هدف الاتصال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‏7‏ حالات، الاسم المقترح ‏6‏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العقد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‏5‏ حالات، الضمان ‏4‏، المستحقات ‏4‏، الموظف ‏4‏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ما تعنيه الحالة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نقطة قرارٍ لها صاحبٌ وصلاحية وحقول إلزامية</a:t>
            </a:r>
            <a:endParaRPr lang="en-US" sz="1380" dirty="0"/>
          </a:p>
        </p:txBody>
      </p:sp>
      <p:sp>
        <p:nvSpPr>
          <p:cNvPr id="9" name="Shape 7"/>
          <p:cNvSpPr/>
          <p:nvPr/>
        </p:nvSpPr>
        <p:spPr>
          <a:xfrm>
            <a:off x="594360" y="1497787"/>
            <a:ext cx="5358384" cy="3154680"/>
          </a:xfrm>
          <a:prstGeom prst="roundRect">
            <a:avLst>
              <a:gd name="adj" fmla="val 2029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5528" y="1666037"/>
            <a:ext cx="495604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0243D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ومن ‏18‏ قائمة إلى ‏68‏ قائمة مُدارة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95528" y="2128723"/>
            <a:ext cx="4956048" cy="2376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العمق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لكل نوع مهمة قوائم منفصلة لأسباب الإنشاء والتأجيل والرفض والفشل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مثالٌ واحد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مهمة عرض الجهاز:‏ أسباب الإنشاء، والإلغاء، ورفض العرض، والتأجيل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الصيانة الطارئة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أنواع الإجراءات، وأسباب الحل وعدمه والمتابعة، ومؤشرات السلامة، وتصنيفات المرفقات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الضبط بيد الإدارة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القوائم تُدار من الإعدادات دون تعديلٍ برمجي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الأثر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صار السؤال ممكناً:‏ ما أكثر أسباب رفض العرض هذا الشهر؟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594360" y="4810201"/>
            <a:ext cx="10972800" cy="1104138"/>
          </a:xfrm>
          <a:prstGeom prst="roundRect">
            <a:avLst>
              <a:gd name="adj" fmla="val 5797"/>
            </a:avLst>
          </a:prstGeom>
          <a:solidFill>
            <a:srgbClr val="10243D"/>
          </a:solidFill>
          <a:ln w="12700">
            <a:solidFill>
              <a:srgbClr val="10243D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4810201"/>
            <a:ext cx="10424160" cy="1104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3200"/>
              </a:lnSpc>
              <a:buNone/>
            </a:pPr>
            <a:r>
              <a:rPr lang="en-US" sz="2120" b="1" dirty="0">
                <a:solidFill>
                  <a:srgbClr val="FFFFFF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لا نصَّ حرّاً في مواضع القرار ‏—‏ وهذا وحده ما يجعل الرقم قابلاً للثقة</a:t>
            </a:r>
            <a:endParaRPr lang="en-US" sz="2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945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kern="0" spc="60" dirty="0">
                <a:solidFill>
                  <a:srgbClr val="1C6E8C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القدرات التشغيلية · ‏1‏ من ‏8‏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1055096" y="530352"/>
            <a:ext cx="512064" cy="512064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4" name="Text 2"/>
          <p:cNvSpPr/>
          <p:nvPr/>
        </p:nvSpPr>
        <p:spPr>
          <a:xfrm>
            <a:off x="11055096" y="5303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‏11‏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493776"/>
            <a:ext cx="10259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ضبط المصدر ‏—‏ باب إدخال واحد، وسجل الأسماء المقترحة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208776" y="1539850"/>
            <a:ext cx="5358384" cy="2839212"/>
          </a:xfrm>
          <a:prstGeom prst="roundRect">
            <a:avLst>
              <a:gd name="adj" fmla="val 2254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blurRad="114300" dist="25400" dir="5400000" algn="bl" rotWithShape="0">
              <a:srgbClr val="0A1829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9944" y="1708099"/>
            <a:ext cx="495604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A06C2C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الوضع القائم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9944" y="2170786"/>
            <a:ext cx="4956048" cy="2061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الإنشاء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عشوائي، من أي جهة وبأي طريق</a:t>
            </a:r>
            <a:endParaRPr lang="en-US" sz="1430" dirty="0"/>
          </a:p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البيانات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خاطئة أو وهمية أو مكرّرة، دون تحقّق</a:t>
            </a:r>
            <a:endParaRPr lang="en-US" sz="1430" dirty="0"/>
          </a:p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الاقتراحات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أسماء ترد من جهاتٍ غير موثوقة وتدخل القاعدة الأساسية مباشرة</a:t>
            </a:r>
            <a:endParaRPr lang="en-US" sz="1430" dirty="0"/>
          </a:p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الحجم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‏167,126‏ اسماً محتملاً دون دورة حياة ودون مؤشرٍ واحد</a:t>
            </a:r>
            <a:endParaRPr lang="en-US" sz="1430" dirty="0"/>
          </a:p>
        </p:txBody>
      </p:sp>
      <p:sp>
        <p:nvSpPr>
          <p:cNvPr id="9" name="Shape 7"/>
          <p:cNvSpPr/>
          <p:nvPr/>
        </p:nvSpPr>
        <p:spPr>
          <a:xfrm>
            <a:off x="594360" y="1539850"/>
            <a:ext cx="5358384" cy="2839212"/>
          </a:xfrm>
          <a:prstGeom prst="roundRect">
            <a:avLst>
              <a:gd name="adj" fmla="val 2254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5528" y="1708099"/>
            <a:ext cx="495604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0243D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الوضع بعد التأسيس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95528" y="2170786"/>
            <a:ext cx="4956048" cy="2061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بابٌ واحد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مسار إدخالٍ واحد بسياسةٍ صارمة، لا مسارات جانبية</a:t>
            </a:r>
            <a:endParaRPr lang="en-US" sz="1430" dirty="0"/>
          </a:p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منع التكرار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كشف التطابق قبل الإنشاء، وهويةٌ واحدة لكل عميل</a:t>
            </a:r>
            <a:endParaRPr lang="en-US" sz="1430" dirty="0"/>
          </a:p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سجلٌ مستقل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الاسم المقترح يُفحص ويُقيَّم ويُسند قبل أن يمسّ قاعدة العملاء</a:t>
            </a:r>
            <a:endParaRPr lang="en-US" sz="1430" dirty="0"/>
          </a:p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ست حالات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جديد، ومقترح، ومتابعة، وتم الاتصال، ومؤهّل، ومرفوض</a:t>
            </a:r>
            <a:endParaRPr lang="en-US" sz="1430" dirty="0"/>
          </a:p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التحويل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مسارٌ منضبط بشروط، لا باجتهاد</a:t>
            </a:r>
            <a:endParaRPr lang="en-US" sz="1430" dirty="0"/>
          </a:p>
        </p:txBody>
      </p:sp>
      <p:sp>
        <p:nvSpPr>
          <p:cNvPr id="12" name="Shape 10"/>
          <p:cNvSpPr/>
          <p:nvPr/>
        </p:nvSpPr>
        <p:spPr>
          <a:xfrm>
            <a:off x="9015984" y="4589374"/>
            <a:ext cx="2551176" cy="1261872"/>
          </a:xfrm>
          <a:prstGeom prst="roundRect">
            <a:avLst>
              <a:gd name="adj" fmla="val 5072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14300" dist="25400" dir="5400000" algn="bl" rotWithShape="0">
              <a:srgbClr val="0A1829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07424" y="4768139"/>
            <a:ext cx="2368296" cy="4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01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التغذية</a:t>
            </a:r>
            <a:endParaRPr lang="en-US" sz="2010" dirty="0"/>
          </a:p>
        </p:txBody>
      </p:sp>
      <p:sp>
        <p:nvSpPr>
          <p:cNvPr id="14" name="Text 12"/>
          <p:cNvSpPr/>
          <p:nvPr/>
        </p:nvSpPr>
        <p:spPr>
          <a:xfrm>
            <a:off x="9144000" y="5291688"/>
            <a:ext cx="2295144" cy="4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700"/>
              </a:lnSpc>
              <a:buNone/>
            </a:pPr>
            <a:r>
              <a:rPr lang="en-US" sz="122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حجم الأسماء الواردة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208776" y="4589374"/>
            <a:ext cx="2551176" cy="1261872"/>
          </a:xfrm>
          <a:prstGeom prst="roundRect">
            <a:avLst>
              <a:gd name="adj" fmla="val 5072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14300" dist="25400" dir="5400000" algn="bl" rotWithShape="0">
              <a:srgbClr val="0A1829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0216" y="4768139"/>
            <a:ext cx="2368296" cy="4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01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التحويل</a:t>
            </a:r>
            <a:endParaRPr lang="en-US" sz="2010" dirty="0"/>
          </a:p>
        </p:txBody>
      </p:sp>
      <p:sp>
        <p:nvSpPr>
          <p:cNvPr id="17" name="Text 15"/>
          <p:cNvSpPr/>
          <p:nvPr/>
        </p:nvSpPr>
        <p:spPr>
          <a:xfrm>
            <a:off x="6336792" y="5291688"/>
            <a:ext cx="2295144" cy="4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700"/>
              </a:lnSpc>
              <a:buNone/>
            </a:pPr>
            <a:r>
              <a:rPr lang="en-US" sz="122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معدّل التحويل إلى عملاء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3401568" y="4589374"/>
            <a:ext cx="2551176" cy="1261872"/>
          </a:xfrm>
          <a:prstGeom prst="roundRect">
            <a:avLst>
              <a:gd name="adj" fmla="val 5072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14300" dist="25400" dir="5400000" algn="bl" rotWithShape="0">
              <a:srgbClr val="0A1829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93008" y="4768139"/>
            <a:ext cx="2368296" cy="4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01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العالق</a:t>
            </a:r>
            <a:endParaRPr lang="en-US" sz="2010" dirty="0"/>
          </a:p>
        </p:txBody>
      </p:sp>
      <p:sp>
        <p:nvSpPr>
          <p:cNvPr id="20" name="Text 18"/>
          <p:cNvSpPr/>
          <p:nvPr/>
        </p:nvSpPr>
        <p:spPr>
          <a:xfrm>
            <a:off x="3529584" y="5291688"/>
            <a:ext cx="2295144" cy="4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700"/>
              </a:lnSpc>
              <a:buNone/>
            </a:pPr>
            <a:r>
              <a:rPr lang="en-US" sz="122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مؤهّلون ينتظرون الإتمام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594360" y="4589374"/>
            <a:ext cx="2551176" cy="1261872"/>
          </a:xfrm>
          <a:prstGeom prst="roundRect">
            <a:avLst>
              <a:gd name="adj" fmla="val 5072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14300" dist="25400" dir="5400000" algn="bl" rotWithShape="0">
              <a:srgbClr val="0A1829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4768139"/>
            <a:ext cx="2368296" cy="4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01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الهدر</a:t>
            </a:r>
            <a:endParaRPr lang="en-US" sz="2010" dirty="0"/>
          </a:p>
        </p:txBody>
      </p:sp>
      <p:sp>
        <p:nvSpPr>
          <p:cNvPr id="23" name="Text 21"/>
          <p:cNvSpPr/>
          <p:nvPr/>
        </p:nvSpPr>
        <p:spPr>
          <a:xfrm>
            <a:off x="722376" y="5291688"/>
            <a:ext cx="2295144" cy="4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700"/>
              </a:lnSpc>
              <a:buNone/>
            </a:pPr>
            <a:r>
              <a:rPr lang="en-US" sz="122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نسبة المرفوض من الواردات</a:t>
            </a:r>
            <a:endParaRPr lang="en-US" sz="12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945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kern="0" spc="60" dirty="0">
                <a:solidFill>
                  <a:srgbClr val="1C6E8C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القدرات التشغيلية · ‏1‏ من ‏8‏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1055096" y="530352"/>
            <a:ext cx="512064" cy="512064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4" name="Text 2"/>
          <p:cNvSpPr/>
          <p:nvPr/>
        </p:nvSpPr>
        <p:spPr>
          <a:xfrm>
            <a:off x="11055096" y="5303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‏11‏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493776"/>
            <a:ext cx="10259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ضبط المصدر ‏—‏ باب إدخال واحد، وسجل الأسماء المقترحة</a:t>
            </a:r>
            <a:endParaRPr lang="en-US" sz="2900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8807" y="1223654"/>
            <a:ext cx="5512653" cy="563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696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945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kern="0" spc="60" dirty="0">
                <a:solidFill>
                  <a:srgbClr val="5E8CA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القدرات التشغيلية · ‏2‏ من ‏8‏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1055096" y="530352"/>
            <a:ext cx="512064" cy="512064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4" name="Text 2"/>
          <p:cNvSpPr/>
          <p:nvPr/>
        </p:nvSpPr>
        <p:spPr>
          <a:xfrm>
            <a:off x="11055096" y="5303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‏12‏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493776"/>
            <a:ext cx="10259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إدارة عمل الفرع ‏—‏ الخطة والمسارات والمحطات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9944" y="1325880"/>
            <a:ext cx="5157216" cy="3524596"/>
          </a:xfrm>
          <a:prstGeom prst="roundRect">
            <a:avLst>
              <a:gd name="adj" fmla="val 1816"/>
            </a:avLst>
          </a:prstGeom>
          <a:solidFill>
            <a:srgbClr val="0A1829"/>
          </a:solidFill>
          <a:ln w="12700">
            <a:solidFill>
              <a:srgbClr val="1C6E8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592824" y="1325880"/>
            <a:ext cx="4791456" cy="3524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2300"/>
              </a:lnSpc>
              <a:buNone/>
            </a:pPr>
            <a:r>
              <a:rPr lang="en-US" sz="1340" dirty="0">
                <a:solidFill>
                  <a:srgbClr val="5E8CA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مساحة اللقطة الصامتة</a:t>
            </a:r>
            <a:endParaRPr lang="en-US" sz="1340" dirty="0"/>
          </a:p>
          <a:p>
            <a:pPr marL="0" indent="0" algn="ctr" rtl="1">
              <a:lnSpc>
                <a:spcPts val="2300"/>
              </a:lnSpc>
              <a:buNone/>
            </a:pPr>
            <a:r>
              <a:rPr lang="en-US" sz="1340" dirty="0">
                <a:solidFill>
                  <a:srgbClr val="5E8CA6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طاولة الخريطة، ‏14‏ ثانية</a:t>
            </a:r>
            <a:endParaRPr lang="en-US" sz="1340" dirty="0"/>
          </a:p>
        </p:txBody>
      </p:sp>
      <p:sp>
        <p:nvSpPr>
          <p:cNvPr id="8" name="Text 6"/>
          <p:cNvSpPr/>
          <p:nvPr/>
        </p:nvSpPr>
        <p:spPr>
          <a:xfrm>
            <a:off x="594360" y="1325880"/>
            <a:ext cx="5157216" cy="685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C6E8C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طبقةٌ لم يكن لها وجود ‏—‏ لا في النظام القائم ولا في الملفات.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2109124"/>
            <a:ext cx="5157216" cy="2741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4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التخطيط  </a:t>
            </a:r>
            <a:r>
              <a:rPr lang="en-US" sz="1340" dirty="0">
                <a:solidFill>
                  <a:srgbClr val="C8D6E2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نطاقات عمل، ودورات تخطيط يومية، وجداول للفرق</a:t>
            </a:r>
            <a:endParaRPr lang="en-US" sz="134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4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المسارات  </a:t>
            </a:r>
            <a:r>
              <a:rPr lang="en-US" sz="1340" dirty="0">
                <a:solidFill>
                  <a:srgbClr val="C8D6E2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تركيب خطوط السير ومحطاتها وإسناد الفرق إليها</a:t>
            </a:r>
            <a:endParaRPr lang="en-US" sz="134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4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المهام  </a:t>
            </a:r>
            <a:r>
              <a:rPr lang="en-US" sz="1340" dirty="0">
                <a:solidFill>
                  <a:srgbClr val="C8D6E2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إنزال المهام اللازمة على المحطات وترتيبها</a:t>
            </a:r>
            <a:endParaRPr lang="en-US" sz="134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4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الاستبعاد  </a:t>
            </a:r>
            <a:r>
              <a:rPr lang="en-US" sz="1340" dirty="0">
                <a:solidFill>
                  <a:srgbClr val="C8D6E2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مُعلَّل بسببٍ من قائمة مُدارة ‏—‏ على مستوى الفريق وعلى مستوى اليوم</a:t>
            </a:r>
            <a:endParaRPr lang="en-US" sz="134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4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الجغرافيا  </a:t>
            </a:r>
            <a:r>
              <a:rPr lang="en-US" sz="1340" dirty="0">
                <a:solidFill>
                  <a:srgbClr val="C8D6E2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شجرة بأربعة مستويات، وتغطية لكل فرع، ودراسة مناطق</a:t>
            </a:r>
            <a:endParaRPr lang="en-US" sz="134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4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المتابعة  </a:t>
            </a:r>
            <a:r>
              <a:rPr lang="en-US" sz="1340" dirty="0">
                <a:solidFill>
                  <a:srgbClr val="C8D6E2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سجلات موقعٍ جغرافي للزيارات، وتنبيهات تصعيد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594360" y="5144193"/>
            <a:ext cx="10972800" cy="1028007"/>
          </a:xfrm>
          <a:prstGeom prst="roundRect">
            <a:avLst>
              <a:gd name="adj" fmla="val 6226"/>
            </a:avLst>
          </a:prstGeom>
          <a:solidFill>
            <a:srgbClr val="0A1829"/>
          </a:solidFill>
          <a:ln w="12700">
            <a:solidFill>
              <a:srgbClr val="0A1829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5144193"/>
            <a:ext cx="10424160" cy="1028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3100"/>
              </a:lnSpc>
              <a:buNone/>
            </a:pPr>
            <a:r>
              <a:rPr lang="en-US" sz="2060" b="1" dirty="0">
                <a:solidFill>
                  <a:srgbClr val="FFFFFF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‏15‏ جدولاً لطبقةٍ كانت تعمل في ذاكرة مدير الفرع ‏—‏ والاستبعاد فيها قرارٌ لا إغفال</a:t>
            </a:r>
            <a:endParaRPr lang="en-US" sz="206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504" y="1325881"/>
            <a:ext cx="3732136" cy="347333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827934" y="1366847"/>
            <a:ext cx="1007706" cy="431753"/>
          </a:xfrm>
          <a:prstGeom prst="rect">
            <a:avLst/>
          </a:prstGeom>
          <a:solidFill>
            <a:srgbClr val="C8E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945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kern="0" spc="60" dirty="0">
                <a:solidFill>
                  <a:srgbClr val="1C6E8C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القدرات التشغيلية · ‏3‏ من ‏8‏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1055096" y="530352"/>
            <a:ext cx="512064" cy="512064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4" name="Text 2"/>
          <p:cNvSpPr/>
          <p:nvPr/>
        </p:nvSpPr>
        <p:spPr>
          <a:xfrm>
            <a:off x="11055096" y="5303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‏13‏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493776"/>
            <a:ext cx="10259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المهمة المفتوحة ‏—‏ وحدة العمل، وأنواعها الأربعة عشر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208776" y="1476756"/>
            <a:ext cx="5358384" cy="3207258"/>
          </a:xfrm>
          <a:prstGeom prst="roundRect">
            <a:avLst>
              <a:gd name="adj" fmla="val 1996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9944" y="1645006"/>
            <a:ext cx="495604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0243D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ما هي، وأنواعها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9944" y="2107692"/>
            <a:ext cx="4956048" cy="2429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التعريف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عملٌ مستحقٌّ على عميلٍ أو جهاز، قائمٌ بذاته، لا سطرٌ داخل زيارة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الأنواع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عرض جهاز، تسليم، تركيب، تفعيل، فحص، فصل، سحب، إرجاع، نقل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وتكملتها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صيانة دورية، صيانة طارئة، تسليم هدية، تحصيل قسط، فحص مياه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الأهلية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قواعد مكتوبة تحدّد متى تصبح المهمة مؤهّلة للجدولة</a:t>
            </a:r>
            <a:endParaRPr lang="en-US" sz="1380" dirty="0"/>
          </a:p>
        </p:txBody>
      </p:sp>
      <p:sp>
        <p:nvSpPr>
          <p:cNvPr id="9" name="Shape 7"/>
          <p:cNvSpPr/>
          <p:nvPr/>
        </p:nvSpPr>
        <p:spPr>
          <a:xfrm>
            <a:off x="594360" y="1476756"/>
            <a:ext cx="5358384" cy="3207258"/>
          </a:xfrm>
          <a:prstGeom prst="roundRect">
            <a:avLst>
              <a:gd name="adj" fmla="val 1996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5528" y="1645006"/>
            <a:ext cx="495604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0243D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وما يترتّب عليها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95528" y="2107692"/>
            <a:ext cx="4956048" cy="2429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إحدى عشرة حالة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مفتوحة، وبحاجة متابعة، ومُسندة، وفي الجدولة، ومجدولة، وبانتظار التنفيذ، وقيد التنفيذ، ومنتهية، ومكتملة، ومغلقة، وملغاة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الإسناد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لكل مهمة مسؤولٌ ومصدرٌ وسببُ إنشاءٍ من قائمة مُدارة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السحب إلى الزيارة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يمكن سحب مهام العميل المنتظرة إلى زيارةٍ قائمة، بضوابط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سجل النشاط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كل انتقال حالةٍ مسجّلٌ بصاحبه ووقته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التصعيد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تنبيهات على المتأخّر والمعطَّل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594360" y="4841748"/>
            <a:ext cx="10972800" cy="1104138"/>
          </a:xfrm>
          <a:prstGeom prst="roundRect">
            <a:avLst>
              <a:gd name="adj" fmla="val 5797"/>
            </a:avLst>
          </a:prstGeom>
          <a:solidFill>
            <a:srgbClr val="10243D"/>
          </a:solidFill>
          <a:ln w="12700">
            <a:solidFill>
              <a:srgbClr val="10243D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4841748"/>
            <a:ext cx="10424160" cy="1104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3200"/>
              </a:lnSpc>
              <a:buNone/>
            </a:pPr>
            <a:r>
              <a:rPr lang="en-US" sz="2120" b="1" dirty="0">
                <a:solidFill>
                  <a:srgbClr val="FFFFFF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لم يُعد العمل يُقاس بالزيارة، بل بالمهمة ‏—‏ فصار ما لم يُنفَّذ معروفاً بالاسم والسبب</a:t>
            </a:r>
            <a:endParaRPr lang="en-US" sz="21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945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kern="0" spc="60" dirty="0">
                <a:solidFill>
                  <a:srgbClr val="1C6E8C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القدرات التشغيلية · ‏4‏ من ‏8‏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1055096" y="530352"/>
            <a:ext cx="512064" cy="512064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4" name="Text 2"/>
          <p:cNvSpPr/>
          <p:nvPr/>
        </p:nvSpPr>
        <p:spPr>
          <a:xfrm>
            <a:off x="11055096" y="5303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‏14‏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493776"/>
            <a:ext cx="10259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الزيارة ومهامها ‏—‏ الفصل بين الوعاء والنتيجة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208776" y="1518818"/>
            <a:ext cx="5358384" cy="3435736"/>
          </a:xfrm>
          <a:prstGeom prst="roundRect">
            <a:avLst>
              <a:gd name="adj" fmla="val 2099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blurRad="114300" dist="25400" dir="5400000" algn="bl" rotWithShape="0">
              <a:srgbClr val="0A1829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9944" y="1687068"/>
            <a:ext cx="495604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A06C2C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الوضع القائم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9944" y="2149754"/>
            <a:ext cx="4956048" cy="2271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الحقول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الزيارة التسويقية والخدمية تتشاركان الحقول نفسها</a:t>
            </a:r>
            <a:endParaRPr lang="en-US" sz="1430" dirty="0"/>
          </a:p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النتيجة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عمودٌ واحد للنتيجة وآخر للحالة الفنية، ونصٌّ حر فيهما</a:t>
            </a:r>
            <a:endParaRPr lang="en-US" sz="1430" dirty="0"/>
          </a:p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التكرار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ثلاثة أعمدة باسم الفني، وعمودان للمبلغ المدفوع في الصف الواحد</a:t>
            </a:r>
            <a:endParaRPr lang="en-US" sz="1430" dirty="0"/>
          </a:p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الاستحالة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عملان مختلفان في زيارةٍ واحدة لا يمكن تسجيلهما</a:t>
            </a:r>
            <a:endParaRPr lang="en-US" sz="1430" dirty="0"/>
          </a:p>
        </p:txBody>
      </p:sp>
      <p:sp>
        <p:nvSpPr>
          <p:cNvPr id="9" name="Shape 7"/>
          <p:cNvSpPr/>
          <p:nvPr/>
        </p:nvSpPr>
        <p:spPr>
          <a:xfrm>
            <a:off x="594360" y="1518817"/>
            <a:ext cx="5358384" cy="3435737"/>
          </a:xfrm>
          <a:prstGeom prst="roundRect">
            <a:avLst>
              <a:gd name="adj" fmla="val 2099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5528" y="1687068"/>
            <a:ext cx="495604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0243D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الوضع بعد التأسيس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95528" y="2333669"/>
            <a:ext cx="4956048" cy="2271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الفصل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الزيارة وعاء، والمهمة وحدة العمل ‏—‏ ولكل مهمةٍ نتيجتها</a:t>
            </a:r>
            <a:endParaRPr lang="en-US" sz="1430" dirty="0"/>
          </a:p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نتيجة موحّدة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القرار النهائي، ورمز السبب، وملاحظات الإغلاق، ومن أغلق ومتى</a:t>
            </a:r>
            <a:endParaRPr lang="en-US" sz="1430" dirty="0"/>
          </a:p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‏14‏ جدول نتائج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متخصّصة بحقول نوعها ‏—‏ عرض، وتسليم، وتركيب، وتفعيل، وفحص، وفصل، وسحب، وإرجاع، ونقل، وهدية، وتحصيل، وثلاثة للطوارئ</a:t>
            </a:r>
            <a:endParaRPr lang="en-US" sz="1430" dirty="0"/>
          </a:p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الحالات  </a:t>
            </a:r>
            <a:r>
              <a:rPr lang="en-US" sz="1430" dirty="0" err="1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سبع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 </a:t>
            </a:r>
            <a:r>
              <a:rPr lang="en-US" sz="1430" dirty="0" err="1" smtClean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للزيارة</a:t>
            </a:r>
            <a:r>
              <a:rPr lang="en-US" sz="1430" dirty="0" smtClean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،</a:t>
            </a:r>
            <a:endParaRPr lang="en-US" sz="1430" dirty="0"/>
          </a:p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الميدان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تسجيل الموقع، واستبيانات الزيارة، وزيارةٌ فورية بضوابط</a:t>
            </a:r>
            <a:endParaRPr lang="en-US" sz="1430" dirty="0"/>
          </a:p>
        </p:txBody>
      </p:sp>
      <p:sp>
        <p:nvSpPr>
          <p:cNvPr id="12" name="Shape 10"/>
          <p:cNvSpPr/>
          <p:nvPr/>
        </p:nvSpPr>
        <p:spPr>
          <a:xfrm>
            <a:off x="594360" y="5304434"/>
            <a:ext cx="10972800" cy="1156716"/>
          </a:xfrm>
          <a:prstGeom prst="roundRect">
            <a:avLst>
              <a:gd name="adj" fmla="val 5534"/>
            </a:avLst>
          </a:prstGeom>
          <a:solidFill>
            <a:srgbClr val="10243D"/>
          </a:solidFill>
          <a:ln w="12700">
            <a:solidFill>
              <a:srgbClr val="10243D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5245119"/>
            <a:ext cx="1042416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3300"/>
              </a:lnSpc>
              <a:buNone/>
            </a:pPr>
            <a:r>
              <a:rPr lang="en-US" sz="2230" b="1" dirty="0">
                <a:solidFill>
                  <a:srgbClr val="FFFFFF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أصبح تداخل النتائج ممتنعاً بنيوياً ‏—‏ لا موكولاً إلى التزام الموظف</a:t>
            </a:r>
            <a:endParaRPr lang="en-US" sz="22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945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kern="0" spc="60" dirty="0">
                <a:solidFill>
                  <a:srgbClr val="1C6E8C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القدرات التشغيلية · ‏4‏ من ‏8‏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1055096" y="530352"/>
            <a:ext cx="512064" cy="512064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4" name="Text 2"/>
          <p:cNvSpPr/>
          <p:nvPr/>
        </p:nvSpPr>
        <p:spPr>
          <a:xfrm>
            <a:off x="11055096" y="5303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‏14‏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493776"/>
            <a:ext cx="10259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الزيارة ومهامها ‏—‏ الفصل بين الوعاء والنتيجة</a:t>
            </a:r>
            <a:endParaRPr lang="en-US" sz="29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9096" y="1236312"/>
            <a:ext cx="8056202" cy="517381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259216" y="1236312"/>
            <a:ext cx="2946082" cy="886408"/>
          </a:xfrm>
          <a:prstGeom prst="rect">
            <a:avLst/>
          </a:prstGeom>
          <a:solidFill>
            <a:srgbClr val="EFFA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149190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945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kern="0" spc="60" dirty="0">
                <a:solidFill>
                  <a:srgbClr val="1C6E8C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القدرات التشغيلية · ‏5‏ من ‏8‏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1055096" y="530352"/>
            <a:ext cx="512064" cy="512064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4" name="Text 2"/>
          <p:cNvSpPr/>
          <p:nvPr/>
        </p:nvSpPr>
        <p:spPr>
          <a:xfrm>
            <a:off x="11055096" y="5303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‏15‏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493776"/>
            <a:ext cx="10259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مهمة عرض الجهاز ‏—‏ ميزة بيعية لم يكن لها وجود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208776" y="1518818"/>
            <a:ext cx="5358384" cy="3049524"/>
          </a:xfrm>
          <a:prstGeom prst="roundRect">
            <a:avLst>
              <a:gd name="adj" fmla="val 2099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9944" y="1687068"/>
            <a:ext cx="495604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0243D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ما تُنتجه من بيانات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9944" y="2149754"/>
            <a:ext cx="4956048" cy="2271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نوع العرض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نقداً أو بالتقسيط</a:t>
            </a:r>
            <a:endParaRPr lang="en-US" sz="1430" dirty="0"/>
          </a:p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الأرقام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مبلغ العرض، وعدد أشهر التقسيط، ونسبة الحسم</a:t>
            </a:r>
            <a:endParaRPr lang="en-US" sz="1430" dirty="0"/>
          </a:p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المعروض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موديل الجهاز المعروض، وهل بيع فعلاً</a:t>
            </a:r>
            <a:endParaRPr lang="en-US" sz="1430" dirty="0"/>
          </a:p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الأثر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رقم مرجع البيع، والعقد الناتج إن تمّ، والموظف الذي أغلق</a:t>
            </a:r>
            <a:endParaRPr lang="en-US" sz="1430" dirty="0"/>
          </a:p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قوائمها الأربع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أسباب الإنشاء، والإلغاء، ورفض العرض، والتأجيل</a:t>
            </a:r>
            <a:endParaRPr lang="en-US" sz="1430" dirty="0"/>
          </a:p>
        </p:txBody>
      </p:sp>
      <p:sp>
        <p:nvSpPr>
          <p:cNvPr id="9" name="Shape 7"/>
          <p:cNvSpPr/>
          <p:nvPr/>
        </p:nvSpPr>
        <p:spPr>
          <a:xfrm>
            <a:off x="594360" y="1518818"/>
            <a:ext cx="5358384" cy="3049524"/>
          </a:xfrm>
          <a:prstGeom prst="roundRect">
            <a:avLst>
              <a:gd name="adj" fmla="val 2099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blurRad="114300" dist="25400" dir="5400000" algn="bl" rotWithShape="0">
              <a:srgbClr val="0A1829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5528" y="1687068"/>
            <a:ext cx="495604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A06C2C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ولماذا لم تكن ممكنة سابقاً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95528" y="2149754"/>
            <a:ext cx="4956048" cy="2271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لا حقول لها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القالب القديم لا يحتوي حقلاً للعرض ولا للحسم ولا للتقسيط</a:t>
            </a:r>
            <a:endParaRPr lang="en-US" sz="1430" dirty="0"/>
          </a:p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نصٌّ حر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نتيجة العرض تُكتب في خانة »النتيجة«، فيضيع الرقم والشرط والمآل</a:t>
            </a:r>
            <a:endParaRPr lang="en-US" sz="1430" dirty="0"/>
          </a:p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وأخطر ما يضيع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الرابط بين العرض والعقد الناتج ‏—‏ أي استحالة قياس معدّل تحويل العروض إلى بيوع</a:t>
            </a:r>
            <a:endParaRPr lang="en-US" sz="1430" dirty="0"/>
          </a:p>
          <a:p>
            <a:pPr marL="0" indent="0" algn="r" rtl="1">
              <a:lnSpc>
                <a:spcPts val="2400"/>
              </a:lnSpc>
              <a:spcAft>
                <a:spcPts val="500"/>
              </a:spcAft>
              <a:buNone/>
            </a:pPr>
            <a:r>
              <a:rPr lang="en-US" sz="14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ولا اسم لها  </a:t>
            </a:r>
            <a:r>
              <a:rPr lang="en-US" sz="14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المهمة لم يكن لها اسمٌ في النظام القائم أصلاً ‏—‏ كانت تحدث في الواقع ولا تترك أثراً</a:t>
            </a:r>
            <a:endParaRPr lang="en-US" sz="1430" dirty="0"/>
          </a:p>
        </p:txBody>
      </p:sp>
      <p:sp>
        <p:nvSpPr>
          <p:cNvPr id="12" name="Shape 10"/>
          <p:cNvSpPr/>
          <p:nvPr/>
        </p:nvSpPr>
        <p:spPr>
          <a:xfrm>
            <a:off x="594360" y="4726076"/>
            <a:ext cx="10972800" cy="1156716"/>
          </a:xfrm>
          <a:prstGeom prst="roundRect">
            <a:avLst>
              <a:gd name="adj" fmla="val 5534"/>
            </a:avLst>
          </a:prstGeom>
          <a:solidFill>
            <a:srgbClr val="10243D"/>
          </a:solidFill>
          <a:ln w="12700">
            <a:solidFill>
              <a:srgbClr val="10243D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4726076"/>
            <a:ext cx="1042416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3300"/>
              </a:lnSpc>
              <a:buNone/>
            </a:pPr>
            <a:r>
              <a:rPr lang="en-US" sz="2230" b="1" dirty="0">
                <a:solidFill>
                  <a:srgbClr val="FFFFFF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العمل الذي كان يحدث </a:t>
            </a:r>
            <a:r>
              <a:rPr lang="en-US" sz="2230" b="1" dirty="0" err="1">
                <a:solidFill>
                  <a:srgbClr val="FFFFFF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بلا</a:t>
            </a:r>
            <a:r>
              <a:rPr lang="en-US" sz="2230" b="1" dirty="0">
                <a:solidFill>
                  <a:srgbClr val="FFFFFF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 </a:t>
            </a:r>
            <a:r>
              <a:rPr lang="ar-SA" sz="2230" b="1" dirty="0" smtClean="0">
                <a:solidFill>
                  <a:srgbClr val="FFFFFF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توثيق </a:t>
            </a:r>
            <a:r>
              <a:rPr lang="en-US" sz="2230" b="1" dirty="0" smtClean="0">
                <a:solidFill>
                  <a:srgbClr val="FFFFFF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، </a:t>
            </a:r>
            <a:r>
              <a:rPr lang="en-US" sz="2230" b="1" dirty="0">
                <a:solidFill>
                  <a:srgbClr val="FFFFFF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صار له اسمٌ ومسارٌ ونتيجةٌ ومسؤول</a:t>
            </a:r>
            <a:endParaRPr lang="en-US" sz="22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945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kern="0" spc="60" dirty="0">
                <a:solidFill>
                  <a:srgbClr val="1C6E8C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القدرات التشغيلية · ‏6‏ من ‏8‏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1055096" y="530352"/>
            <a:ext cx="512064" cy="512064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4" name="Text 2"/>
          <p:cNvSpPr/>
          <p:nvPr/>
        </p:nvSpPr>
        <p:spPr>
          <a:xfrm>
            <a:off x="11055096" y="5303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‏16‏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493776"/>
            <a:ext cx="10259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الصيانة الطارئة والدورية ‏—‏ القياس والقطع والفاتورة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8080248" y="1539850"/>
            <a:ext cx="3486912" cy="2891790"/>
          </a:xfrm>
          <a:prstGeom prst="roundRect">
            <a:avLst>
              <a:gd name="adj" fmla="val 2213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81416" y="1708099"/>
            <a:ext cx="3084576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0243D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الحالة الفنية ‏—‏ ‏11‏ قياساً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81416" y="2170786"/>
            <a:ext cx="3084576" cy="2113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التشخيص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تأكيد وجود المشكلة، وملاحظات فنية</a:t>
            </a:r>
            <a:endParaRPr lang="en-US" sz="133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المياه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TDS قبل، وTDS بعد</a:t>
            </a:r>
            <a:endParaRPr lang="en-US" sz="133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الضغوط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ضغط المضخة، وضغط الخزان، وإنتاج الميمبرين</a:t>
            </a:r>
            <a:endParaRPr lang="en-US" sz="133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المكوّنات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قاطع الضغط المنخفض والمرتفع، والصمّام اللولبي، والأشعة فوق البنفسجية</a:t>
            </a:r>
            <a:endParaRPr lang="en-US" sz="1330" dirty="0"/>
          </a:p>
        </p:txBody>
      </p:sp>
      <p:sp>
        <p:nvSpPr>
          <p:cNvPr id="9" name="Shape 7"/>
          <p:cNvSpPr/>
          <p:nvPr/>
        </p:nvSpPr>
        <p:spPr>
          <a:xfrm>
            <a:off x="4337304" y="1539850"/>
            <a:ext cx="3486912" cy="2891790"/>
          </a:xfrm>
          <a:prstGeom prst="roundRect">
            <a:avLst>
              <a:gd name="adj" fmla="val 2213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38472" y="1708099"/>
            <a:ext cx="3084576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0243D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القطع المستخدمة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38472" y="2170786"/>
            <a:ext cx="3084576" cy="2113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سطرٌ لكل قطعة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القطعة، والكمية، وسعر الوحدة</a:t>
            </a:r>
            <a:endParaRPr lang="en-US" sz="133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لقطة الاسم والسعر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كما كانا وقت التنفيذ ‏—‏ فتبقى الفاتورة صحيحة تاريخياً</a:t>
            </a:r>
            <a:endParaRPr lang="en-US" sz="133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القديمة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وهل أُزيلت القطعة القديمة</a:t>
            </a:r>
            <a:endParaRPr lang="en-US" sz="133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الوضع القائم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خليةٌ نصّية واحدة:‏ القطع المبدلة وملاحظاتها</a:t>
            </a:r>
            <a:endParaRPr lang="en-US" sz="1330" dirty="0"/>
          </a:p>
        </p:txBody>
      </p:sp>
      <p:sp>
        <p:nvSpPr>
          <p:cNvPr id="12" name="Shape 10"/>
          <p:cNvSpPr/>
          <p:nvPr/>
        </p:nvSpPr>
        <p:spPr>
          <a:xfrm>
            <a:off x="594360" y="1539850"/>
            <a:ext cx="3486912" cy="2891790"/>
          </a:xfrm>
          <a:prstGeom prst="roundRect">
            <a:avLst>
              <a:gd name="adj" fmla="val 2213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5528" y="1708099"/>
            <a:ext cx="3084576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0243D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الحركة المالية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95528" y="2170786"/>
            <a:ext cx="3084576" cy="2113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الفصل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أجر العمل، وتكلفة القطع، والإجمالي</a:t>
            </a:r>
            <a:endParaRPr lang="en-US" sz="133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التحصيل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طريقة الدفع، والمبلغ المحصَّل فعلاً</a:t>
            </a:r>
            <a:endParaRPr lang="en-US" sz="133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الذمّة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والفرق بين الإجمالي والمحصَّل هو ما يُنتج الذمّة</a:t>
            </a:r>
            <a:endParaRPr lang="en-US" sz="133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الوضع القائم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عمودٌ رقمي واحد:‏ المبلغ المدفوع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594360" y="4641952"/>
            <a:ext cx="10972800" cy="1209294"/>
          </a:xfrm>
          <a:prstGeom prst="roundRect">
            <a:avLst>
              <a:gd name="adj" fmla="val 5293"/>
            </a:avLst>
          </a:prstGeom>
          <a:solidFill>
            <a:srgbClr val="10243D"/>
          </a:solidFill>
          <a:ln w="12700">
            <a:solidFill>
              <a:srgbClr val="10243D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4641952"/>
            <a:ext cx="10424160" cy="1209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3100"/>
              </a:lnSpc>
              <a:buNone/>
            </a:pPr>
            <a:r>
              <a:rPr lang="en-US" sz="2010" b="1" dirty="0">
                <a:solidFill>
                  <a:srgbClr val="FFFFFF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من خليةٍ نصّية واحدة وعمودٍ رقمي واحد ‏—‏ إلى ستة جداول منظّمة، وفصلٌ في أصل البيانات بين الطارئة والدورية</a:t>
            </a:r>
            <a:endParaRPr lang="en-US" sz="201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945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kern="0" spc="60" dirty="0">
                <a:solidFill>
                  <a:srgbClr val="1C6E8C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القدرات التشغيلية · ‏7‏ من ‏8‏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1055096" y="530352"/>
            <a:ext cx="512064" cy="512064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4" name="Text 2"/>
          <p:cNvSpPr/>
          <p:nvPr/>
        </p:nvSpPr>
        <p:spPr>
          <a:xfrm>
            <a:off x="11055096" y="5303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‏17‏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493776"/>
            <a:ext cx="10259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العقد والاتفاقية والجهاز ‏—‏ الفصل الثلاثي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8080248" y="1623974"/>
            <a:ext cx="3486912" cy="2734056"/>
          </a:xfrm>
          <a:prstGeom prst="roundRect">
            <a:avLst>
              <a:gd name="adj" fmla="val 2341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81416" y="1792224"/>
            <a:ext cx="3084576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0243D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العقد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81416" y="2254910"/>
            <a:ext cx="3084576" cy="1955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طبيعته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بيع جهازٍ من الشركة</a:t>
            </a:r>
            <a:endParaRPr lang="en-US" sz="133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ما يحتاجه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مشتري ومستفيد ووسيط، وثمن، ودفعة أولى، وأقساط، وضمان</a:t>
            </a:r>
            <a:endParaRPr lang="en-US" sz="133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حالاته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مسودّة، وفعّال، وملغى، ومكتمل، ومطروح</a:t>
            </a:r>
            <a:endParaRPr lang="en-US" sz="133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الإلغاء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مصفوفة تحدّد أثره على الجهاز والمهام والضمان والمستحقات</a:t>
            </a:r>
            <a:endParaRPr lang="en-US" sz="1330" dirty="0"/>
          </a:p>
        </p:txBody>
      </p:sp>
      <p:sp>
        <p:nvSpPr>
          <p:cNvPr id="9" name="Shape 7"/>
          <p:cNvSpPr/>
          <p:nvPr/>
        </p:nvSpPr>
        <p:spPr>
          <a:xfrm>
            <a:off x="4337304" y="1623974"/>
            <a:ext cx="3486912" cy="2734056"/>
          </a:xfrm>
          <a:prstGeom prst="roundRect">
            <a:avLst>
              <a:gd name="adj" fmla="val 2341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38472" y="1792224"/>
            <a:ext cx="3084576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0243D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اتفاقية الخدمة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38472" y="2254910"/>
            <a:ext cx="3084576" cy="1955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طبيعتها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تعهُّدٌ بصيانة جهازٍ لم تبعه الشركة</a:t>
            </a:r>
            <a:endParaRPr lang="en-US" sz="133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ما تحتاجه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رقم اتفاقية، وخطة صيانة، وعدد زيارات، وأجر، وبداية ونهاية</a:t>
            </a:r>
            <a:endParaRPr lang="en-US" sz="133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الجهاز الخارجي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اسم موديلٍ حرّ، ورقم تسلسلي، وملاحظات، ومصدر، وسياسة طرفٍ خارجي</a:t>
            </a:r>
            <a:endParaRPr lang="en-US" sz="1330" dirty="0"/>
          </a:p>
        </p:txBody>
      </p:sp>
      <p:sp>
        <p:nvSpPr>
          <p:cNvPr id="12" name="Shape 10"/>
          <p:cNvSpPr/>
          <p:nvPr/>
        </p:nvSpPr>
        <p:spPr>
          <a:xfrm>
            <a:off x="594360" y="1623974"/>
            <a:ext cx="3486912" cy="2734056"/>
          </a:xfrm>
          <a:prstGeom prst="roundRect">
            <a:avLst>
              <a:gd name="adj" fmla="val 2341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blurRad="114300" dist="25400" dir="5400000" algn="bl" rotWithShape="0">
              <a:srgbClr val="0A1829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5528" y="1792224"/>
            <a:ext cx="3084576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A06C2C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والدليل من البنية نفسها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95528" y="2254910"/>
            <a:ext cx="3084576" cy="1955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أثرٌ موثّق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جدول اتفاقيات الخدمة يحمل عموداً لمرجع العقد القديم الذي كانت مسجَّلةً داخله</a:t>
            </a:r>
            <a:endParaRPr lang="en-US" sz="133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الأثر السابق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قائمة العقود كانت تشمل ما ليس بيعاً، فتفسد كل إحصاءات البيع</a:t>
            </a:r>
            <a:endParaRPr lang="en-US" sz="133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3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والأخطر  </a:t>
            </a:r>
            <a:r>
              <a:rPr lang="en-US" sz="133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صيانة جهازٍ خارجي تظهر كأنها على جهاز الشركة، فتفسد الأداء الفني والتكاليف والضمان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594360" y="4568342"/>
            <a:ext cx="10972800" cy="1156716"/>
          </a:xfrm>
          <a:prstGeom prst="roundRect">
            <a:avLst>
              <a:gd name="adj" fmla="val 5534"/>
            </a:avLst>
          </a:prstGeom>
          <a:solidFill>
            <a:srgbClr val="10243D"/>
          </a:solidFill>
          <a:ln w="12700">
            <a:solidFill>
              <a:srgbClr val="10243D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4568342"/>
            <a:ext cx="1042416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3200"/>
              </a:lnSpc>
              <a:buNone/>
            </a:pPr>
            <a:r>
              <a:rPr lang="en-US" sz="2120" b="1" dirty="0">
                <a:solidFill>
                  <a:srgbClr val="FFFFFF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والزيارة تُنفَّذ على الجهاز، لا على الورقة ‏—‏ فصار لكل جهازٍ تاريخ خدمةٍ حقيقي</a:t>
            </a:r>
            <a:endParaRPr lang="en-US" sz="21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945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kern="0" spc="60" dirty="0">
                <a:solidFill>
                  <a:srgbClr val="1C6E8C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القدرات التشغيلية · ‏8‏ من ‏8‏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1055096" y="530352"/>
            <a:ext cx="512064" cy="512064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4" name="Text 2"/>
          <p:cNvSpPr/>
          <p:nvPr/>
        </p:nvSpPr>
        <p:spPr>
          <a:xfrm>
            <a:off x="11055096" y="5303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‏18‏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493776"/>
            <a:ext cx="10259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b="1" dirty="0" err="1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تطبيق</a:t>
            </a:r>
            <a:r>
              <a:rPr lang="en-US" sz="290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 </a:t>
            </a:r>
            <a:r>
              <a:rPr lang="ar-SA" sz="2900" b="1" dirty="0" smtClean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المستخدم</a:t>
            </a:r>
            <a:r>
              <a:rPr lang="en-US" sz="2900" b="1" dirty="0" smtClean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 </a:t>
            </a:r>
            <a:r>
              <a:rPr lang="en-US" sz="290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‏—</a:t>
            </a:r>
            <a:r>
              <a:rPr lang="en-US" sz="2900" b="1" dirty="0" smtClean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</a:t>
            </a:r>
            <a:r>
              <a:rPr lang="ar-SA" sz="2900" b="1" dirty="0" smtClean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 طلبات متنوعة و اشعارات فورية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9015984" y="1560881"/>
            <a:ext cx="2551176" cy="1419606"/>
          </a:xfrm>
          <a:prstGeom prst="roundRect">
            <a:avLst>
              <a:gd name="adj" fmla="val 4509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14300" dist="25400" dir="5400000" algn="bl" rotWithShape="0">
              <a:srgbClr val="0A1829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07424" y="1739646"/>
            <a:ext cx="2368296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500" b="1" dirty="0" smtClean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‏10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9144000" y="2486254"/>
            <a:ext cx="2295144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700"/>
              </a:lnSpc>
              <a:buNone/>
            </a:pPr>
            <a:r>
              <a:rPr lang="ar-SA" sz="1220" dirty="0" smtClean="0">
                <a:solidFill>
                  <a:srgbClr val="54657A"/>
                </a:solidFill>
                <a:latin typeface="Dubai" pitchFamily="34" charset="0"/>
                <a:cs typeface="Dubai" pitchFamily="34" charset="-120"/>
              </a:rPr>
              <a:t>طلبات مختلفة 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208776" y="1560881"/>
            <a:ext cx="2551176" cy="1419606"/>
          </a:xfrm>
          <a:prstGeom prst="roundRect">
            <a:avLst>
              <a:gd name="adj" fmla="val 4509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14300" dist="25400" dir="5400000" algn="bl" rotWithShape="0">
              <a:srgbClr val="0A1829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0216" y="1739646"/>
            <a:ext cx="2368296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500" b="1" dirty="0" smtClean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‏16‏</a:t>
            </a:r>
            <a:endParaRPr lang="en-US" sz="3500" dirty="0"/>
          </a:p>
        </p:txBody>
      </p:sp>
      <p:sp>
        <p:nvSpPr>
          <p:cNvPr id="11" name="Text 9"/>
          <p:cNvSpPr/>
          <p:nvPr/>
        </p:nvSpPr>
        <p:spPr>
          <a:xfrm>
            <a:off x="6336792" y="2486254"/>
            <a:ext cx="2295144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700"/>
              </a:lnSpc>
              <a:buNone/>
            </a:pPr>
            <a:r>
              <a:rPr lang="en-US" sz="122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جداول لحساباته وإشعاراته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3401568" y="1560881"/>
            <a:ext cx="2551176" cy="1419606"/>
          </a:xfrm>
          <a:prstGeom prst="roundRect">
            <a:avLst>
              <a:gd name="adj" fmla="val 4509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14300" dist="25400" dir="5400000" algn="bl" rotWithShape="0">
              <a:srgbClr val="0A1829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93008" y="1739646"/>
            <a:ext cx="2368296" cy="4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01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التحقّق</a:t>
            </a:r>
            <a:endParaRPr lang="en-US" sz="2010" dirty="0"/>
          </a:p>
        </p:txBody>
      </p:sp>
      <p:sp>
        <p:nvSpPr>
          <p:cNvPr id="14" name="Text 12"/>
          <p:cNvSpPr/>
          <p:nvPr/>
        </p:nvSpPr>
        <p:spPr>
          <a:xfrm>
            <a:off x="3529584" y="2263195"/>
            <a:ext cx="2295144" cy="59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700"/>
              </a:lnSpc>
              <a:buNone/>
            </a:pPr>
            <a:r>
              <a:rPr lang="en-US" sz="122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رمز تحقّق مع مزوّد رسائل فعلي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594360" y="1560881"/>
            <a:ext cx="2551176" cy="1419606"/>
          </a:xfrm>
          <a:prstGeom prst="roundRect">
            <a:avLst>
              <a:gd name="adj" fmla="val 4509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14300" dist="25400" dir="5400000" algn="bl" rotWithShape="0">
              <a:srgbClr val="0A1829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1739646"/>
            <a:ext cx="2368296" cy="4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01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الإشعارات</a:t>
            </a:r>
            <a:endParaRPr lang="en-US" sz="2010" dirty="0"/>
          </a:p>
        </p:txBody>
      </p:sp>
      <p:sp>
        <p:nvSpPr>
          <p:cNvPr id="17" name="Text 15"/>
          <p:cNvSpPr/>
          <p:nvPr/>
        </p:nvSpPr>
        <p:spPr>
          <a:xfrm>
            <a:off x="722376" y="2263195"/>
            <a:ext cx="2295144" cy="59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ts val="1700"/>
              </a:lnSpc>
              <a:buNone/>
            </a:pPr>
            <a:r>
              <a:rPr lang="en-US" sz="122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تفاعلية وزمنية وإدارية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6208776" y="3190799"/>
            <a:ext cx="5358384" cy="2628900"/>
          </a:xfrm>
          <a:prstGeom prst="roundRect">
            <a:avLst>
              <a:gd name="adj" fmla="val 2435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9944" y="3359048"/>
            <a:ext cx="495604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 err="1" smtClean="0">
                <a:solidFill>
                  <a:srgbClr val="10243D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ما</a:t>
            </a:r>
            <a:r>
              <a:rPr lang="en-US" sz="1700" b="1" dirty="0" smtClean="0">
                <a:solidFill>
                  <a:srgbClr val="10243D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 </a:t>
            </a:r>
            <a:r>
              <a:rPr lang="ar-SA" sz="1700" b="1" dirty="0" smtClean="0">
                <a:solidFill>
                  <a:srgbClr val="10243D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يقدمه للزبون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9944" y="3821735"/>
            <a:ext cx="4956048" cy="1850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حسابٌ موثّق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إنشاء حساب برقم هاتفه وربطه بسجله في النظام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الطلبات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تقديم طلبٍ للخدمة أو للجهاز، ومتابعة حالته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أجهزته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عرض أجهزته المركّبة وحالتها وتاريخها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زياراته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عرض زياراته ومواعيدها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الشكوى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تقديم شكوى ومتابعة تحديثاتها المعلَنة</a:t>
            </a:r>
            <a:endParaRPr lang="en-US" sz="1380" dirty="0"/>
          </a:p>
        </p:txBody>
      </p:sp>
      <p:sp>
        <p:nvSpPr>
          <p:cNvPr id="21" name="Shape 19"/>
          <p:cNvSpPr/>
          <p:nvPr/>
        </p:nvSpPr>
        <p:spPr>
          <a:xfrm>
            <a:off x="594360" y="3190799"/>
            <a:ext cx="5358384" cy="2628900"/>
          </a:xfrm>
          <a:prstGeom prst="roundRect">
            <a:avLst>
              <a:gd name="adj" fmla="val 2435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blurRad="177800" dist="38100" dir="5400000" algn="bl" rotWithShape="0">
              <a:srgbClr val="0A1829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95528" y="3359048"/>
            <a:ext cx="495604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0243D"/>
                </a:solidFill>
                <a:latin typeface="Dubai Medium" pitchFamily="34" charset="0"/>
                <a:ea typeface="Dubai Medium" pitchFamily="34" charset="-122"/>
                <a:cs typeface="Dubai Medium" pitchFamily="34" charset="-120"/>
              </a:rPr>
              <a:t>وما صار يُعرف عن الطلب الوارد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95528" y="3821735"/>
            <a:ext cx="4956048" cy="1850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هويته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نوع الطلب، ومصدره، ووقت وروده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موضوعه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الجهاز المقصود، والغرض من الطلب من قائمة مُدارة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أدلّته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المرفقات والصور التي أرسلها العميل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مساره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حالته، ومن استلمه، وإلى أي مهمةٍ تحوّل</a:t>
            </a:r>
            <a:endParaRPr lang="en-US" sz="1380" dirty="0"/>
          </a:p>
          <a:p>
            <a:pPr marL="0" indent="0" algn="r" rtl="1">
              <a:lnSpc>
                <a:spcPts val="2300"/>
              </a:lnSpc>
              <a:spcAft>
                <a:spcPts val="500"/>
              </a:spcAft>
              <a:buNone/>
            </a:pPr>
            <a:r>
              <a:rPr lang="en-US" sz="1380" b="1" dirty="0">
                <a:solidFill>
                  <a:srgbClr val="10243D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وربطه  </a:t>
            </a:r>
            <a:r>
              <a:rPr lang="en-US" sz="1380" dirty="0">
                <a:solidFill>
                  <a:srgbClr val="54657A"/>
                </a:solidFill>
                <a:latin typeface="Dubai" pitchFamily="34" charset="0"/>
                <a:ea typeface="Dubai" pitchFamily="34" charset="-122"/>
                <a:cs typeface="Dubai" pitchFamily="34" charset="-120"/>
              </a:rPr>
              <a:t>مرتبطٌ بسجل العميل وبفرعه، لا رسالةً منفصلة</a:t>
            </a:r>
            <a:endParaRPr lang="en-US" sz="13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3466</Words>
  <Application>Microsoft Office PowerPoint</Application>
  <PresentationFormat>Widescreen</PresentationFormat>
  <Paragraphs>351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Dubai</vt:lpstr>
      <vt:lpstr>Dubai Light</vt:lpstr>
      <vt:lpstr>Dubai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Obaid World</cp:lastModifiedBy>
  <cp:revision>4</cp:revision>
  <dcterms:created xsi:type="dcterms:W3CDTF">2026-08-20T07:05:45Z</dcterms:created>
  <dcterms:modified xsi:type="dcterms:W3CDTF">2026-08-20T07:32:36Z</dcterms:modified>
</cp:coreProperties>
</file>