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1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البنية القائمة</c:v>
                </c:pt>
              </c:strCache>
            </c:strRef>
          </c:tx>
          <c:spPr>
            <a:solidFill>
              <a:srgbClr val="A06C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4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المؤشرات والتقارير</c:v>
                  </c:pt>
                  <c:pt idx="1">
                    <c:v>العناصر المرئية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البنية الجديدة</c:v>
                </c:pt>
              </c:strCache>
            </c:strRef>
          </c:tx>
          <c:spPr>
            <a:solidFill>
              <a:srgbClr val="1C6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4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المؤشرات والتقارير</c:v>
                  </c:pt>
                  <c:pt idx="1">
                    <c:v>العناصر المرئية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75</c:v>
                </c:pt>
                <c:pt idx="1">
                  <c:v>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024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5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465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4657A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قواعد الاجتماع: كل عقبة تُعرض على الشاشة تُغلق على الشاشة. المسؤولية تُنسب إلى الأدوات لا إلى الأشخاص. لا شكوى مفتوحة أمام الزبون.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عرض المحتويات يعطي الاجتماع وزنه ويطمئن الحضور إلى أن الاستثناءات ستُعرض ولن تُخفى.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تُسرع في هذا القسم. الاقتناع بالتشخيص هو شرط قبول كل ما يليه.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ابدأ بالمنهجية لا بالنتيجة. الحضور يقبل الحكم بعد أن يقبل طريقة الوصول إليه.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الشريحة تحمي العرض كله. مالك النظام القائم في القاعة، والإنصاف هو ما يجعله يستمع بدل أن يدافع.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اقرأ الأثر التشغيلي لا الوصف التقني. كل بند هنا مُثبت بصرياً في تقرير المعاينة.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البند الأخير يحتاج تحقّقاً من التعريفات قبل الاجتماع. إن كان الفارق تعريفياً فاحذف السطر بالكامل.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اعرض الصورة المموّهة، واصمت عشر ثوان، ثم اقرأ السطر الأخير ببطء. لا تُضف بعده شيئاً.
تحذير: لا تُعرض أي صورة قبل تمويه أسماء العملاء وأرقام هواتفهم.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الترتيب الثلاثي: لا شيء كان يمنع الكتابة في خانة الغير، ولا شيء يسجّل من كتب، ولا شيء يكتشف ذلك.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تعرض عدد ملفات لا تملك إسناده. اعرض المعادلة، والحضور يُقدّرون الحجم بأنفسهم.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الشريحة تصوغ المشكلة بلغة الإدارة لا بلغة التقنية — وهي مفتاح إقناع الزبون الإداري.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يُذكر استيعاب الجهد مرة واحدة فقط، ثم يُنتقل فوراً. التكرار يُقرأ استجداءً للتعاطف ويُضعف موقف الاعتماد.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من هنا يبدأ إثبات حجم العمل. لا تشرح التقنية — اشرح ما أصبح ممكناً ولم يكن.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تُعرض هذه الأرقام افتخاراً، بل جواباً على سؤالٍ واحد: لماذا استغرق العمل ثمانية أشهر.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اربط هذه الشريحة بالتقارير: جودة التقرير تبدأ من باب الإدخال، لا من شاشة التقرير.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أول مرة يكون لمسار المبيعات مؤشرات. الرقم 167,126 من نظامهم هم، فذكره أقوى من أي وصف.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الصياغة المسندة: «مبتورة» لا «متوقفة». نظامهم فيه 20,948 طلباً و13,780 مقابلة، فوصف التوقف يُدحض بالأرقام.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الطبقة لا يلمسها الزبون الإداري، فاربطها بلغته فوراً: هي مصنع البيانات الذي يجعل التقرير صادقاً.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في الملفات كان الموعد يُكتب في عمود ثم يُنقل يدوياً إلى ملف آخر. هنا موضع ذكر الإدخال المزدوج.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مهمة عرض الجهاز لم يكن لها وجود في أي موضع سابق: كانت تحدث في الواقع ولا تترك أثراً. أوضح مثالٍ على الانتظام الإداري.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الفصل هو ما جعل الصيانة الدورية والطارئة قابلتين للإدارة أصلاً. اذكره كشرطٍ لما يليه.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الشريحة تُظهر العمق. الجهاز في البنية القديمة كان سطراً في عقد؛ وأصبح كياناً له تاريخ كامل.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أقوى مقارنة تفصيلية في العرض، لأنها مرئية في صورة الملف ومسندة في بنية النظام معاً.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المنظومة المالية كانت في الملفات عمودين: مبلغ مدفوع وحسم محاسبة. هنا أصبحت 11 جدولاً مترابطاً.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البيانات لم تكن ناقصة في البنية القائمة، بل كانت غير موثوقة لأنها تُولد في خلايا حرة. هنا وُلدت منظّمة.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نطاق الشكاوى لم يكن موجوداً بأي شكل. أربعة عشر جدولاً لنطاق واحد مؤشر واضح على حجم العمل.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الشريحة تُظهر الاتساع لا العمق. المقصود أن يرى الحضور أن العمل غطّى نطاقات لم تكن مطروحة أصلاً.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أحد بنود الاتفاق الأصلي، وقد سُلّم. اذكره بهدوء ضمن سياق الإنجاز لا كردٍّ على مطلب.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عنصر «المستخدمين» في البنية القائمة كان معطّلاً بلا رابط. تُذكر كواقعة، دون تعليق.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أقوى شريحة في مواجهة تبدّل الأولويات: النظام لم يحفظ البيانات فقط، بل حفظ السياسة التي تُدار بها.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الشريحة هي دليل فائض الجهد. تُعرض كإنجازٍ زائد عن النطاق، لا كاستجابةٍ لمطلب.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الانتقال إلى هذا القسم يجب أن يكون واضحاً ومقصوداً — فهو ما يُطلب من الاجتماع.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أهم شريحة في الاجتماع. البند المؤجَّل الذي يُكتشف بعد الاعتماد يُبطل الاعتماد والثقة؛ والمعلَن منّا دليل انضباط.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البروتوكول لا يكلّف الزبون شيئاً، ولذلك يصعب رفضه بعد سماع التشخيص. اختم على اللقطة الصامتة ثم انتظر الجواب.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spc="200" kern="0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CRM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94360" y="187452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نظام تسجيل إلى منظومة تشغيل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94360" y="3063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dirty="0">
                <a:solidFill>
                  <a:srgbClr val="C8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تقرير تسليم المرحلة الأولى واعتمادها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3886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A9B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ثمانية أشهر من العمل المتواصل · آب 2026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512064"/>
            <a:ext cx="548640" cy="548640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18520" y="512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195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1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محتويات العرض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8092440" y="160020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311896" y="1746504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أولاً · التشخيص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311896" y="2185416"/>
            <a:ext cx="303580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 المعاينة ومنهجيتها.</a:t>
            </a:r>
            <a:endParaRPr lang="en-US" sz="1450" dirty="0"/>
          </a:p>
          <a:p>
            <a:pPr rtl="1" algn="r" indent="0" marL="0">
              <a:lnSpc>
                <a:spcPts val="2150"/>
              </a:lnSpc>
              <a:buNone/>
            </a:pPr>
            <a:endParaRPr lang="en-US" sz="1450" dirty="0"/>
          </a:p>
          <a:p>
            <a:pPr rtl="1" algn="r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كانت البنية القائمة تؤدّيه فعلاً.</a:t>
            </a:r>
            <a:endParaRPr lang="en-US" sz="1450" dirty="0"/>
          </a:p>
          <a:p>
            <a:pPr rtl="1" algn="r" indent="0" marL="0">
              <a:lnSpc>
                <a:spcPts val="2150"/>
              </a:lnSpc>
              <a:buNone/>
            </a:pPr>
            <a:endParaRPr lang="en-US" sz="1450" dirty="0"/>
          </a:p>
          <a:p>
            <a:pPr rtl="1" algn="r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الفجوات المُثبتة فيها.</a:t>
            </a:r>
            <a:endParaRPr lang="en-US" sz="1450" dirty="0"/>
          </a:p>
          <a:p>
            <a:pPr rtl="1" algn="r" indent="0" marL="0">
              <a:lnSpc>
                <a:spcPts val="2150"/>
              </a:lnSpc>
              <a:buNone/>
            </a:pPr>
            <a:endParaRPr lang="en-US" sz="1450" dirty="0"/>
          </a:p>
          <a:p>
            <a:pPr rtl="1" algn="r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الطبقة التشغيلية الموازية.</a:t>
            </a:r>
            <a:endParaRPr lang="en-US" sz="1450" dirty="0"/>
          </a:p>
          <a:p>
            <a:pPr rtl="1" algn="r" indent="0" marL="0">
              <a:lnSpc>
                <a:spcPts val="2150"/>
              </a:lnSpc>
              <a:buNone/>
            </a:pPr>
            <a:endParaRPr lang="en-US" sz="1450" dirty="0"/>
          </a:p>
          <a:p>
            <a:pPr rtl="1" algn="r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 إعادة التأسيس.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62856" y="1746504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ثانياً · ما بُني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62856" y="2185416"/>
            <a:ext cx="303580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حجم الإنجاز الإجمالي.</a:t>
            </a:r>
            <a:endParaRPr lang="en-US" sz="1450" dirty="0"/>
          </a:p>
          <a:p>
            <a:pPr rtl="1" algn="r" indent="0" marL="0">
              <a:lnSpc>
                <a:spcPts val="2150"/>
              </a:lnSpc>
              <a:buNone/>
            </a:pPr>
            <a:endParaRPr lang="en-US" sz="1450" dirty="0"/>
          </a:p>
          <a:p>
            <a:pPr rtl="1" algn="r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ضبط بيانات العملاء والأسماء المقترحة.</a:t>
            </a:r>
            <a:endParaRPr lang="en-US" sz="1450" dirty="0"/>
          </a:p>
          <a:p>
            <a:pPr rtl="1" algn="r" indent="0" marL="0">
              <a:lnSpc>
                <a:spcPts val="2150"/>
              </a:lnSpc>
              <a:buNone/>
            </a:pPr>
            <a:endParaRPr lang="en-US" sz="1450" dirty="0"/>
          </a:p>
          <a:p>
            <a:pPr rtl="1" algn="r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الموظفون وإدارة التوظيف.</a:t>
            </a:r>
            <a:endParaRPr lang="en-US" sz="1450" dirty="0"/>
          </a:p>
          <a:p>
            <a:pPr rtl="1" algn="r" indent="0" marL="0">
              <a:lnSpc>
                <a:spcPts val="2150"/>
              </a:lnSpc>
              <a:buNone/>
            </a:pPr>
            <a:endParaRPr lang="en-US" sz="1450" dirty="0"/>
          </a:p>
          <a:p>
            <a:pPr rtl="1" algn="r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عمل الفرع والزيارات والمهام.</a:t>
            </a:r>
            <a:endParaRPr lang="en-US" sz="1450" dirty="0"/>
          </a:p>
          <a:p>
            <a:pPr rtl="1" algn="r" indent="0" marL="0">
              <a:lnSpc>
                <a:spcPts val="2150"/>
              </a:lnSpc>
              <a:buNone/>
            </a:pPr>
            <a:endParaRPr lang="en-US" sz="1450" dirty="0"/>
          </a:p>
          <a:p>
            <a:pPr rtl="1" algn="r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العقود والأجهزة والصيانة والمنظومة المالية.</a:t>
            </a:r>
            <a:endParaRPr lang="en-US" sz="1450" dirty="0"/>
          </a:p>
          <a:p>
            <a:pPr rtl="1" algn="r" indent="0" marL="0">
              <a:lnSpc>
                <a:spcPts val="2150"/>
              </a:lnSpc>
              <a:buNone/>
            </a:pPr>
            <a:endParaRPr lang="en-US" sz="1450" dirty="0"/>
          </a:p>
          <a:p>
            <a:pPr rtl="1" algn="r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التقارير والشكاوى والتطبيق والصلاحيات.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4360" y="160020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3816" y="1746504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ثالثاً · النطاق والاعتماد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3816" y="2185416"/>
            <a:ext cx="303580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أعمال أُنجزت سبقاً لنطاق المرحلة.</a:t>
            </a:r>
            <a:endParaRPr lang="en-US" sz="1450" dirty="0"/>
          </a:p>
          <a:p>
            <a:pPr rtl="1" algn="r" indent="0" marL="0">
              <a:lnSpc>
                <a:spcPts val="2150"/>
              </a:lnSpc>
              <a:buNone/>
            </a:pPr>
            <a:endParaRPr lang="en-US" sz="1450" dirty="0"/>
          </a:p>
          <a:p>
            <a:pPr rtl="1" algn="r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هو خارج نطاق هذه المرحلة.</a:t>
            </a:r>
            <a:endParaRPr lang="en-US" sz="1450" dirty="0"/>
          </a:p>
          <a:p>
            <a:pPr rtl="1" algn="r" indent="0" marL="0">
              <a:lnSpc>
                <a:spcPts val="2150"/>
              </a:lnSpc>
              <a:buNone/>
            </a:pPr>
            <a:endParaRPr lang="en-US" sz="1450" dirty="0"/>
          </a:p>
          <a:p>
            <a:pPr rtl="1" algn="r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 الاعتماد المطلوب.</a:t>
            </a:r>
            <a:endParaRPr lang="en-US" sz="1450" dirty="0"/>
          </a:p>
          <a:p>
            <a:pPr rtl="1" algn="r" indent="0" marL="0">
              <a:lnSpc>
                <a:spcPts val="2150"/>
              </a:lnSpc>
              <a:buNone/>
            </a:pPr>
            <a:endParaRPr lang="en-US" sz="1450" dirty="0"/>
          </a:p>
          <a:p>
            <a:pPr rtl="1" algn="r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بروتوكول المرحلة القادمة.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1031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spc="100" kern="0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القسم الأول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94360" y="26060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تشخيص البنية القائمة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94360" y="3749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B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وجدناه عند المباشرة، وما استوجب إعادة النظر في المنهج بالكامل.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512064"/>
            <a:ext cx="548640" cy="548640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18520" y="512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195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1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 المعاينة ومنهجيتها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9029700" y="1508760"/>
            <a:ext cx="2537460" cy="1554480"/>
          </a:xfrm>
          <a:prstGeom prst="roundRect">
            <a:avLst>
              <a:gd name="adj" fmla="val 4706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57716" y="1655064"/>
            <a:ext cx="22814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57716" y="2350008"/>
            <a:ext cx="22814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عنصراً في قوائم النظام القائم، حُصرت كاملة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2537460" cy="1554480"/>
          </a:xfrm>
          <a:prstGeom prst="roundRect">
            <a:avLst>
              <a:gd name="adj" fmla="val 4706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45936" y="1655064"/>
            <a:ext cx="22814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345936" y="2350008"/>
            <a:ext cx="22814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صفحة فُتحت وعُوينت فعلياً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06140" y="1508760"/>
            <a:ext cx="2537460" cy="1554480"/>
          </a:xfrm>
          <a:prstGeom prst="roundRect">
            <a:avLst>
              <a:gd name="adj" fmla="val 4706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34156" y="1655064"/>
            <a:ext cx="22814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534156" y="2350008"/>
            <a:ext cx="22814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عموداً في تبويب واحد من الملفات التشغيلية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1508760"/>
            <a:ext cx="2537460" cy="1554480"/>
          </a:xfrm>
          <a:prstGeom prst="roundRect">
            <a:avLst>
              <a:gd name="adj" fmla="val 4706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2376" y="1655064"/>
            <a:ext cx="22814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22376" y="2350008"/>
            <a:ext cx="22814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جدولاً في البنية الجديدة، جُردت من الكود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333756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72984" y="33375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منهجية التشخيص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13816" y="3337560"/>
            <a:ext cx="6839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معاينة للقراءة فقط، دون تعديل أي سجل، ودون نسخ أي بيانات شخصية للعملاء أو الموظفين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94360" y="434340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872984" y="43434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مصادر الاستدلال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13816" y="4343400"/>
            <a:ext cx="6839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النظام القائم، والملفات التشغيلية الموازية، وجرد آلي كامل لبنية النظام الجديد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512064"/>
            <a:ext cx="548640" cy="548640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18520" y="512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195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1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كانت البنية القائمة تؤدّيه فعلاً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8092440" y="150876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0456" y="1655064"/>
            <a:ext cx="3218688" cy="709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0456" y="2400808"/>
            <a:ext cx="3218688" cy="53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صفحة عاملة ببيانات حقيقية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50876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71416" y="1655064"/>
            <a:ext cx="3218688" cy="709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471416" y="2400808"/>
            <a:ext cx="3218688" cy="53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تقريراً موزّعاً على ستة تصنيفات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150876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2376" y="1655064"/>
            <a:ext cx="3218688" cy="709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22376" y="2400808"/>
            <a:ext cx="3218688" cy="53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قائمة مرجعية منظّمة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291840"/>
            <a:ext cx="10972800" cy="1920240"/>
          </a:xfrm>
          <a:prstGeom prst="roundRect">
            <a:avLst>
              <a:gd name="adj" fmla="val 3810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3291840"/>
            <a:ext cx="10332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وإلى جانب ذلك: محرّر صلاحيات على مستوى العملية، وحقول إسناد للمشرفة والفني والمندوب، وستة فروع عاملة.</a:t>
            </a:r>
            <a:endParaRPr lang="en-US" sz="1800" dirty="0"/>
          </a:p>
          <a:p>
            <a:pPr rtl="1" algn="r" indent="0" marL="0">
              <a:lnSpc>
                <a:spcPts val="3200"/>
              </a:lnSpc>
              <a:buNone/>
            </a:pPr>
            <a:endParaRPr lang="en-US" sz="1800" dirty="0"/>
          </a:p>
          <a:p>
            <a:pPr rtl="1" algn="r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البنية القائمة لم تكن قاصرة عمّا أُنشئت له. كانت منظومة تسجيلٍ مُتقنة — لكنها لم تكن منظومة تشغيل.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512064"/>
            <a:ext cx="548640" cy="548640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18520" y="512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195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1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الفجوات المُثبتة في البنية القائمة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0" cy="841248"/>
          </a:xfrm>
          <a:prstGeom prst="roundRect">
            <a:avLst>
              <a:gd name="adj" fmla="val 8696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72984" y="1463040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انعدام سجل التعديلات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13816" y="1463040"/>
            <a:ext cx="68397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يوجد على أي كيان سجلٌ يُبيّن من عدّل ومتى وما الذي تغيّر — فلا مساءلة ولا تتبّع للنزاع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2441448"/>
            <a:ext cx="10972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872984" y="2441448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غياب حالات سير العمل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13816" y="2441448"/>
            <a:ext cx="68397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حالة موحّدة للسجل عبر النظام؛ الغالب تبديل ثنائي بين فعّال وغير فعّال، وحقول نتيجة متفرّقة لكل نموذج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419856"/>
            <a:ext cx="10972800" cy="841248"/>
          </a:xfrm>
          <a:prstGeom prst="roundRect">
            <a:avLst>
              <a:gd name="adj" fmla="val 8696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72984" y="3419856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انعدام التنبيهات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13816" y="3419856"/>
            <a:ext cx="68397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إشعار ولا تذكير في أي صفحة من الصفحات الثلاثين — فالمتابعة تعتمد على الذاكرة البشرية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4398264"/>
            <a:ext cx="10972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72984" y="4398264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غياب العرض المرئي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13816" y="4398264"/>
            <a:ext cx="68397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خمسة وأربعون تقريراً، كلها جداول أرقام نصية، دون رسمٍ بيانيٍّ واحد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5376672"/>
            <a:ext cx="10972800" cy="841248"/>
          </a:xfrm>
          <a:prstGeom prst="roundRect">
            <a:avLst>
              <a:gd name="adj" fmla="val 8696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72984" y="5376672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انعدام التقويم والتصدير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13816" y="5376672"/>
            <a:ext cx="68397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الجدولة حقول تاريخ داخل نماذج، ولا تقويم مرئي، ولا تصدير أو طباعة من القوائم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512064"/>
            <a:ext cx="548640" cy="548640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18520" y="512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195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1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وفجوات في صحة البيانات نفسها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72984" y="14630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المستخدمين معطّلة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13816" y="1463040"/>
            <a:ext cx="6839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عنصر «المستخدمين» يظهر في القائمة دون أي رابط، ولا يؤدّي إلى أي صفحة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251460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872984" y="2514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شاشة تعرض نتيجة مخالفة لبياناتها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13816" y="2514600"/>
            <a:ext cx="6839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شاشة «طالبي وظائف» تعرض صفر نتيجة مع إعلانها عن 20,521 مدخلاً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56616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72984" y="35661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إدخال مزدوج مُثبت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13816" y="3566160"/>
            <a:ext cx="6839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رقم الهاتف يُحفظ مرتين في صفحة العميل نفسها، في موضعين بأزرار منفصلة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461772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72984" y="4617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تعارض في الأرقام المعروضة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13816" y="4617720"/>
            <a:ext cx="6839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النظام تعلن 26,272 عميلاً، وشاشة العملاء تعلن 20,914 — والتقريران من المصدر نفسه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539496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86968" y="5394960"/>
            <a:ext cx="10387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وهذه الفجوات تمسّ صحة القرار الإداري، لا شكل الواجهة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512064"/>
            <a:ext cx="548640" cy="548640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3" name="Text 1"/>
          <p:cNvSpPr/>
          <p:nvPr/>
        </p:nvSpPr>
        <p:spPr>
          <a:xfrm>
            <a:off x="11018520" y="512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195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الطبقة التشغيلية الموازية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9944" y="1417320"/>
            <a:ext cx="5157216" cy="3154680"/>
          </a:xfrm>
          <a:prstGeom prst="roundRect">
            <a:avLst>
              <a:gd name="adj" fmla="val 2319"/>
            </a:avLst>
          </a:prstGeom>
          <a:solidFill>
            <a:srgbClr val="0A1829"/>
          </a:solidFill>
          <a:ln w="12700">
            <a:solidFill>
              <a:srgbClr val="1C6E8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592824" y="1417320"/>
            <a:ext cx="4791456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مساحة اللقطة الصامتة</a:t>
            </a:r>
            <a:endParaRPr lang="en-US" sz="1400" dirty="0"/>
          </a:p>
          <a:p>
            <a:pPr rtl="1"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المشهد 3 — الكوخ الخلفي</a:t>
            </a:r>
            <a:endParaRPr lang="en-US" sz="1400" dirty="0"/>
          </a:p>
          <a:p>
            <a:pPr rtl="1"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ثوان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5157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العمل الفعلي لم يكن يجري داخل النظام، بل في ملفات جداول بيانية خارجه: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515721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عموداً في تبويب واحد، ونحو عشرة تبويبات في الملف الواحد</a:t>
            </a:r>
            <a:endParaRPr lang="en-US" sz="1450" dirty="0"/>
          </a:p>
          <a:p>
            <a:pPr rtl="1" algn="r" indent="0" marL="0">
              <a:lnSpc>
                <a:spcPts val="2600"/>
              </a:lnSpc>
              <a:buNone/>
            </a:pPr>
            <a:endParaRPr lang="en-US" sz="1450" dirty="0"/>
          </a:p>
          <a:p>
            <a:pPr rtl="1" algn="r"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استقبال الطلب · التوجيه الميداني · الجدولة · التنفيذ · القطع المستخدمة</a:t>
            </a:r>
            <a:endParaRPr lang="en-US" sz="1450" dirty="0"/>
          </a:p>
          <a:p>
            <a:pPr rtl="1" algn="r" indent="0" marL="0">
              <a:lnSpc>
                <a:spcPts val="2600"/>
              </a:lnSpc>
              <a:buNone/>
            </a:pPr>
            <a:endParaRPr lang="en-US" sz="1450" dirty="0"/>
          </a:p>
          <a:p>
            <a:pPr rtl="1" algn="r"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عمولة الفني · حسم المحاسبة · ثلاث طبقات تقييم متعاقبة</a:t>
            </a:r>
            <a:endParaRPr lang="en-US" sz="1450" dirty="0"/>
          </a:p>
          <a:p>
            <a:pPr rtl="1" algn="r" indent="0" marL="0">
              <a:lnSpc>
                <a:spcPts val="2600"/>
              </a:lnSpc>
              <a:buNone/>
            </a:pPr>
            <a:endParaRPr lang="en-US" sz="1450" dirty="0"/>
          </a:p>
          <a:p>
            <a:pPr rtl="1" algn="r"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وخانة مخصّصة: ملاحظات الإدارة في حال تأخير التنفيذ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94360" y="4800600"/>
            <a:ext cx="10972800" cy="1005840"/>
          </a:xfrm>
          <a:prstGeom prst="roundRect">
            <a:avLst>
              <a:gd name="adj" fmla="val 7273"/>
            </a:avLst>
          </a:prstGeom>
          <a:solidFill>
            <a:srgbClr val="0A1829"/>
          </a:solidFill>
          <a:ln w="12700">
            <a:solidFill>
              <a:srgbClr val="0A1829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968" y="4800600"/>
            <a:ext cx="10387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5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وهذا ملفٌ واحد، لفرعٍ واحد، لشهرٍ واحد، ولدورٍ واحد</a:t>
            </a:r>
            <a:endParaRPr lang="en-US" sz="2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512064"/>
            <a:ext cx="548640" cy="548640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18520" y="512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195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1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وتوزيع المسؤوليات كان سطراً في رأس الجدول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217920" y="146304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37376" y="1609344"/>
            <a:ext cx="4910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القائم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37376" y="2048256"/>
            <a:ext cx="49103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السطر الأول فوق رؤوس الأعمدة كان يحمل اسم المسؤول عن تعبئة كل عمود: تلماركتر، مدير الفرع أو من ينوب عنه، المسؤول الفني.</a:t>
            </a:r>
            <a:endParaRPr lang="en-US" sz="1400" dirty="0"/>
          </a:p>
          <a:p>
            <a:pPr rtl="1" algn="r" indent="0" marL="0">
              <a:lnSpc>
                <a:spcPts val="2100"/>
              </a:lnSpc>
              <a:buNone/>
            </a:pPr>
            <a:endParaRPr lang="en-US" sz="1400" dirty="0"/>
          </a:p>
          <a:p>
            <a:pPr rtl="1" algn="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 أن الصلاحية كانت تعليمةً مكتوبةً يقرأها الموظف، ولا شيء يُلزمه بها.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13816" y="1609344"/>
            <a:ext cx="4910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بعد التأسيس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13816" y="2048256"/>
            <a:ext cx="49103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272 مفتاح صلاحية مُنفَّذاً في الطبقة الخلفية، يُفحص قبل تنفيذ كل عملية.</a:t>
            </a:r>
            <a:endParaRPr lang="en-US" sz="1400" dirty="0"/>
          </a:p>
          <a:p>
            <a:pPr rtl="1" algn="r" indent="0" marL="0">
              <a:lnSpc>
                <a:spcPts val="2100"/>
              </a:lnSpc>
              <a:buNone/>
            </a:pPr>
            <a:endParaRPr lang="en-US" sz="1400" dirty="0"/>
          </a:p>
          <a:p>
            <a:pPr rtl="1" algn="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ولكل كتابةٍ صاحبٌ مسجَّل، ولكل دورٍ حدودٌ لا يتجاوزها.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4160520"/>
            <a:ext cx="10972800" cy="1005840"/>
          </a:xfrm>
          <a:prstGeom prst="roundRect">
            <a:avLst>
              <a:gd name="adj" fmla="val 7273"/>
            </a:avLst>
          </a:prstGeom>
          <a:solidFill>
            <a:srgbClr val="10243D"/>
          </a:solidFill>
          <a:ln w="12700">
            <a:solidFill>
              <a:srgbClr val="10243D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6968" y="4160520"/>
            <a:ext cx="10387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سطرٍ نصّي في رأس جدول — إلى 272 قاعدة تُطبَّق قبل كل عملية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512064"/>
            <a:ext cx="548640" cy="548640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18520" y="512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195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1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وتضاعف الملفات على ثلاثة محاور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8092440" y="146304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0456" y="1609344"/>
            <a:ext cx="3218688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الفرع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0456" y="2151888"/>
            <a:ext cx="3218688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 مستقل لكل فرع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71416" y="1609344"/>
            <a:ext cx="3218688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الشهر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471416" y="2151888"/>
            <a:ext cx="3218688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 جديد في كل شهر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146304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2376" y="1609344"/>
            <a:ext cx="3218688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الدور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22376" y="2151888"/>
            <a:ext cx="3218688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ملفات للمشرفة، وللفني، وللتيلماركتر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297180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72984" y="2971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تعدّد نسخ المعلومة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13816" y="2971800"/>
            <a:ext cx="6839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الزيارة الواحدة كانت موجودة في أكثر من ملف، بعدد الأدوار التي تتعامل معها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388620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72984" y="38862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المطابقة اليدوية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13816" y="3886200"/>
            <a:ext cx="6839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التوفيق بين النسخ كان عملاً بشرياً، وكل تعارض بين نسختين يُحسم بالنقاش لا بمرجع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94360" y="480060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872984" y="48006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تقطّع تاريخ العميل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13816" y="4800600"/>
            <a:ext cx="6839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يوجد تاريخ متّصل لعميلٍ واحد، ولا مقارنة بين شهرين، ولا رؤية لفرعين معاً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512064"/>
            <a:ext cx="548640" cy="548640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18520" y="512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195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1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وأثر ذلك على القرار الإداري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94360" y="1554480"/>
            <a:ext cx="10972800" cy="1371600"/>
          </a:xfrm>
          <a:prstGeom prst="roundRect">
            <a:avLst>
              <a:gd name="adj" fmla="val 5333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55448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الصورة الكاملة للعمل لم تكن موجودة في أي موضع. كانت مجموع ملفاتٍ لا يستطيع أحدٌ جمعها.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94360" y="315468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72984" y="31546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 مستوى الميدان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13816" y="3154680"/>
            <a:ext cx="6839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الفني والمشرفة يعملان على ما في ملفهما، لا على ما في النظام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406908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72984" y="40690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 مستوى الفرع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13816" y="4069080"/>
            <a:ext cx="6839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مدير الفرع يقرّر بناءً على الملف المفتوح أمامه، لا على الحقيقة الكاملة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498348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72984" y="49834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 مستوى الإدارة المركزية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13816" y="4983480"/>
            <a:ext cx="6839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التقرير يُبنى على بيانات وُلدت في خلايا نصية حرة، فتتعذّر الثقة بنتيجته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512064"/>
            <a:ext cx="548640" cy="548640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3" name="Text 1"/>
          <p:cNvSpPr/>
          <p:nvPr/>
        </p:nvSpPr>
        <p:spPr>
          <a:xfrm>
            <a:off x="11018520" y="512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195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 إعادة التأسيس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9944" y="1417320"/>
            <a:ext cx="5157216" cy="3200400"/>
          </a:xfrm>
          <a:prstGeom prst="roundRect">
            <a:avLst>
              <a:gd name="adj" fmla="val 2286"/>
            </a:avLst>
          </a:prstGeom>
          <a:solidFill>
            <a:srgbClr val="0A1829"/>
          </a:solidFill>
          <a:ln w="12700">
            <a:solidFill>
              <a:srgbClr val="1C6E8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592824" y="1417320"/>
            <a:ext cx="479145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مساحة اللقطة الصامتة</a:t>
            </a:r>
            <a:endParaRPr lang="en-US" sz="1400" dirty="0"/>
          </a:p>
          <a:p>
            <a:pPr rtl="1"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المشهد 7 — التوقف</a:t>
            </a:r>
            <a:endParaRPr lang="en-US" sz="1400" dirty="0"/>
          </a:p>
          <a:p>
            <a:pPr rtl="1"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ثوان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5157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8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كان العمل قد بدأ فعلياً بتطبيق العملاء، فأوقفناه.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515721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en-US" sz="1550" dirty="0">
                <a:solidFill>
                  <a:srgbClr val="C8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 إن أي إضافةٍ على تلك البنية كانت ستزيد الاختلال لا القدرة. فاخترنا إعادة التأسيس على فهمٍ صحيح لواقع العمل، واستوعبنا فارق الجهد داخلياً دون إيقاف المشروع ودون إعادة التفاوض.</a:t>
            </a:r>
            <a:endParaRPr lang="en-US" sz="1550" dirty="0"/>
          </a:p>
          <a:p>
            <a:pPr rtl="1" algn="r" indent="0" marL="0">
              <a:lnSpc>
                <a:spcPts val="2700"/>
              </a:lnSpc>
              <a:buNone/>
            </a:pPr>
            <a:endParaRPr lang="en-US" sz="1550" dirty="0"/>
          </a:p>
          <a:p>
            <a:pPr rtl="1" algn="r" indent="0" marL="0">
              <a:lnSpc>
                <a:spcPts val="2700"/>
              </a:lnSpc>
              <a:buNone/>
            </a:pPr>
            <a:r>
              <a:rPr lang="en-US" sz="1550" dirty="0">
                <a:solidFill>
                  <a:srgbClr val="C8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وهو أصعب قرارٍ اتُّخذ في المشروع كله.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94360" y="489204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0A1829"/>
          </a:solidFill>
          <a:ln w="12700">
            <a:solidFill>
              <a:srgbClr val="0A1829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968" y="4892040"/>
            <a:ext cx="10387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دون مطالبةٍ بتكلفةٍ إضافية، ودون تمديدٍ للمدة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1031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spc="100" kern="0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القسم الثاني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94360" y="26060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بُني — بنية النظام الجديد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94360" y="3749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B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ثمانية أشهر من العمل، موزّعة على منظومات مترابطة لا على ميزات متجاورة.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512064"/>
            <a:ext cx="548640" cy="548640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18520" y="512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195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1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حجم الإنجاز الإجمالي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9029700" y="1417320"/>
            <a:ext cx="2537460" cy="1463040"/>
          </a:xfrm>
          <a:prstGeom prst="roundRect">
            <a:avLst>
              <a:gd name="adj" fmla="val 5000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57716" y="1563624"/>
            <a:ext cx="2281428" cy="556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216,417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57716" y="2156968"/>
            <a:ext cx="2281428" cy="59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سطراً برمجياً في 770 ملفاً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2537460" cy="1463040"/>
          </a:xfrm>
          <a:prstGeom prst="roundRect">
            <a:avLst>
              <a:gd name="adj" fmla="val 5000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45936" y="1563624"/>
            <a:ext cx="2281428" cy="632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345936" y="2233168"/>
            <a:ext cx="2281428" cy="519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جدولاً مترابطاً في قاعدة البيانات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06140" y="1417320"/>
            <a:ext cx="2537460" cy="1463040"/>
          </a:xfrm>
          <a:prstGeom prst="roundRect">
            <a:avLst>
              <a:gd name="adj" fmla="val 5000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34156" y="1563624"/>
            <a:ext cx="2281428" cy="632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534156" y="2233168"/>
            <a:ext cx="2281428" cy="519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شاشة في واجهة النظام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1417320"/>
            <a:ext cx="2537460" cy="1463040"/>
          </a:xfrm>
          <a:prstGeom prst="roundRect">
            <a:avLst>
              <a:gd name="adj" fmla="val 5000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2376" y="1563624"/>
            <a:ext cx="2281428" cy="632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22376" y="2233168"/>
            <a:ext cx="2281428" cy="519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مفتاح صلاحية مُنفَّذاً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29700" y="3063240"/>
            <a:ext cx="2537460" cy="1463040"/>
          </a:xfrm>
          <a:prstGeom prst="roundRect">
            <a:avLst>
              <a:gd name="adj" fmla="val 5000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57716" y="3209544"/>
            <a:ext cx="2281428" cy="632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157716" y="3879088"/>
            <a:ext cx="2281428" cy="519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 مسار في الخدمة الخلفية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3063240"/>
            <a:ext cx="2537460" cy="1463040"/>
          </a:xfrm>
          <a:prstGeom prst="roundRect">
            <a:avLst>
              <a:gd name="adj" fmla="val 5000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45936" y="3209544"/>
            <a:ext cx="2281428" cy="632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446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345936" y="3879088"/>
            <a:ext cx="2281428" cy="519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 ترحيل لقاعدة البيانات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06140" y="3063240"/>
            <a:ext cx="2537460" cy="1463040"/>
          </a:xfrm>
          <a:prstGeom prst="roundRect">
            <a:avLst>
              <a:gd name="adj" fmla="val 5000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534156" y="3209544"/>
            <a:ext cx="2281428" cy="632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3534156" y="3879088"/>
            <a:ext cx="2281428" cy="519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وثيقة مرجعية معتمدة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" y="3063240"/>
            <a:ext cx="2537460" cy="1463040"/>
          </a:xfrm>
          <a:prstGeom prst="roundRect">
            <a:avLst>
              <a:gd name="adj" fmla="val 5000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22376" y="3209544"/>
            <a:ext cx="2281428" cy="632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722376" y="3879088"/>
            <a:ext cx="2281428" cy="519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قراراً موثّقاً مرقّماً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4360" y="480060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86968" y="4800600"/>
            <a:ext cx="103875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ونحو 600 ألف سجل تشغيلي نُقل من البنية القديمة إلى بنيةٍ مختلفةٍ كلياً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512064"/>
            <a:ext cx="548640" cy="548640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18520" y="512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195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1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منظومة ضبط بيانات العملاء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217920" y="146304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37376" y="1609344"/>
            <a:ext cx="4910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القائم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37376" y="2048256"/>
            <a:ext cx="49103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إنشاءٌ عشوائي للعملاء ببيانات خاطئة أو وهمية أو مكرّرة، من أي جهة وبأي طريق.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13816" y="1609344"/>
            <a:ext cx="4910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بعد التأسيس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13816" y="2048256"/>
            <a:ext cx="49103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مسارٌ واحد للإضافة، بتحصينات وقيود وسياسة صارمة: منع التكرار، والتحقق من صحة البيانات، وهويةٌ واحدة لكل عميل.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4069080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6968" y="4069080"/>
            <a:ext cx="10387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100"/>
              </a:lnSpc>
              <a:buNone/>
            </a:pPr>
            <a:r>
              <a:rPr lang="en-US" sz="21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وصحة كل تقريرٍ لاحق تقوم على نظافة هذه النقطة وحدها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512064"/>
            <a:ext cx="548640" cy="548640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18520" y="512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195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1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سجلات الأسماء المقترحة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217920" y="14630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37376" y="1609344"/>
            <a:ext cx="4910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القائم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37376" y="2048256"/>
            <a:ext cx="49103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اقتراحات أسماء ترد من جهاتٍ متعدّدة غير موثوقة، وتدخل مباشرةً إلى البيانات الأساسية فتلوّثها.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13816" y="1609344"/>
            <a:ext cx="4910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بعد التأسيس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13816" y="2048256"/>
            <a:ext cx="49103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سجلٌ مستقل يُفحص فيه الاسم ويُقيَّم ويُسند قبل أن يمسّ بيانات العملاء، ومعه جداول للإسناد وتاريخ الملكية.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029700" y="3840480"/>
            <a:ext cx="2537460" cy="1188720"/>
          </a:xfrm>
          <a:prstGeom prst="roundRect">
            <a:avLst>
              <a:gd name="adj" fmla="val 6154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57716" y="3986784"/>
            <a:ext cx="2281428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التغذية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57716" y="4478528"/>
            <a:ext cx="2281428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حجم الأسماء الواردة خلال الفترة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840480"/>
            <a:ext cx="2537460" cy="1188720"/>
          </a:xfrm>
          <a:prstGeom prst="roundRect">
            <a:avLst>
              <a:gd name="adj" fmla="val 6154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45936" y="3986784"/>
            <a:ext cx="2281428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التحويل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45936" y="4478528"/>
            <a:ext cx="2281428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معدّل التحويل الفعلي إلى عملاء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06140" y="3840480"/>
            <a:ext cx="2537460" cy="1188720"/>
          </a:xfrm>
          <a:prstGeom prst="roundRect">
            <a:avLst>
              <a:gd name="adj" fmla="val 6154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34156" y="3986784"/>
            <a:ext cx="2281428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الفرص العالقة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534156" y="4478528"/>
            <a:ext cx="2281428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أسماء مؤهّلة تنتظر إتمام التحويل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3840480"/>
            <a:ext cx="2537460" cy="1188720"/>
          </a:xfrm>
          <a:prstGeom prst="roundRect">
            <a:avLst>
              <a:gd name="adj" fmla="val 6154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2376" y="3986784"/>
            <a:ext cx="2281428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الهدر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2376" y="4478528"/>
            <a:ext cx="2281428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الأسماء المرفوضة من الواردات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52120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وكان في البنية القائمة 167,126 اسماً محتملاً، دون دورة حياة ودون مؤشرٍ واحد.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512064"/>
            <a:ext cx="548640" cy="548640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18520" y="512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195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1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الموظفون وإدارة التوظيف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1732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البنية القائمة كانت الوظيفة مبتورة: شاشة «طالبي وظائف» تعرض صفر نتيجة مع 20,521 مدخلاً، ونتيجة القبول والرفض على رابطين منفصلين دون حالةٍ موحّدة.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94360" y="2606040"/>
            <a:ext cx="10972800" cy="841248"/>
          </a:xfrm>
          <a:prstGeom prst="roundRect">
            <a:avLst>
              <a:gd name="adj" fmla="val 8696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72984" y="2606040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دورة حياة كاملة للطلب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13816" y="2606040"/>
            <a:ext cx="68397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الاتصال، إلى الموعد، إلى المقابلة، إلى القرار، إلى التوظيف — بحالةٍ واحدة واضحة في كل لحظة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3584448"/>
            <a:ext cx="10972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72984" y="3584448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مقارنة المرشّحين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13816" y="3584448"/>
            <a:ext cx="68397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مقارنة مباشرة بين المتقدّمين على المعايير نفسها، بدلاً من الحكم استناداً إلى الذاكرة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4562856"/>
            <a:ext cx="10972800" cy="841248"/>
          </a:xfrm>
          <a:prstGeom prst="roundRect">
            <a:avLst>
              <a:gd name="adj" fmla="val 8696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72984" y="4562856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أدقّ التفاصيل الإدارية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13816" y="4562856"/>
            <a:ext cx="68397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سجلات الموظفين والأقسام والمدير المباشر والمدرّب والدورات التدريبية — مترابطة لا متجاورة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534924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86968" y="5349240"/>
            <a:ext cx="10387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ومنظومة التوظيف انتقلت من التسجيل إلى الإدارة الفعلية للقرار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512064"/>
            <a:ext cx="548640" cy="548640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3" name="Text 1"/>
          <p:cNvSpPr/>
          <p:nvPr/>
        </p:nvSpPr>
        <p:spPr>
          <a:xfrm>
            <a:off x="11018520" y="512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195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عمل الفرع — أعقد ما بُني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9944" y="1417320"/>
            <a:ext cx="5157216" cy="3200400"/>
          </a:xfrm>
          <a:prstGeom prst="roundRect">
            <a:avLst>
              <a:gd name="adj" fmla="val 2286"/>
            </a:avLst>
          </a:prstGeom>
          <a:solidFill>
            <a:srgbClr val="0A1829"/>
          </a:solidFill>
          <a:ln w="12700">
            <a:solidFill>
              <a:srgbClr val="1C6E8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592824" y="1417320"/>
            <a:ext cx="479145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مساحة اللقطة الصامتة</a:t>
            </a:r>
            <a:endParaRPr lang="en-US" sz="1400" dirty="0"/>
          </a:p>
          <a:p>
            <a:pPr rtl="1"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المشهد 13 — طاولة الخريطة</a:t>
            </a:r>
            <a:endParaRPr lang="en-US" sz="1400" dirty="0"/>
          </a:p>
          <a:p>
            <a:pPr rtl="1"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ثانية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5157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طبقةٌ لم يكن لها وجود — لا في النظام القائم ولا في الملفات.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515721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تخطيط الفريق · تركيب المسارات · محطات العمل · إضافة المهام اللازمة · الاستبعاد على مستوى الفريق · الاستبعاد على مستوى اليوم · دورات التخطيط اليومية · أهداف الاتصال · دراسة المناطق · نطاقات العمل · تنبيهات التصعيد · سجلات الموقع الجغرافي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94360" y="489204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0A1829"/>
          </a:solidFill>
          <a:ln w="12700">
            <a:solidFill>
              <a:srgbClr val="0A1829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968" y="4892040"/>
            <a:ext cx="10387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3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جدولاً لطبقةٍ كانت تعمل في ذاكرة مدير الفرع</a:t>
            </a:r>
            <a:endParaRPr lang="en-US" sz="2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512064"/>
            <a:ext cx="548640" cy="548640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18520" y="512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195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1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الاتصال وجدولة الزيارات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72984" y="1463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قوائم الاتصال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13816" y="1463040"/>
            <a:ext cx="6839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قوائم منظّمة، وسجل لكل اتصال ونتيجته، بدلاً من ورقةٍ منفصلة لكل موظف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246888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872984" y="24688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الاتصال إلى الموعد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13816" y="2468880"/>
            <a:ext cx="6839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الموعد المؤكَّد يتحوّل إلى زيارةٍ مجدولة على المسار، دون نقلٍ يدوي بين ملفين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47472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72984" y="34747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الارتباط بخطة الفرع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13816" y="3474720"/>
            <a:ext cx="6839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الجدولة تجري داخل الخطة لا خارجها، فتظهر في حمل الفريق وفي التقارير في الحال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448056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72984" y="44805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أهداف الاتصال ودورتها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13816" y="4480560"/>
            <a:ext cx="6839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لكل عميلٍ مؤهَّل هدف اتصال له دورة حياة مغلقة، لا قائمة أسماء مفتوحة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5349240"/>
            <a:ext cx="10972800" cy="822960"/>
          </a:xfrm>
          <a:prstGeom prst="roundRect">
            <a:avLst>
              <a:gd name="adj" fmla="val 8889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86968" y="5349240"/>
            <a:ext cx="10387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والحلقة التي كانت مقطوعة بين مركز الاتصال والميدان أصبحت متّصلة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512064"/>
            <a:ext cx="548640" cy="548640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18520" y="512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195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1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الزيارة ومهامها — إعادة بناء كاملة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217920" y="146304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37376" y="1609344"/>
            <a:ext cx="4910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القائم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37376" y="2048256"/>
            <a:ext cx="49103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الزيارة التسويقية والخدمية تتشاركان الحقول نفسها: عمود للنتيجة وعمود للحالة الفنية.</a:t>
            </a:r>
            <a:endParaRPr lang="en-US" sz="1400" dirty="0"/>
          </a:p>
          <a:p>
            <a:pPr rtl="1" algn="r" indent="0" marL="0">
              <a:lnSpc>
                <a:spcPts val="2100"/>
              </a:lnSpc>
              <a:buNone/>
            </a:pPr>
            <a:endParaRPr lang="en-US" sz="1400" dirty="0"/>
          </a:p>
          <a:p>
            <a:pPr rtl="1" algn="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فتتداخل النتائج وتُعيق العمل بدلاً من أن تنظّمه.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13816" y="1609344"/>
            <a:ext cx="4910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بعد التأسيس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13816" y="2048256"/>
            <a:ext cx="49103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الزيارة الواحدة تحتمل عدة مهام، ولكل مهمةٍ نتيجةٌ خاصة بحقولها الخاصة.</a:t>
            </a:r>
            <a:endParaRPr lang="en-US" sz="1400" dirty="0"/>
          </a:p>
          <a:p>
            <a:pPr rtl="1" algn="r" indent="0" marL="0">
              <a:lnSpc>
                <a:spcPts val="2100"/>
              </a:lnSpc>
              <a:buNone/>
            </a:pPr>
            <a:endParaRPr lang="en-US" sz="1400" dirty="0"/>
          </a:p>
          <a:p>
            <a:pPr rtl="1" algn="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جدول نتائج مستقلاً: عرض جهاز، تسليم، تركيب، تفعيل، فحص، فصل، سحب، إرجاع، نقل، تسليم هدية، تحصيل قسط، وثلاثة للصيانة الطارئة.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416052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10243D"/>
          </a:solidFill>
          <a:ln w="12700">
            <a:solidFill>
              <a:srgbClr val="10243D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6968" y="4160520"/>
            <a:ext cx="10387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وأصبح تداخل النتائج ممتنعاً بنيوياً، لا موكولاً إلى التزام الموظف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512064"/>
            <a:ext cx="548640" cy="548640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18520" y="512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195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1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فصل العقد عن اتفاقية الصيانة عن الجهاز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173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الوضع القائم كان العقد واتفاقية الصيانة والجهاز وحدةً واحدة ملتحمة، فكانت الزيارة تُنفَّذ على العقد لا على الجهاز.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256032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72984" y="25603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ثلاثة كيانات مستقلة مترابطة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13816" y="2560320"/>
            <a:ext cx="6839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العقد، واتفاقية الصيانة، والجهاز — لكلٍّ منها دورة حياته وحالاته وأطرافه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356616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72984" y="35661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الزيارة تُنفَّذ على الجهاز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13816" y="3566160"/>
            <a:ext cx="6839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فيصبح لكل جهازٍ تاريخ خدمةٍ حقيقي قابل للقراءة والمساءلة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457200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72984" y="45720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إلغاء العقود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13816" y="4572000"/>
            <a:ext cx="6839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مصفوفة إلغاء منضبطة: أثر الإلغاء على الجهاز، وعلى المهام المفتوحة، وعلى الضمان، وعلى المستحقات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512064"/>
            <a:ext cx="548640" cy="548640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18520" y="512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195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1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هوية الجهاز المركّب وسجلّه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8092440" y="146304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0456" y="1609344"/>
            <a:ext cx="3218688" cy="683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8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0456" y="2329688"/>
            <a:ext cx="3218688" cy="37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جدولاً في منظومة الأجهزة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71416" y="1609344"/>
            <a:ext cx="3218688" cy="683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8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471416" y="2329688"/>
            <a:ext cx="3218688" cy="37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أنواع مهام مرتبطة بالجهاز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146304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2376" y="1609344"/>
            <a:ext cx="3218688" cy="683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8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22376" y="2329688"/>
            <a:ext cx="3218688" cy="37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منظومات ضمان مترابطة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06324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72984" y="30632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الحيازة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13816" y="3063240"/>
            <a:ext cx="6839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يحوز الجهاز في كل لحظة، وتاريخ كل انتقال للحيازة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397764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72984" y="3977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التواريخ والحالات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13816" y="3977640"/>
            <a:ext cx="6839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تواريخ التركيب والتشغيل والاستلام، وحالات متعدّدة للجهاز عبر عمره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94360" y="489204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872984" y="48920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السجل الفني والمالي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13816" y="4892040"/>
            <a:ext cx="6839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الصحة الفنية، والقطع المبدلة، والذمم المالية، والمهام المنفَّذة عليه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512064"/>
            <a:ext cx="548640" cy="548640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18520" y="512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195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1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الصيانة الطارئة والدورية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217920" y="1463040"/>
            <a:ext cx="5349240" cy="2240280"/>
          </a:xfrm>
          <a:prstGeom prst="roundRect">
            <a:avLst>
              <a:gd name="adj" fmla="val 3265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37376" y="1609344"/>
            <a:ext cx="4910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القائم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37376" y="2048256"/>
            <a:ext cx="49103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عمودٌ نصّي حرّ واحد للقطع المبدلة وملاحظاتها، وعمودٌ رقمي واحد للمبلغ المدفوع.</a:t>
            </a:r>
            <a:endParaRPr lang="en-US" sz="1450" dirty="0"/>
          </a:p>
          <a:p>
            <a:pPr rtl="1" algn="r" indent="0" marL="0">
              <a:lnSpc>
                <a:spcPts val="2150"/>
              </a:lnSpc>
              <a:buNone/>
            </a:pPr>
            <a:endParaRPr lang="en-US" sz="1450" dirty="0"/>
          </a:p>
          <a:p>
            <a:pPr rtl="1" algn="r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ولا فصل بين الصيانة الطارئة والدورية.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49240" cy="2240280"/>
          </a:xfrm>
          <a:prstGeom prst="roundRect">
            <a:avLst>
              <a:gd name="adj" fmla="val 3265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13816" y="1609344"/>
            <a:ext cx="4910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بعد التأسيس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13816" y="2048256"/>
            <a:ext cx="49103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فصلٌ مبني في أصل البيانات بين الطارئة والدورية، وثلاثة جداول منفصلة للحالات الفنية والقطع المستخدمة والحركة المالية.</a:t>
            </a:r>
            <a:endParaRPr lang="en-US" sz="1450" dirty="0"/>
          </a:p>
          <a:p>
            <a:pPr rtl="1" algn="r" indent="0" marL="0">
              <a:lnSpc>
                <a:spcPts val="2150"/>
              </a:lnSpc>
              <a:buNone/>
            </a:pPr>
            <a:endParaRPr lang="en-US" sz="1450" dirty="0"/>
          </a:p>
          <a:p>
            <a:pPr rtl="1" algn="r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ومعها أنواع الإجراءات، وأسباب الحلّ وعدم الحلّ والمتابعة والإلغاء، والأقساط، وقيود الدفع، ومؤشرات السلامة، وتصنيفات المرفقات.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4360" y="4023360"/>
            <a:ext cx="10972800" cy="1097280"/>
          </a:xfrm>
          <a:prstGeom prst="roundRect">
            <a:avLst>
              <a:gd name="adj" fmla="val 6667"/>
            </a:avLst>
          </a:prstGeom>
          <a:solidFill>
            <a:srgbClr val="10243D"/>
          </a:solidFill>
          <a:ln w="12700">
            <a:solidFill>
              <a:srgbClr val="10243D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6968" y="4023360"/>
            <a:ext cx="10387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5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خليةٍ نصّية واحدة — إلى ستة جداول منظّمة</a:t>
            </a:r>
            <a:endParaRPr lang="en-US" sz="2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512064"/>
            <a:ext cx="548640" cy="548640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18520" y="512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195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1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المنظومة المالية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9029700" y="1463040"/>
            <a:ext cx="2537460" cy="1417320"/>
          </a:xfrm>
          <a:prstGeom prst="roundRect">
            <a:avLst>
              <a:gd name="adj" fmla="val 5161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57716" y="1609344"/>
            <a:ext cx="22814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57716" y="2304288"/>
            <a:ext cx="228142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جدولاً مالياً مترابطاً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2537460" cy="1417320"/>
          </a:xfrm>
          <a:prstGeom prst="roundRect">
            <a:avLst>
              <a:gd name="adj" fmla="val 5161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45936" y="1609344"/>
            <a:ext cx="2281428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الأقساط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345936" y="2101088"/>
            <a:ext cx="2281428" cy="65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أقساط العقود والصيانة والضمان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06140" y="1463040"/>
            <a:ext cx="2537460" cy="1417320"/>
          </a:xfrm>
          <a:prstGeom prst="roundRect">
            <a:avLst>
              <a:gd name="adj" fmla="val 5161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34156" y="1609344"/>
            <a:ext cx="2281428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الذمم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34156" y="2101088"/>
            <a:ext cx="2281428" cy="65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مستحقات وقيود دفع مفصّلة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1463040"/>
            <a:ext cx="2537460" cy="1417320"/>
          </a:xfrm>
          <a:prstGeom prst="roundRect">
            <a:avLst>
              <a:gd name="adj" fmla="val 5161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2376" y="1609344"/>
            <a:ext cx="2281428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المقايضة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22376" y="2101088"/>
            <a:ext cx="2281428" cy="65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منظومة مستقلة باختباراتها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310896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72984" y="31089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أثر مالي لكل عملية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13816" y="3108960"/>
            <a:ext cx="6839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تسليمٍ وتركيبٍ وصيانةٍ وتحصيلٍ يترك قيداً مالياً مرتبطاً بمصدره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94360" y="411480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872984" y="41148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كشف حساب العميل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13816" y="4114800"/>
            <a:ext cx="6839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قابل للاستخراج من قيودٍ مترابطة، لا من تجميعٍ يدوي بين ملفات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512064"/>
            <a:ext cx="548640" cy="548640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18520" y="512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195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1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طبقة التقارير والتحليلات</a:t>
            </a:r>
            <a:endParaRPr lang="en-US" sz="3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" y="1463040"/>
          <a:ext cx="5925312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903720" y="146304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123176" y="1609344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دون عرضٍ مرئي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123176" y="2048256"/>
            <a:ext cx="4224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تقريراً في البنية القائمة، كلها جداول أرقام نصية، دون مخططٍ واحد.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903720" y="283464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123176" y="2980944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عنصراً مرئياً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123176" y="3419856"/>
            <a:ext cx="4224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شريطياً مرتّباً، و15 دائرياً، و4 زمنياً، و3 قمعياً — على خمسة أقسام.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903720" y="420624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123176" y="4352544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لوحةٌ لكل مسؤول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123176" y="4791456"/>
            <a:ext cx="4224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مؤشرٍ مبوّب بصلاحية، ونطاقه يُفرض مرتين: في الواجهة وفي الخادم.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94360" y="5623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والخلفية التحليلية كتالوجٌ موحّد واحد: 34 مؤشراً و44 تفصيلاً.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512064"/>
            <a:ext cx="548640" cy="548640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18520" y="512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195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1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 الشكاوى — منظومة مستقلة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217920" y="14630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345936" y="1609344"/>
            <a:ext cx="5093208" cy="683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8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345936" y="2329688"/>
            <a:ext cx="5093208" cy="37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جدولاً مخصّصاً لنطاق الشكاوى وحده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22376" y="1609344"/>
            <a:ext cx="5093208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مستقل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22376" y="2151888"/>
            <a:ext cx="5093208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نطاقٌ قائم بذاته، لا حقل ملاحظات داخل سجل آخر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306324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72984" y="30632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دورة معالجة كاملة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13816" y="3063240"/>
            <a:ext cx="6839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مقدّم الشكوى، والإسناد، والملاحظات الداخلية، والقرار، وسجل الحالات، والمرفقات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397764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72984" y="3977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تحديثات معلنة للعميل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13816" y="3977640"/>
            <a:ext cx="6839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يُطلع عليه العميل مفصولٌ عن الملاحظات الداخلية، وله منح تتبّعٍ منضبطة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489204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72984" y="48920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ارتباط تشغيلي وسجل تدقيق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13816" y="4892040"/>
            <a:ext cx="6839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ربط الشكوى بالجهاز وبالعمليات المرتبطة، وسجل تدقيق مستقل لكل تغيير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512064"/>
            <a:ext cx="548640" cy="548640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18520" y="512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195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1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الهدايا والضمانات والتغطية الجغرافية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8092440" y="150876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311896" y="1655064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الهدايا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311896" y="2093976"/>
            <a:ext cx="303580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ستة جداول: تعريفات الهدايا، وسجلاتها، ومصادرها، وأحداثها، ونتائج مهام التسليم.</a:t>
            </a:r>
            <a:endParaRPr lang="en-US" sz="1400" dirty="0"/>
          </a:p>
          <a:p>
            <a:pPr rtl="1" algn="r" indent="0" marL="0">
              <a:lnSpc>
                <a:spcPts val="2100"/>
              </a:lnSpc>
              <a:buNone/>
            </a:pPr>
            <a:endParaRPr lang="en-US" sz="1400" dirty="0"/>
          </a:p>
          <a:p>
            <a:pPr rtl="1" algn="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وكانت في البنية القائمة شاشةً للقراءة فقط، لا إضافة ولا تعديل ولا حذف.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50876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62856" y="1655064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الضمانات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62856" y="2093976"/>
            <a:ext cx="303580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منظومة ضمان للجهاز، بأقساطها وقيود دفعها، ومهام الضمان الذهبي المرتبطة بها.</a:t>
            </a:r>
            <a:endParaRPr lang="en-US" sz="1400" dirty="0"/>
          </a:p>
          <a:p>
            <a:pPr rtl="1" algn="r" indent="0" marL="0">
              <a:lnSpc>
                <a:spcPts val="2100"/>
              </a:lnSpc>
              <a:buNone/>
            </a:pPr>
            <a:endParaRPr lang="en-US" sz="1400" dirty="0"/>
          </a:p>
          <a:p>
            <a:pPr rtl="1" algn="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 مسارٍ واحدٍ موحّد لكل أنواع الضمان.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150876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3816" y="1655064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التغطية الجغرافية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3816" y="2093976"/>
            <a:ext cx="303580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شجرة وحداتٍ جغرافية متعدّدة المستويات، وتغطية جغرافية لكل فرع، ولقطات دراسة المناطق.</a:t>
            </a:r>
            <a:endParaRPr lang="en-US" sz="1400" dirty="0"/>
          </a:p>
          <a:p>
            <a:pPr rtl="1" algn="r" indent="0" marL="0">
              <a:lnSpc>
                <a:spcPts val="2100"/>
              </a:lnSpc>
              <a:buNone/>
            </a:pPr>
            <a:endParaRPr lang="en-US" sz="1400" dirty="0"/>
          </a:p>
          <a:p>
            <a:pPr rtl="1" algn="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بدلاً من قائمة مدنٍ مسطّحة.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512064"/>
            <a:ext cx="548640" cy="548640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18520" y="512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195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1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العميل على الهاتف المحمول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9029700" y="1463040"/>
            <a:ext cx="2537460" cy="1417320"/>
          </a:xfrm>
          <a:prstGeom prst="roundRect">
            <a:avLst>
              <a:gd name="adj" fmla="val 5161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57716" y="1609344"/>
            <a:ext cx="22814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57716" y="2304288"/>
            <a:ext cx="228142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مساراً خلفياً مخصّصاً للتطبيق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2537460" cy="1417320"/>
          </a:xfrm>
          <a:prstGeom prst="roundRect">
            <a:avLst>
              <a:gd name="adj" fmla="val 5161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45936" y="1609344"/>
            <a:ext cx="22814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345936" y="2304288"/>
            <a:ext cx="228142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جداول لحسابات التطبيق وإشعاراته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06140" y="1463040"/>
            <a:ext cx="2537460" cy="1417320"/>
          </a:xfrm>
          <a:prstGeom prst="roundRect">
            <a:avLst>
              <a:gd name="adj" fmla="val 5161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34156" y="1609344"/>
            <a:ext cx="2281428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التحقق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34156" y="2101088"/>
            <a:ext cx="2281428" cy="65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منظومة رمز تحقق مع مزوّد رسائل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1463040"/>
            <a:ext cx="2537460" cy="1417320"/>
          </a:xfrm>
          <a:prstGeom prst="roundRect">
            <a:avLst>
              <a:gd name="adj" fmla="val 5161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2376" y="1609344"/>
            <a:ext cx="2281428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الإشعارات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22376" y="2101088"/>
            <a:ext cx="2281428" cy="65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إشعارات تفاعلية وزمنية وإدارية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310896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72984" y="31089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يستطيعه العميل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13816" y="3108960"/>
            <a:ext cx="6839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حساب موثّق، وتقديم الطلبات، ومتابعة أجهزته وزياراته، وتقديم شكوى ومتابعتها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94360" y="411480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872984" y="41148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الإدارة من داخل النظام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13816" y="4114800"/>
            <a:ext cx="6839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حسابات التطبيق، ولوحة الإشعارات، وواجهة الصفحة الرئيسية وعروضها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512064"/>
            <a:ext cx="548640" cy="548640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18520" y="512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195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1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الصلاحيات والمساءلة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217920" y="1463040"/>
            <a:ext cx="5349240" cy="2240280"/>
          </a:xfrm>
          <a:prstGeom prst="roundRect">
            <a:avLst>
              <a:gd name="adj" fmla="val 3265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37376" y="1609344"/>
            <a:ext cx="4910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القائم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37376" y="2048256"/>
            <a:ext cx="49103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سجل تعديلاتٍ على أي كيان، ولا شيء في الملفات يُسجّل من كتب.</a:t>
            </a:r>
            <a:endParaRPr lang="en-US" sz="1450" dirty="0"/>
          </a:p>
          <a:p>
            <a:pPr rtl="1" algn="r" indent="0" marL="0">
              <a:lnSpc>
                <a:spcPts val="2150"/>
              </a:lnSpc>
              <a:buNone/>
            </a:pPr>
            <a:endParaRPr lang="en-US" sz="1450" dirty="0"/>
          </a:p>
          <a:p>
            <a:pPr rtl="1" algn="r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وكل تعارضٍ بين نسختين يُحسم بالنقاش لا بمرجع.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49240" cy="2240280"/>
          </a:xfrm>
          <a:prstGeom prst="roundRect">
            <a:avLst>
              <a:gd name="adj" fmla="val 3265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13816" y="1609344"/>
            <a:ext cx="4910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بعد التأسيس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13816" y="2048256"/>
            <a:ext cx="49103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272 مفتاح صلاحية، وسجل نشاطٍ للمهام، وتنبيهات تصعيد، وسجلات موقعٍ جغرافي للزيارات، ونطاقات رؤيةٍ محدّدة لكل دور.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4360" y="4023360"/>
            <a:ext cx="10972800" cy="1097280"/>
          </a:xfrm>
          <a:prstGeom prst="roundRect">
            <a:avLst>
              <a:gd name="adj" fmla="val 6667"/>
            </a:avLst>
          </a:prstGeom>
          <a:solidFill>
            <a:srgbClr val="10243D"/>
          </a:solidFill>
          <a:ln w="12700">
            <a:solidFill>
              <a:srgbClr val="10243D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6968" y="4023360"/>
            <a:ext cx="10387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5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وأصبح للنظام ذاكرة — والذاكرة أساس المساءلة</a:t>
            </a:r>
            <a:endParaRPr lang="en-US" sz="2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512064"/>
            <a:ext cx="548640" cy="548640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18520" y="512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195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1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المرجعية المكتوبة وحوكمة القرار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8092440" y="146304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0456" y="1609344"/>
            <a:ext cx="3218688" cy="683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8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0456" y="2329688"/>
            <a:ext cx="3218688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وثيقة مرجعية تحدّد كيف يعمل كل قسم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71416" y="1609344"/>
            <a:ext cx="3218688" cy="683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8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471416" y="2329688"/>
            <a:ext cx="3218688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قراراً موثّقاً مرقّماً قبل التنفيذ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146304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2376" y="1609344"/>
            <a:ext cx="3218688" cy="683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8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446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22376" y="2329688"/>
            <a:ext cx="3218688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 ترحيل موثّق لقاعدة البيانات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154680"/>
            <a:ext cx="10972800" cy="1920240"/>
          </a:xfrm>
          <a:prstGeom prst="roundRect">
            <a:avLst>
              <a:gd name="adj" fmla="val 3810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3154680"/>
            <a:ext cx="10332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100"/>
              </a:lnSpc>
              <a:buNone/>
            </a:pPr>
            <a:r>
              <a:rPr lang="en-US" sz="1750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 تُسلَّم منظومةٌ برمجية فحسب، بل سُلّمت معها مرجعيةٌ مكتوبة: لكل نطاقٍ وثيقةٌ تحدّد قواعده، ولكل قرارٍ جوهريٍّ سجلٌّ يُبيّن سببه وبدائله المرفوضة وأثره.</a:t>
            </a:r>
            <a:endParaRPr lang="en-US" sz="1750" dirty="0"/>
          </a:p>
          <a:p>
            <a:pPr rtl="1" algn="r" indent="0" marL="0">
              <a:lnSpc>
                <a:spcPts val="3100"/>
              </a:lnSpc>
              <a:buNone/>
            </a:pPr>
            <a:endParaRPr lang="en-US" sz="1750" dirty="0"/>
          </a:p>
          <a:p>
            <a:pPr rtl="1" algn="r" indent="0" marL="0">
              <a:lnSpc>
                <a:spcPts val="3100"/>
              </a:lnSpc>
              <a:buNone/>
            </a:pPr>
            <a:r>
              <a:rPr lang="en-US" sz="1750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وهي مُخرَجٌ مُسلَّم لكم، لا وثائق عملٍ داخلية.</a:t>
            </a:r>
            <a:endParaRPr lang="en-US" sz="1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512064"/>
            <a:ext cx="548640" cy="548640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18520" y="512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195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1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أعمالٌ أُنجزت سبقاً لنطاق المرحلة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94360" y="155448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72984" y="155448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منظومة الدفعات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13816" y="1554480"/>
            <a:ext cx="6839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أحد عشر جدولاً مالياً مترابطاً: أقساط العقود، وقيود الدفع، والمستحقات، وأقساط الصيانة والضمان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274320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872984" y="274320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منظومة المقايضة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13816" y="2743200"/>
            <a:ext cx="6839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خدمة مستقلة باختباراتها، وحقولها في نموذج العقد وتفاصيله وقائمته، ولها تفصيلٌ في طبقة التقارير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93192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72984" y="393192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سجلات الأسماء المقترحة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13816" y="3931920"/>
            <a:ext cx="6839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نطاقٌ كامل بجداوله ومؤشراته، وكان مقرّراً لما بعد هذه المرحلة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525780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10243D"/>
          </a:solidFill>
          <a:ln w="12700">
            <a:solidFill>
              <a:srgbClr val="10243D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6968" y="5257800"/>
            <a:ext cx="10387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ثلاثة نطاقاتٍ كانت مقرّرةً للمرحلة القادمة، أُنجزت داخل هذه المرحلة</a:t>
            </a:r>
            <a:endParaRPr lang="en-US" sz="2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0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1031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spc="100" kern="0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القسم الثالث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94360" y="26060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النطاق والاعتماد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94360" y="3749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B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هو داخل نطاق هذا التسليم، وما هو خارجه بقرارٍ معلَن.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512064"/>
            <a:ext cx="548640" cy="548640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18520" y="512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195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1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هو خارج نطاق هذه المرحلة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188720"/>
          </a:xfrm>
          <a:prstGeom prst="roundRect">
            <a:avLst>
              <a:gd name="adj" fmla="val 6154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72984" y="14173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العمل دون اتصال بالإنترنت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13816" y="1417320"/>
            <a:ext cx="6839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 يُنفَّذ في هذه المرحلة. ومزامنة العمل دون اتصال تستلزم مهاماً محدّدة الأنواع، ونتائج منظّمة لكل نوع، وقواعد لفضّ التعارض بين نسختين — وهو ما أُسّس في هذه المرحلة بالضبط. لم يكن ممكناً قبلها، وأصبح ممكناً الآن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2743200"/>
            <a:ext cx="10972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872984" y="27432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مستقل للفني والمشرفة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13816" y="2743200"/>
            <a:ext cx="6839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سُلّمت تجربتهما داخل النظام على واجهةٍ تعمل على الهاتف المحمول. والتطبيق المستقل مرحلةٌ قادمة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4069080"/>
            <a:ext cx="10972800" cy="1188720"/>
          </a:xfrm>
          <a:prstGeom prst="roundRect">
            <a:avLst>
              <a:gd name="adj" fmla="val 6154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72984" y="40690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بنود مؤجّلة بقرارٍ موثّق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13816" y="4069080"/>
            <a:ext cx="6839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الضمانات الموحّد · مسار فحص المياه غير الموثّق · الأعمال الموكولة إلى طرف تطبيق الهاتف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548640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6968" y="5486400"/>
            <a:ext cx="10387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تُعلَن منّا قبل أن تُكتشف — وبهذا يكون الاعتماد نهائياً</a:t>
            </a:r>
            <a:endParaRPr lang="en-US" sz="1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0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512064"/>
            <a:ext cx="548640" cy="548640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3" name="Text 1"/>
          <p:cNvSpPr/>
          <p:nvPr/>
        </p:nvSpPr>
        <p:spPr>
          <a:xfrm>
            <a:off x="11018520" y="512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195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المطلوب من هذا الاجتماع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629400" y="1417320"/>
            <a:ext cx="4937760" cy="2971800"/>
          </a:xfrm>
          <a:prstGeom prst="roundRect">
            <a:avLst>
              <a:gd name="adj" fmla="val 2462"/>
            </a:avLst>
          </a:prstGeom>
          <a:solidFill>
            <a:srgbClr val="0A1829"/>
          </a:solidFill>
          <a:ln w="12700">
            <a:solidFill>
              <a:srgbClr val="1C6E8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812280" y="1417320"/>
            <a:ext cx="45720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مساحة اللقطة الصامتة</a:t>
            </a:r>
            <a:endParaRPr lang="en-US" sz="1400" dirty="0"/>
          </a:p>
          <a:p>
            <a:pPr rtl="1"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المشهد 19 — الخاتمة</a:t>
            </a:r>
            <a:endParaRPr lang="en-US" sz="1400" dirty="0"/>
          </a:p>
          <a:p>
            <a:pPr rtl="1"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ثانية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5596128" cy="1280160"/>
          </a:xfrm>
          <a:prstGeom prst="roundRect">
            <a:avLst>
              <a:gd name="adj" fmla="val 5714"/>
            </a:avLst>
          </a:prstGeom>
          <a:solidFill>
            <a:srgbClr val="0A1829"/>
          </a:solidFill>
          <a:ln w="12700">
            <a:solidFill>
              <a:srgbClr val="0A1829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0392" y="1554480"/>
            <a:ext cx="5084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أولاً: اعتماد المرحلة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50392" y="1993392"/>
            <a:ext cx="5084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9B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بنطاقها المحدّد كما عُرض، وباستثناءاتها المعلَنة.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2880360"/>
            <a:ext cx="5596128" cy="1508760"/>
          </a:xfrm>
          <a:prstGeom prst="roundRect">
            <a:avLst>
              <a:gd name="adj" fmla="val 4848"/>
            </a:avLst>
          </a:prstGeom>
          <a:solidFill>
            <a:srgbClr val="0A1829"/>
          </a:solidFill>
          <a:ln w="12700">
            <a:solidFill>
              <a:srgbClr val="0A1829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0392" y="3017520"/>
            <a:ext cx="5084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ثانياً: بروتوكول المرحلة القادمة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50392" y="3456432"/>
            <a:ext cx="5084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A9B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مرجعٌ واحد لديكم يملك حق الحسم · إيقاعٌ ثابت لاتخاذ القرارات · تثبيتٌ كتابي لأي قرارٍ قبل تنفيذه.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94360" y="4663440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" y="4663440"/>
            <a:ext cx="10387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3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حُفظت الروح، واستُبدل الهيكل — وبقي طريقٌ واحد لم نصله بعد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2026-08-19T12:14:28Z</dcterms:created>
  <dcterms:modified xsi:type="dcterms:W3CDTF">2026-08-19T12:14:28Z</dcterms:modified>
</cp:coreProperties>
</file>