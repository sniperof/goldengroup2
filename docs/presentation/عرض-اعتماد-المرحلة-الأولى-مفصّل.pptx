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البنية القائمة</c:v>
                </c:pt>
              </c:strCache>
            </c:strRef>
          </c:tx>
          <c:spPr>
            <a:solidFill>
              <a:srgbClr val="A06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المؤشرات والتقارير</c:v>
                  </c:pt>
                  <c:pt idx="1">
                    <c:v>العناصر المرئية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البنية الجديدة</c:v>
                </c:pt>
              </c:strCache>
            </c:strRef>
          </c:tx>
          <c:spPr>
            <a:solidFill>
              <a:srgbClr val="1C6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المؤشرات والتقارير</c:v>
                  </c:pt>
                  <c:pt idx="1">
                    <c:v>العناصر المرئية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</c:v>
                </c:pt>
                <c:pt idx="1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4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4657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قواعد الاجتماع: كل عقبة تُعرض على الشاشة تُغلق على الشاشة. المسؤولية تُنسب إلى الأدوات لا إلى الأشخاص. لا شكوى مفتوحة أمام الزبون.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المحتويات يعطي الاجتماع وزنه، ويطمئن الحضور إلى أن الاستثناءات ستُعرض ولن تُخفى.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تُسرع في هذا القسم. الاقتناع بالتشخيص شرطٌ لقبول كل ما يليه.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بالمنهجية لا بالنتيجة. الحضور يقبل الحكم بعد أن يقبل طريقة الوصول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تحمي العرض كله. مالك النظام القائم في القاعة، والإنصاف هو ما يجعله يستمع بدل أن يدافع.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الأثر التشغيلي لا الوصف التقني. كل بندٍ هنا مُثبت بصرياً في تقرير المعاينة.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أردتَ بنداً خامساً: لوحة النظام تعلن 26,272 عميلاً وشاشة العملاء تعلن 20,914 — لكن تحقّق من التعريفات أولاً وإلا يُدحض في القاعة.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الصورة المموّهة، واصمت عشر ثوان، ثم اقرأ السطر الأخير ببطء. لا تُضف بعده شيئاً.
تحذير: لا تُعرض أي صورة قبل تمويه أسماء العملاء وأرقام هواتفهم.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تُثبت أن الملف لم يكن سجلاً، بل منظومة تشغيل كاملة تعمل بلا قواعد. اذكر التكرار في الأعمدة كدليلٍ على انعدام مصدر الحقيقة الواحد.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الترتيب الثلاثي: لا شيء كان يمنع الكتابة في خانة الغير، ولا شيء يسجّل من كتب، ولا شيء يكتشف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تعرض عدد ملفاتٍ لا تملك إسناده. اعرض المعادلة، والحضور يُقدّرون الحجم بأنفسهم.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تصوغ المشكلة بلغة الإدارة لا بلغة التقنية — وهي مفتاح إقناع الزبون الإداري.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يُذكر استيعاب الجهد مرة واحدة فقط، ثم يُنتقل فوراً. التكرار يُقرأ استجداءً للتعاطف ويُضعف موقف الاعتماد.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 هنا يبدأ إثبات حجم العمل. لا تشرح التقنية — اشرح ما أصبح ممكناً ولم يكن.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تُعرض هذه الأرقام افتخاراً، بل جواباً على سؤالٍ واحد: لماذا استغرق العمل ثمانية أشهر.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أوضح شريحة على عمق العمل: كل حالة هنا تعني قاعدة انتقالٍ مكتوبة، وحقولاً إلزامية، وصلاحيةً لمن يُجريها.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تُظهر الانضباط: النظام لا يقبل «سبباً» مكتوباً بحرية في موضع القرار. هذا ما يجعل التقرير قابلاً للثقة.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هذه الشريحة بالتقارير: جودة التقرير تبدأ من باب الإدخال، لا من شاشة التقرير.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أول مرة يكون لمسار المبيعات مؤشرات. الرقم 167,126 من نظامهم هم، فذكره أقوى من أي وصف.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الصياغة المسندة: «مبتورة» لا «متوقفة». نظامهم فيه 20,948 طلباً و13,780 مقابلة، فوصف التوقف يُدحض بالأرقام.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الطبقة لا يلمسها الزبون الإداري، فاربطها بلغته فوراً: هي مصنع البيانات الذي يجعل التقرير صادقاً.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المهمة هي الوحدة التي حلّت مشكلة تداخل النتائج. اشرحها هنا لأن كل ما يليها يقوم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الملفات كان الموعد يُكتب في عمود ثم يُنقل يدوياً إلى ملف آخر. هنا موضع ذكر الإدخال المزدوج.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مهمة عرض الجهاز لم يكن لها وجود في أي موضع سابق: كانت تحدث في الواقع ولا تترك أثراً.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الفصل هو ما جعل الصيانة الدورية والطارئة قابلتين للإدارة أصلاً. اذكره كشرطٍ لما يليه.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الجهاز في البنية القديمة كان سطراً في عقد؛ وأصبح كياناً له تاريخٌ كامل. هذه أوضح شريحة على العمق.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أقوى مقارنة تفصيلية في العرض، لأنها مرئية في صورة الملف ومسندة في بنية النظام معاً.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الملفات كانت المنظومة المالية عمودين: مبلغ مدفوع وحسم محاسبة. هنا أصبحت 11 جدولاً مترابطاً.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أولوية الزبون الأولى. اعرض اللوحة حيّة إن أمكن — ثلاث دقائق هنا تساوي عشر شرائح.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نطاق الشكاوى لم يكن موجوداً بأي شكل. أربعة عشر جدولاً وثلاثة وثلاثون مفتاح صلاحية لنطاقٍ واحد مؤشرٌ واضح على حجم العمل.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تُظهر الاتساع لا العمق: نطاقات لم تكن مطروحة في الاتفاق الأصلي وبُنيت بالكامل.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الطبقة هي أساس التخطيط الميداني كله. بدونها لا مسارات ولا نطاقات ولا تحليل جغرافي.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أحد بنود الاتفاق الأصلي، وقد سُلّم. اذكره ضمن سياق الإنجاز لا كردٍّ على مطلب.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عنصر «المستخدمين» في البنية القائمة كان معطّلاً بلا رابط. تُذكر كواقعة، دون تعليق.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أقوى شريحة في مواجهة تبدّل الأولويات: النظام لم يحفظ البيانات فقط، بل حفظ السياسة التي تُدار بها.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دليل فائض الجهد. تُعرض كإنجازٍ زائد عن النطاق، لا كاستجابةٍ لمطلب.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الانتقال إلى هذا القسم يجب أن يكون واضحاً ومقصوداً — فهو ما يُطلب من الاجتماع.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أهم شريحة في الاجتماع. البند المؤجَّل الذي يُكتشف بعد الاعتماد يُبطل الاعتماد والثقة؛ والمعلَن منّا دليل انضباط.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البروتوكول لا يكلّف الزبون شيئاً، ولذلك يصعب رفضه بعد سماع التشخيص. اختم على اللقطة الصامتة ثم انتظر الجواب.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spc="2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CRM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نظام تسجيل إلى منظومة تشغيل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تسليم المرحلة الأولى واعتمادها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ثمانية أشهر من العمل المتواصل · آب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محتويات العرض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80248" y="150876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9704" y="1645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أولاً · التشخيص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99704" y="2075688"/>
            <a:ext cx="30480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المعاينة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منهجية التشخيص ومصادره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القائمة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كانت تؤدّيه فعلاً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تسع فجوات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مُثبتة بصرياً في المعاينة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الطبقة الموازية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تشريح الملف التشغيلي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المسؤوليات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الصلاحية كسطر في رأس جدول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الإداري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يُتخذ على الملف لا على الحقيقة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إعادة التأسيس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لحظة تغيّر المنهج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7304" y="150876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6760" y="1645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ثانياً · ما بُني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56760" y="2075688"/>
            <a:ext cx="30480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الإنجاز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الإجمالية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آلات الحالة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دورة حياة و79 حالة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القوائم المرجعية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قائمة مُدارة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العملاء والأسماء المقترحة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ضبط المصدر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التوظيف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حالة لطلب واحد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عمل الفرع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الطبقة الأعقد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والزيارات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الفصل بين الزيارة ونتيجتها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العقود والأجهزة والصيانة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الفصل والسجلات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 والتقارير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القيد والمؤشر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الشكاوى والتطبيق والصلاحيات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 مستقلة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1508760"/>
            <a:ext cx="3486912" cy="3566160"/>
          </a:xfrm>
          <a:prstGeom prst="roundRect">
            <a:avLst>
              <a:gd name="adj" fmla="val 209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" y="164592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ثالثاً · النطاق والاعتماد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3816" y="2075688"/>
            <a:ext cx="30480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 سبقاً للنطاق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نطاقات كانت للمرحلة القادمة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خارج النطاق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لم يُنفَّذ، بقرار معلَن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الاعتماد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من الاجتماع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بروتوكول المرحلة القادمة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 واحد وإيقاع ثابت وتثبيت كتابي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1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الأول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تشخيص البنية القائمة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49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وجدناه عند المباشرة، وما استوجب إعادة النظر في المنهج بالكامل.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المعاينة ومنهجيتها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417320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54533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96592"/>
            <a:ext cx="233172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عنصراً في قوائم النظام القائم، حُصرت كاملة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417320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54533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18504" y="2196592"/>
            <a:ext cx="233172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فُتحت وعُوينت فعلياً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417320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54533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11296" y="2196592"/>
            <a:ext cx="233172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عموداً في تبويب واحد من الملفات التشغيلية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2551176" cy="1463040"/>
          </a:xfrm>
          <a:prstGeom prst="roundRect">
            <a:avLst>
              <a:gd name="adj" fmla="val 50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54533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4088" y="2196592"/>
            <a:ext cx="233172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في البنية الجديدة، جُردت من الكود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3108960"/>
            <a:ext cx="5358384" cy="2377440"/>
          </a:xfrm>
          <a:prstGeom prst="roundRect">
            <a:avLst>
              <a:gd name="adj" fmla="val 307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32461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منهجية التشخيص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675888"/>
            <a:ext cx="49194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فقط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تعديل أي سجل ودون إرسال أي نموذج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البيانات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يُنسخ أي اسم أو رقم هاتف أو عنوان لعميل أو موظف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إجماليات وعدّادات سجلات وأسماء أعمدة فقط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التحفّظ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نتيجة غير مؤكّدة بصرياً مؤشَّرة صراحةً بذلك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108960"/>
            <a:ext cx="5358384" cy="2377440"/>
          </a:xfrm>
          <a:prstGeom prst="roundRect">
            <a:avLst>
              <a:gd name="adj" fmla="val 307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32461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الاستدلال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675888"/>
            <a:ext cx="49194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القائم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عنصر ظاهر في القوائم وقوائمها الفرعية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الملفات التشغيلية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معاينة بنية الملف الموازي وأعمدته ومسؤولياته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الجديدة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جرد آلي كامل للكود وقاعدة البيانات والوثائق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القرارات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القرارات الموثّقة التسعة عشر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كانت البنية القائمة تؤدّيه فعلاً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41732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5453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25712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عاملة ببيانات حقيقية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41732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5453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18504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تقريراً على ستة تصنيفات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41732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5453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11296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مرجعية منظّمة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54533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فروع عاملة على النظام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3017520"/>
            <a:ext cx="5358384" cy="1965960"/>
          </a:xfrm>
          <a:prstGeom prst="roundRect">
            <a:avLst>
              <a:gd name="adj" fmla="val 3721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31546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قدراتٌ كانت موجودة فعلاً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584448"/>
            <a:ext cx="491947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محرّر صلاحيات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العملية، لا تسميات شكلية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حقول الإسناد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مندوب التسويق، والمشرفة، وفني الصيانة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تفصيل الصيانة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القطع المستبدلة بالاسم والعدد، والمبلغ المدفوع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بيانات ضخم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188,040 عميلاً و283,928 زيارة صيانة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017520"/>
            <a:ext cx="5358384" cy="1965960"/>
          </a:xfrm>
          <a:prstGeom prst="roundRect">
            <a:avLst>
              <a:gd name="adj" fmla="val 3721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31546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وطبيعة ما بُني له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584448"/>
            <a:ext cx="491947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تسجيل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تُدوّن ما حدث بعد حدوثه، وتُتقن ذلك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منظومة تشغيل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توجّه العمل قبل حدوثه ولا تلاحقه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القائمة لم تكن قاصرةً عمّا أُنشئت له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الفجوات المُثبتة — انعدام أدوات الإدارة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2712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انعدام سجل التعديلات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371600"/>
            <a:ext cx="6986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على أي كيان سجلٌّ يُبيّن من عدّل ومتى وما الذي تغيّر — فلا مساءلة ولا تتبّع للنزاع. وصفحة الأدوار وحدها تعرض تاريخ إنشاءٍ وتعديل دون بيان من عدّل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414016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82712" y="241401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حالات سير العمل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414016"/>
            <a:ext cx="6986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الغالب في النظام تبديلٌ ثنائي بين فعّال وغير فعّال، ومعه حقول نتيجةٍ متفرّقة لكل نموذج على حدة — دون حالةٍ موحّدة تُبيّن موقع العمل في مساره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456432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82712" y="34564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انعدام التنبيهات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3456432"/>
            <a:ext cx="6986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إشعار ولا تذكير ولا عدّاد في أي صفحة من الصفحات الثلاثين. الشريط العلوي يحوي الساعة والفرع والقسم والملف الشخصي فحسب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498848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82712" y="44988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العرض المرئي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" y="4498848"/>
            <a:ext cx="6986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خمسةٌ وأربعون تقريراً، كلها جداول أرقام نصية مع مرشّح مدى تاريخي، دون رسمٍ بيانيٍّ واحد في النظام كله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541264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82712" y="5541264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انعدام التقويم والتصدير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" y="5541264"/>
            <a:ext cx="6986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الجدولة حقول تاريخ داخل نماذج، ولا تقويم مرئي في أي قسم، ولا زرّ تصدير أو طباعة في القوائم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وفجوات تمسّ صحة البيانات نفسها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2712" y="1371600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 معطّلة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371600"/>
            <a:ext cx="6986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«المستخدمين» يظهر في القائمة الفرعية بخطٍّ باهت، دون أي رابط في الكود، ولا يؤدّي النقر عليه إلى أي صفحة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82712" y="2487168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تعرض نتيجةً مخالفة لبياناتها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487168"/>
            <a:ext cx="6986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«طالبي وظائف» تعرض صفر نتيجة ورسالة «لم يتم العثور على سجلات» مع إعلانها في العنوان عن 20,521 مدخلاً، دون أي مرشّح مفعَّل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602736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82712" y="3602736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مزدوج مُثبت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3602736"/>
            <a:ext cx="6986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الهاتف الجوال يُحفظ مرتين في صفحة العميل نفسها: في أعلى الصفحة، ثم كسطرٍ منفصل في جدول وسائل الاتصال، بأزرار إضافةٍ وحذفٍ منفصلة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718304"/>
            <a:ext cx="10972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82712" y="4718304"/>
            <a:ext cx="3383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غير منضبطة الشكل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" y="4718304"/>
            <a:ext cx="69860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قيمٌ في حقل وسيلة الاتصال تحوي أكثر من رقم هاتف متتالٍ دون فاصل، ومسار تخزين الصور يكشف بنيةً تحتية قديمة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55321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532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وهذه الفجوات تمسّ صحة القرار الإداري، لا شكل الواجهة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الطبقة التشغيلية الموازية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9944" y="1371600"/>
            <a:ext cx="5157216" cy="3200400"/>
          </a:xfrm>
          <a:prstGeom prst="roundRect">
            <a:avLst>
              <a:gd name="adj" fmla="val 2286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92824" y="1371600"/>
            <a:ext cx="47914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3 — الكوخ الخلفي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ثوان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الفعلي لم يكن يجري داخل النظام، بل في ملفات جداول بيانية خارجه.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51572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عموداً في تبويبٍ واحد، ونحو عشرة تبويبات في الملف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التبويبات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طوارئ · استحقاقات · فلاتر مسحوبة · هدايا وسطاء · عملاء دائمون · جهاز هدية · حجز عقد · كفالة ذهبية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المدى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 يحمل اسم «الشهر الحالي» لفرعٍ واحد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التسمية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وملفات أخرى للمشرفة، وللفني، وللتيلماركتر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وهذا ملفٌ واحد، لفرعٍ واحد، لشهرٍ واحد، ولدورٍ واحد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تشريح الملف الواحد — دورة تشغيل كاملة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80248" y="1371600"/>
            <a:ext cx="3486912" cy="2148840"/>
          </a:xfrm>
          <a:prstGeom prst="roundRect">
            <a:avLst>
              <a:gd name="adj" fmla="val 340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9704" y="1508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الاستقبال والتعريف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99704" y="1938528"/>
            <a:ext cx="30480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الاتصال · مصدر الاتصال · مستلم الاتصال · اسم العميل · حالة العميل · رقم الهاتف · كود الخط · المنطقة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المعنى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اتصالٍ كامل يعمل على جدول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7304" y="1371600"/>
            <a:ext cx="3486912" cy="2148840"/>
          </a:xfrm>
          <a:prstGeom prst="roundRect">
            <a:avLst>
              <a:gd name="adj" fmla="val 340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6760" y="1508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التوجيه والتنفيذ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56760" y="1938528"/>
            <a:ext cx="30480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· تاريخ التركيب · تاريخ آخر زيارة · الفني · نوع الزيارة · القطع المبدلة وملاحظاتها · الحالة الفنية · المبلغ المدفوع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المعنى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الفرق ونتيجة الزيارة بنصٍّ حر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1371600"/>
            <a:ext cx="3486912" cy="2148840"/>
          </a:xfrm>
          <a:prstGeom prst="roundRect">
            <a:avLst>
              <a:gd name="adj" fmla="val 340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" y="1508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المتابعة والجدولة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3816" y="1938528"/>
            <a:ext cx="30480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المسؤول الفني · تقييم المسؤول الفني · تاريخ آخر اتصال · اسم الصبية · ملاحظات الاتصال · موعد تاريخ · النتيجة · ملاحظات النتيجة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المعنى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حجز المواعيد يجري هنا لا في النظام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8776" y="370332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38404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 والمحاسبة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28232" y="4270248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المبلغ المدفوع · عمولة الفني عن آخر زيارة · حسم محاسبة · قيمة الحسم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المعنى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عمولات الفنيين وحسومهم تُحسب في جدول بيانات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70332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" y="38404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الرقابة والتقييم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13816" y="4270248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المسؤول الفني · تقييم مدير الفرع · مطابقة التقييم النهائي للمدير الفني في الإدارة المركزية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المعنى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طبقات تقييم دون إلزامٍ ولا تتبّع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وثلاثة أعمدة تحمل اسم «الفني»، وعمودان يحملان «المبلغ المدفوع» — في الصف الواحد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وتوزيع المسؤوليات كان سطراً في رأس الجدول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71600"/>
            <a:ext cx="5358384" cy="2514600"/>
          </a:xfrm>
          <a:prstGeom prst="roundRect">
            <a:avLst>
              <a:gd name="adj" fmla="val 2909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5087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938528"/>
            <a:ext cx="49194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السطر الأول فوق رؤوس الأعمدة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المحتوى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المسؤول عن تعبئة كل عمود: تلماركتر · مدير الفرع أو من ينوب عنه · المسؤول الفني · إدخال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الطبيعة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تعليمةٌ مكتوبة يقرأها الموظف، ولا شيء يُلزمه بها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مانع من الكتابة في خانة الغير، ولا سجلٌّ لمن كتب، ولا وسيلة لاكتشاف ذلك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5358384" cy="2514600"/>
          </a:xfrm>
          <a:prstGeom prst="roundRect">
            <a:avLst>
              <a:gd name="adj" fmla="val 290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5087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938528"/>
            <a:ext cx="49194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مفتاح صلاحية موزّعة على 31 نطاقاً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موضع التنفيذ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الطبقة الخلفية، تُفحص قبل تنفيذ كل عملية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الدفاع المزدوج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تُخفي ما لا يُملك، والخادم يمنعه ثانيةً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ولكل دورٍ حدود رؤيةٍ محدّدة: عامة، أو فرع، أو فريق، أو ما أُسند إليه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2062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206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سطرٍ نصّي في رأس جدول — إلى 272 قاعدة تُطبَّق قبل كل عملية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وتضاعف الملفات على ثلاثة محاور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80248" y="1371600"/>
            <a:ext cx="3486912" cy="1188720"/>
          </a:xfrm>
          <a:prstGeom prst="roundRect">
            <a:avLst>
              <a:gd name="adj" fmla="val 615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89976" y="1499616"/>
            <a:ext cx="3267456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89976" y="1998472"/>
            <a:ext cx="3267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مستقل لكل فرع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7304" y="1371600"/>
            <a:ext cx="3486912" cy="1188720"/>
          </a:xfrm>
          <a:prstGeom prst="roundRect">
            <a:avLst>
              <a:gd name="adj" fmla="val 615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47032" y="1499616"/>
            <a:ext cx="3267456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47032" y="1998472"/>
            <a:ext cx="3267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جديد في كل شهر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1371600"/>
            <a:ext cx="3486912" cy="1188720"/>
          </a:xfrm>
          <a:prstGeom prst="roundRect">
            <a:avLst>
              <a:gd name="adj" fmla="val 615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" y="1499616"/>
            <a:ext cx="3267456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4088" y="1998472"/>
            <a:ext cx="3267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للمشرفة وللفني وللتيلماركتر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82712" y="2788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تعدّد نسخ المعلومة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" y="2788920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الواحدة موجودة في أكثر من ملف، بعدد الأدوار التي تتعامل معها — ولا مرجع يحدّد أيّها الصحيح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785616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82712" y="378561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اليدوية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" y="3785616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التوفيق بين النسخ كان عملاً بشرياً متكرّراً، وكل تعارضٍ بين نسختين يُحسم بالنقاش لا بمرجع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782312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82712" y="47823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تقطّع التاريخ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" y="4782312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تاريخ متّصل لعميلٍ واحد، ولا مقارنة بين شهرين، ولا رؤية لفرعين معاً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5779008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82712" y="57790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الصورة الكاملة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5528" y="5779008"/>
            <a:ext cx="6986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كان موجوداً هو مجموع ملفاتٍ لا يستطيع أحدٌ جمعها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وأثر ذلك على القرار الإداري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417320"/>
            <a:ext cx="1038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كان يُتخذ بناءً على الملف المفتوح، لا على الحقيقة — لأن الحقيقة الكاملة لم تكن متاحةً لأحد.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82712" y="28346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الميدان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834640"/>
            <a:ext cx="698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الفني والمشرفة يعملان على ما في ملفهما، لا على ما في النظام — والتأخير يُعالَج بملاحظةٍ يكتبها إنسان لا بتنبيهٍ يُصدره نظام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922776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82712" y="392277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الفرع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922776"/>
            <a:ext cx="698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الفرع يخطّط من ذاكرته، ويوزّع الفرق دون خريطةٍ ولا خطةٍ محفوظة، ولا يعرف الحمل الواقع على فريقه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5010912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82712" y="501091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الإدارة المركزية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5010912"/>
            <a:ext cx="6986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يُبنى على بياناتٍ وُلدت في خلايا نصية حرة، فتتعذّر الثقة بنتيجته حتى مع وجود خمسةٍ وأربعين تقريراً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إعادة التأسيس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9944" y="1371600"/>
            <a:ext cx="5157216" cy="3246120"/>
          </a:xfrm>
          <a:prstGeom prst="roundRect">
            <a:avLst>
              <a:gd name="adj" fmla="val 2254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92824" y="1371600"/>
            <a:ext cx="479145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7 — التوقف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ثوان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157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 العمل قد بدأ فعلياً بتطبيق العملاء، فأوقفناه.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5157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إضافةٍ على تلك البنية كانت ستزيد الاختلال لا القدرة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البديل المرفوض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المضيّ في الترقية وتسليم منظومةٍ تسجيلٍ أحدث الشكل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اختيرَ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التأسيس على فهمٍ صحيح لواقع العمل الفعلي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عُولج الفارق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استُوعب داخلياً دون إيقاف المشروع ودون إعادة التفاوض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الوصف الدقيق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وهو أصعب قرارٍ اتُّخذ في المشروع كله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مطالبةٍ بتكلفةٍ إضافية، ودون تمديدٍ للمدة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1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الثاني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بُني — بنية النظام الجديد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49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ثمانية أشهر من العمل، موزّعة على منظوماتٍ مترابطة لا على ميزاتٍ متجاورة.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الإنجاز الإجمالي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216,417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25712" y="2003552"/>
            <a:ext cx="233172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سطراً برمجياً في 770 ملفاً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318504" y="207975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مترابطاً في قاعدة البيانات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11296" y="207975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في واجهة النظام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" y="207975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مسار في الخدمة الخلفية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15984" y="283464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25712" y="296265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25712" y="358851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صلاحية على 31 نطاقاً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08776" y="283464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296265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18504" y="358851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ترحيل لقاعدة البيانات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01568" y="283464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11296" y="296265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511296" y="358851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مرجعية معتمدة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2834640"/>
            <a:ext cx="2551176" cy="1371600"/>
          </a:xfrm>
          <a:prstGeom prst="roundRect">
            <a:avLst>
              <a:gd name="adj" fmla="val 533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" y="2962656"/>
            <a:ext cx="233172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04088" y="3588512"/>
            <a:ext cx="23317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قراراً موثّقاً مرقّماً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3891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389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ونحو 600 ألف سجل تشغيلي نُقل من البنية القديمة إلى بنيةٍ مختلفةٍ كلياً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وذروة الكثافة كانت في شهرٍ واحد: 189 تعديلاً مسجّلاً على الكود في حزيران وحده.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آلات الحالة — من تبديلٍ ثنائي إلى دوراتِ حياة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3200400"/>
          </a:xfrm>
          <a:prstGeom prst="roundRect">
            <a:avLst>
              <a:gd name="adj" fmla="val 2286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السائدة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تبديلٌ ثنائي واحد: فعّال / غير فعّال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عدا ذلك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حقول نتيجةٍ متفرّقة لكل نموذج على حدة: «هل نُفّذت؟» في الصيانة، و«النتيجة» في التسويق، و«الحالة» في الهدايا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القبول والرفض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موزّعان على رابطين منفصلين، دون عمود حالةٍ موحّد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يمكن معرفة موقع أي عملٍ في مساره، ولا ما ينتظره، ولا من يعطّله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3200400"/>
          </a:xfrm>
          <a:prstGeom prst="roundRect">
            <a:avLst>
              <a:gd name="adj" fmla="val 2286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 — 11 دورة حياة و79 حالة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التوظيف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حالة، من الاستلام إلى التوظيف النهائي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المهمة المفتوحة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حالة: مفتوحة · بحاجة متابعة · مُسندة · في الجدولة · مجدولة · بانتظار التنفيذ · قيد التنفيذ · منتهية · مكتملة · مغلقة · ملغاة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الجهاز المركّب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حالات: مسجّل · بانتظار التسليم · مُسلَّم · مُركَّب · فعّال · معطّل · في الورشة · جاهز · خارج الخدمة · مسحوب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حالات · مهمة الزيارة 5 حالات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الاتصال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حالات · الاسم المقترح 6 حالات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العقد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حالات · الضمان 4 · المستحقات 4 · الموظف 4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القوائم المرجعية المُدارة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في البنية القائمة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18504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مُدارة في البنية الجديدة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11296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أسبابٍ لنوع المهمة الواحد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4088" y="2054352"/>
            <a:ext cx="2331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نصٌّ حر في مواضع القرار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88036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30175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عمق التصنيف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44728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نوع مهمة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منفصلة لأسباب الإنشاء، والتأجيل، والرفض، والفشل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مثالٌ واحد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عرض الجهاز: أسباب الإنشاء · أسباب الإلغاء · أسباب رفض العرض · أسباب التأجيل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الصيانة الطارئة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الإجراءات · أسباب الحل · أسباب عدم الحل · أسباب المتابعة · مؤشرات السلامة · تصنيفات المرفقات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88036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30175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ذلك إدارياً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44728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القياس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سببٍ صار قيمةً قابلة للعدّ والتحليل، لا عبارةً تُكتب بصيغٍ مختلفة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الضبط بيد الإدارة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القوائم تُدار من الإعدادات دون تعديلٍ برمجي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أثرٌ على التقارير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أصبح ممكناً السؤال: ما أكثر أسباب رفض العرض هذا الشهر؟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ضبط بيانات العملاء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2834640"/>
          </a:xfrm>
          <a:prstGeom prst="roundRect">
            <a:avLst>
              <a:gd name="adj" fmla="val 2581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الإنشاء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عشوائي، من أي جهة وبأي طريق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خاطئة أو وهمية أو مكرّرة، دون تحقّق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التكرار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 نفسه يتكرّر بأسماء وأرقام متقاربة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تقريرٍ يُبنى على قاعدةٍ ملوّثة يعطي رقماً غير صحيح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2834640"/>
          </a:xfrm>
          <a:prstGeom prst="roundRect">
            <a:avLst>
              <a:gd name="adj" fmla="val 258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مسارٌ واحد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باب إدخالٍ واحد بسياسةٍ صارمة، لا مسارات جانبية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التكرار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التطابق قبل الإنشاء، وهويةٌ واحدة لكل عميل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قيود على صيغ الأرقام والحقول الإلزامية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التصنيف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حياة العميل: مرشّح، ثم محتمل، ثم عميل — بحالاتٍ محدّدة لا بوصفٍ يدوي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المالي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عميلٍ مرتبط بعقوده وأجهزته ومستحقاته وذممه في مسارٍ واحد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المتابعة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ضوابط لمدد التواصل تمنع تكرار الإزعاج للعميل نفسه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434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وصحة كل تقريرٍ لاحق تقوم على نظافة هذه النقطة وحدها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الأسماء المقترحة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2377440"/>
          </a:xfrm>
          <a:prstGeom prst="roundRect">
            <a:avLst>
              <a:gd name="adj" fmla="val 307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اقتراحات ترد من جهاتٍ متعدّدة غير موثوقة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تدخل مباشرةً إلى البيانات الأساسية فتلوّثها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167,126 اسماً محتملاً في البنية القائمة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دورة حياة ودون مؤشرٍ واحد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2377440"/>
          </a:xfrm>
          <a:prstGeom prst="roundRect">
            <a:avLst>
              <a:gd name="adj" fmla="val 307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نطاقٌ مستقل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يُفحص ويُقيَّم ويُسند قبل أن يمسّ بيانات العملاء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 حالات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 · مقترح · متابعة · تم الاتصال · مؤهّل · مرفوض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الملكية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للإسناد وتاريخ ملكية كل اسم ومن تسلّمه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مسارٌ منضبط للتحويل إلى عميل، بشروطٍ لا باجتهاد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015984" y="3840480"/>
            <a:ext cx="2551176" cy="1143000"/>
          </a:xfrm>
          <a:prstGeom prst="roundRect">
            <a:avLst>
              <a:gd name="adj" fmla="val 64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25712" y="39684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25712" y="4429252"/>
            <a:ext cx="233172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الأسماء الواردة خلال الفترة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3840480"/>
            <a:ext cx="2551176" cy="1143000"/>
          </a:xfrm>
          <a:prstGeom prst="roundRect">
            <a:avLst>
              <a:gd name="adj" fmla="val 64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18504" y="39684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8504" y="4429252"/>
            <a:ext cx="233172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معدّل التحويل الفعلي إلى عملاء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01568" y="3840480"/>
            <a:ext cx="2551176" cy="1143000"/>
          </a:xfrm>
          <a:prstGeom prst="roundRect">
            <a:avLst>
              <a:gd name="adj" fmla="val 64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11296" y="39684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العالق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511296" y="4429252"/>
            <a:ext cx="233172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مؤهّلة تنتظر إتمام التحويل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840480"/>
            <a:ext cx="2551176" cy="1143000"/>
          </a:xfrm>
          <a:prstGeom prst="roundRect">
            <a:avLst>
              <a:gd name="adj" fmla="val 64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" y="39684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الهدر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04088" y="4429252"/>
            <a:ext cx="233172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المرفوض من إجمالي الواردات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الموظفون وإدارة التوظيف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325880"/>
            <a:ext cx="10387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كانت الوظيفة مبتورة: شاشة «طالبي وظائف» تعرض صفر نتيجة مع 20,521 مدخلاً، ونتيجة القبول والرفض على رابطين منفصلين دون حالةٍ موحّدة.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8776" y="2377440"/>
            <a:ext cx="5358384" cy="2606040"/>
          </a:xfrm>
          <a:prstGeom prst="roundRect">
            <a:avLst>
              <a:gd name="adj" fmla="val 280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25146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حياة طلب التوظيف — 16 حالة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28232" y="2944368"/>
            <a:ext cx="491947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الاستلام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 · قيد المراجعة · مؤهّل · مرفوض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المقابلة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مقابلة مجدولة · مقابلة منفَّذة · مقابلة غير موفَّقة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القبول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مقبول · تدريب مجدول · تدريب بدأ · تدريب منتهٍ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الحسم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تدريب · ناجح · توظيف نهائي · رفض نهائي · منسحب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5358384" cy="2606040"/>
          </a:xfrm>
          <a:prstGeom prst="roundRect">
            <a:avLst>
              <a:gd name="adj" fmla="val 280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" y="25146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يحيط بها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13816" y="2944368"/>
            <a:ext cx="491947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المرشّحين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مباشرة على المعايير نفسها، لا حكماً من الذاكرة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المقابلات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للمقابل والموعد والنتيجة والملاحظات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الدورات التدريبية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بداية ونهاية وتخرّج ومدرّب ومشتركين ومتخرّجين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الموظفين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الأقسام والمدير المباشر والمدرّب وحالة الموظف بأربع حالات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الموظف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عملية نقلٍ صريحة بين الفروع، بضوابط على العمل المفتوح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عمل الفرع — أعقد ما بُني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9944" y="1325880"/>
            <a:ext cx="5157216" cy="3291840"/>
          </a:xfrm>
          <a:prstGeom prst="roundRect">
            <a:avLst>
              <a:gd name="adj" fmla="val 2222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92824" y="1325880"/>
            <a:ext cx="47914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13 — طاولة الخريطة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ثانية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157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750" b="1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طبقةٌ لم يكن لها وجود — لا في النظام القائم ولا في الملفات.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515721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 عمل · دورات تخطيط يومية · جداول يومية للفرق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تركيب خطوط السير ومحطاتها وإسناد الفرق إليها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المهام اللازمة إلى المحطات، وترتيبها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الاستبعاد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الفريق، وعلى مستوى اليوم — قرارٌ واعٍ لا إغفال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الاستهداف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أهداف الاتصال وربطها بالمهام المفتوحة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الميدان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المناطق · سجلات الموقع الجغرافي · تنبيهات التصعيد والمواعيد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جدولاً لطبقةٍ كانت تعمل في ذاكرة مدير الفرع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المهمة المفتوحة — وحدة العمل الأساسية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2880360"/>
          </a:xfrm>
          <a:prstGeom prst="roundRect">
            <a:avLst>
              <a:gd name="adj" fmla="val 254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المهمة المفتوحة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عملٌ مستحقٌّ على عميلٍ أو جهاز، قائمٌ بذاته، لا سطرٌ في زيارة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الأنواع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جهاز · تسليم · تركيب · تفعيل · فحص · فصل · سحب · إرجاع · نقل · صيانة دورية · صيانة طارئة · تسليم هدية · تحصيل قسط · فحص مياه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الحالات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حالة تُبيّن موقعها في مسارها بدقّة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الأهلية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مكتوبة تحدّد متى تصبح المهمة مؤهّلة للجدولة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2880360"/>
          </a:xfrm>
          <a:prstGeom prst="roundRect">
            <a:avLst>
              <a:gd name="adj" fmla="val 254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يترتّب عليها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الإسناد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مهمة مسؤولٌ ومصدرٌ وسببُ إنشاء من قائمةٍ مُدارة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السحب إلى الزيارة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سحب مهام العميل المنتظرة إلى زيارةٍ قائمة، بضوابط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الحمل المالي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 المالية تحمل قيودها ودفعاتها وأقساطها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النشاط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انتقال حالةٍ مسجّلٌ بصاحبه ووقته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التصعيد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على المهام المتأخّرة أو المعطَّلة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الاستبعاد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استبعاد مُعلَّل من الخطة، بسببٍ من قائمةٍ مُدارة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الاتصال وجدولة الزيارات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2712" y="132588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الاتصال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325880"/>
            <a:ext cx="6986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قوائم منظّمة تُبنى من أهداف الاتصال المؤهّلة، بدلاً من ورقةٍ منفصلة لكل موظف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82712" y="216712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كل اتصال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167128"/>
            <a:ext cx="6986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المتصل، والوقت، ومع من تم الاتصال، والنتيجة، وسببها من قائمةٍ مُدارة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008376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82712" y="300837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هدف الاتصال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3008376"/>
            <a:ext cx="6986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سبع حالات: جديد · في الطابور · في قائمة الاتصال · تم الاتصال · محجوز · مغلق · ملغى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849624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82712" y="38496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الاتصال إلى الموعد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" y="3849624"/>
            <a:ext cx="6986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الموعد المؤكَّد يتحوّل إلى زيارةٍ مجدولة على المسار، دون نقلٍ يدوي بين ملفين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690872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82712" y="469087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الارتباط بخطة الفرع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" y="4690872"/>
            <a:ext cx="6986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الجدولة تجري داخل الخطة لا خارجها، فتظهر في حمل الفريق وفي التقارير في الحال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53212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82712" y="553212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ضوابط الإزعاج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5528" y="5532120"/>
            <a:ext cx="6986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مدد تهدئة تمنع تكرار الاتصال بالعميل نفسه، وإغلاقٌ يدوي مع شبكة أمانٍ تلقائية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ومهامها — إعادة بناءٍ كاملة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2743200"/>
          </a:xfrm>
          <a:prstGeom prst="roundRect">
            <a:avLst>
              <a:gd name="adj" fmla="val 2667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الحقول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التسويقية والخدمية تتشاركان الحقول نفسها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عمودٌ واحد للنتيجة وآخر للحالة الفنية، ونصٌّ حر فيهما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تتداخل النتائج فتُعيق العمل بدلاً من أن تنظّمه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التتبّع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يُعرف ما نُفِّذ فعلاً في الزيارة وما لم يُنفَّذ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2743200"/>
          </a:xfrm>
          <a:prstGeom prst="roundRect">
            <a:avLst>
              <a:gd name="adj" fmla="val 266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الفصل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وعاء، والمهمة هي وحدة العمل — ولكل مهمةٍ نتيجتها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جدول نتائج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جهاز · تسليم · تركيب · تفعيل · فحص · فصل · سحب · إرجاع · نقل · تسليم هدية · تحصيل قسط · وثلاثة للصيانة الطارئة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الزيارة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حالات: مجدولة · قيد التنفيذ · منتهية · مكتملة · غير مكتملة · ملغاة · مغلقة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مهمة الزيارة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حالات مستقلة عن حالة الزيارة نفسها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الميدان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الموقع الجغرافي، واستبيانات الزيارة، ومصادر إنشائها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زيارة ميدانية فورية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إمكان فتح زيارةٍ خارج الخطة بضوابط نطاقٍ صارمة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2062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206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وأصبح تداخل النتائج ممتنعاً بنيوياً، لا موكولاً إلى التزام الموظف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فصل العقد عن اتفاقية الصيانة عن الجهاز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325880"/>
            <a:ext cx="1038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كان العقد واتفاقية الصيانة والجهاز وحدةً واحدة ملتحمة، فكانت الزيارة تُنفَّذ على العقد لا على الجهاز.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80248" y="2331720"/>
            <a:ext cx="3486912" cy="2651760"/>
          </a:xfrm>
          <a:prstGeom prst="roundRect">
            <a:avLst>
              <a:gd name="adj" fmla="val 275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99704" y="2468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العقد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99704" y="2898648"/>
            <a:ext cx="3048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الحالات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مسودّة · فعّال · ملغى · مكتمل · مطروح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الأطراف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المشتري، والمستفيد، والوسيط، ومالك البيع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دفعة أولى وأقساط وقيود دفعٍ ومستحقات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المستندات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 إلكتروني قابل للطباعة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الإلغاء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إلغاء تحدّد أثره على الجهاز والمهام والضمان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7304" y="2331720"/>
            <a:ext cx="3486912" cy="2651760"/>
          </a:xfrm>
          <a:prstGeom prst="roundRect">
            <a:avLst>
              <a:gd name="adj" fmla="val 275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6760" y="2468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اتفاقية الصيانة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56760" y="2898648"/>
            <a:ext cx="3048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الاستقلال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كيانٌ مستقل له مدّته ونطاقه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الدورية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الصيانات الدورية بفواصل زمنية محسوبة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الالتزام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التزام العميل بالمواعيد وأثره على الأولوية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التغطية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يغطّيه العقد وما يقع على العميل، بقاعدةٍ مكتوبة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3486912" cy="2651760"/>
          </a:xfrm>
          <a:prstGeom prst="roundRect">
            <a:avLst>
              <a:gd name="adj" fmla="val 275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" y="24688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الجهاز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13816" y="2898648"/>
            <a:ext cx="3048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المرجعية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الزيارة تُنفَّذ على الجهاز لا على الورقة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جهازٍ تاريخ خدمةٍ متّصل قابل للقراءة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الفرع الخدمي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الجهاز مرتبط بالفرع الذي يخدمه فعلاً</a:t>
            </a:r>
            <a:endParaRPr lang="en-US" sz="1250" dirty="0"/>
          </a:p>
          <a:p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المقايضة  </a:t>
            </a:r>
            <a:pPr rtl="1" algn="r" indent="0" marL="0">
              <a:lnSpc>
                <a:spcPts val="215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استبدال جهازٍ بآخر بمسارٍ محسوب ومُوثّق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هوية الجهاز المركّب وسجلّه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في منظومة الأجهزة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18504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لعمر الجهاز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11296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مهام ترتبط بالجهاز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4088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منظومات ضمانٍ مترابطة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عمر الجهاز — 10 حالات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التشغيل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مسجّل · بانتظار التسليم · مُسلَّم · مُركَّب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الخدمة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فعّال · معطّل · في الورشة · جاهز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خارج الخدمة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خارج الخدمة · مسحوب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الحيازة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يبيّن من يحوز الجهاز في كل لحظة وتاريخ كل انتقال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السجلات المرافقة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التواريخ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التركيب، والتشغيل، والاستلام، وكل تغيّر حالة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الفني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صحة الجهاز، ومكوّناته وقطعه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القطع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القطع المبدلة بالاسم والعدد والسعر لكل زيارة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الذمم المالية المرتبطة بالجهاز ودفعاتها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مهمة نُفِّذت عليه، ونتيجتها المفصّلة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الصيانة الطارئة والدورية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2788920"/>
          </a:xfrm>
          <a:prstGeom prst="roundRect">
            <a:avLst>
              <a:gd name="adj" fmla="val 2623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عمودٌ نصّي حرّ واحد: القطع المبدلة وملاحظاتها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عمودٌ رقمي واحد: المبلغ المدفوع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الفصل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فصل بين الصيانة الطارئة والدورية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الأسباب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تصنيف لسبب العطل ولا لنتيجة المعالجة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يتعذّر تحليل الأعطال أو قياس تكلفة الصيانة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2788920"/>
          </a:xfrm>
          <a:prstGeom prst="roundRect">
            <a:avLst>
              <a:gd name="adj" fmla="val 2623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الفصل البنيوي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حِملٌ مستقل للطارئة وآخر للدورية في أصل البيانات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الحالات الفنية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مستقل لتشخيص الحالة الفنية وأنواع المشكلات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القطع المستخدمة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مستقل بالقطع والكمّيات والتكاليف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الحركة المالية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مستقل للقيود، مع أقساطٍ وقيود دفعٍ للطوارئ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الأسباب المُدارة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الإجراءات · أسباب الحل وعدم الحل والمتابعة والإلغاء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السلامة والمرفقات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سلامة، وتصنيفات مرفقاتٍ للأدلة الميدانية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توليدٌ تلقائي متجدّد، وربطٌ بالالتزام والأولوية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2519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خليةٍ نصّية واحدة — إلى ستة جداول منظّمة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المنظومة المالية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مالياً مترابطاً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الأقساط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18504" y="1914652"/>
            <a:ext cx="233172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للعقود والصيانة والضمان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المستحقات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11296" y="1914652"/>
            <a:ext cx="233172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بأربع حالات: منتظر · جزئي · مسدَّد · متأخّر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المقايضة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4088" y="1914652"/>
            <a:ext cx="233172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مستقلة باختباراتها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القيد المالي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العقد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دفعة أولى، وأقساط، وقيود دفعٍ مفصّلة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الصيانة الطارئة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تكاليف القطع، والأقساط، وقيود الدفع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أقساط الضمان ودفعاته المستقلة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تحصيل الأقساط ونتائجها وأسباب الرفض أو التجزئة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أصبح ممكناً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أثرٌ لكل عملية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تسليمٍ وتركيبٍ وصيانةٍ وتحصيلٍ يترك قيداً مرتبطاً بمصدره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حساب العميل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يُستخرج من قيودٍ مترابطة، لا من تجميعٍ يدوي بين ملفات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عمولات الفنيين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محسوبة من عملٍ مسجَّل، لا من عمودٍ في جدول بيانات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تكلفة الصيانة والتحصيل لكل فرعٍ وفترة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التقارير والتحليلات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137160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64808" y="1371600"/>
            <a:ext cx="5102352" cy="3383280"/>
          </a:xfrm>
          <a:prstGeom prst="roundRect">
            <a:avLst>
              <a:gd name="adj" fmla="val 216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84264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بُني في طبقة التحليلات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84264" y="1938528"/>
            <a:ext cx="466344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الكتالوج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مؤشراً و44 تفصيلاً في مصدرٍ موحّد واحد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اللوحة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مؤشراً قابلاً للتركيب على لوحةٍ يبنيها كل مسؤول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المرئي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عنصراً: 19 شريطياً مرتّباً · 15 دائرياً · 4 زمنياً · 3 قمعياً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الأقسام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العملاء · الأسماء المقترحة · العقود · الأجهزة · التوظيف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مؤشرٍ مبوّب بصلاحية، ولا يُرى إلا لمن يملك مصدره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يُفرض مرتين: في الواجهة وفي الخادم — دفاعٌ بطبقتين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الفترات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بين الفترات: يوم · أسبوع · شهر · ربع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49377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49377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لم تكن ناقصةً في البنية القائمة، بل كانت غير موثوقة لأن بياناتها تُولد في خلايا حرّة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الشكاوى — منظومة مستقلة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80248" y="1325880"/>
            <a:ext cx="3486912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89976" y="1453896"/>
            <a:ext cx="3267456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189976" y="2105152"/>
            <a:ext cx="326745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جدولاً لنطاق الشكاوى وحده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7304" y="1325880"/>
            <a:ext cx="3486912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47032" y="1453896"/>
            <a:ext cx="3267456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47032" y="2105152"/>
            <a:ext cx="326745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صلاحية خاصاً بالنطاق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1325880"/>
            <a:ext cx="3486912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" y="1453896"/>
            <a:ext cx="3267456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04088" y="2105152"/>
            <a:ext cx="326745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لنتيجة المعالجة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معالجة كاملة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28232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مقدّم الشكوى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سجلٌّ مستقل لمقدّم الشكوى وصفته وصلته بالعميل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الشكوى بالجهاز أو العقد أو الزيارة أو الموظف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الإسناد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إسنادٌ صريح، مع ملاحظاتٍ داخلية لا يراها العميل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التفاصيل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فنية وتفاصيل جهازٍ يدوية عند غياب السجل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محلولة · غير محلولة · بحاجة متابعة · ملغاة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الانضباط والشفافية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13816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تحديثاتٌ معلَنة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يُطلع عليه العميل مفصولٌ تماماً عن الملاحظات الداخلية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التتبّع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تتبّعٍ منضبطة لمن يحق له متابعة الشكوى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الحالات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تاريخٌ كامل لكل تغيّر حالة، بصاحبه ووقته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تدقيق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تدقيق مستقل للنطاق كله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المرفقات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أدلّة مرفقة مصنَّفة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الهدايا والضمانات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3291840"/>
          </a:xfrm>
          <a:prstGeom prst="roundRect">
            <a:avLst>
              <a:gd name="adj" fmla="val 222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الهدايا — ستة جداول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شاشةٌ للقراءة فقط: لا إضافة ولا تعديل ولا حذف، مع 16,930 سجلاً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التعريفات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كتالوج الهدايا وأنواعها وشروط استحقاقها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المصادر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كل هدية: عقد، أو ترشيح وسيط، أو حملة، أو متدرّب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الأحداث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أحداثٍ لكل هدية: الاستحقاق، والموافقة، والتسليم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التسليم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مهمة تسليمٍ ميدانية بنتيجتها وأسباب رفضها وتأجيلها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موافقات وملاحظات موافقة قبل التسليم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3291840"/>
          </a:xfrm>
          <a:prstGeom prst="roundRect">
            <a:avLst>
              <a:gd name="adj" fmla="val 222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الضمانات — منظومة موحّدة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الواحد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مسارٌ واحد لكل أنواع الضمان، لا مسارات متفرّقة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ضمان العقد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يُنشأ مرةً واحدة مع العقد، ونطاقه مشتقٌّ من نوعه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الضمان الذهبي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للتكرار وبتسلسل، وواحدٌ فعّال في الوقت نفسه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والتفعيل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عرضٌ يُقدَّم للعميل، ويُفعَّل عند الاستلام لا عند العرض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أقساط ودفعات مستقلة عن أقساط العقد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المهام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تسليم البطاقة، وأسباب القبول والرفض والمتابعة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المرجعية الجغرافية ونطاقات العمل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08776" y="1325880"/>
            <a:ext cx="5358384" cy="2880360"/>
          </a:xfrm>
          <a:prstGeom prst="roundRect">
            <a:avLst>
              <a:gd name="adj" fmla="val 254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28232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28232" y="1892808"/>
            <a:ext cx="491947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مدنٍ مسطّحة: 3,609 مدينة وسجلا دولةٍ فقط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العلاقة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حقل «تابعة لمدينة» دون شجرةٍ حقيقية ولا مستويات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التغطية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تحديد لما يغطّيه كل فرعٍ جغرافياً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المنطقة تُكتب نصاً في الملف، فلا تخطيط ولا تحليل جغرافي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5358384" cy="2880360"/>
          </a:xfrm>
          <a:prstGeom prst="roundRect">
            <a:avLst>
              <a:gd name="adj" fmla="val 254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4630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3816" y="1892808"/>
            <a:ext cx="491947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شجرة بأربعة مستويات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المحافظة إلى الحي، بعلاقاتٍ صريحة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الفروع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فرعٍ تغطيةٌ جغرافية محدّدة تُحدّد نطاق عمله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 العمل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نطاقات عملٍ تربط الفريق بالمنطقة وبالمهام المستحقّة فيها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المناطق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لقطات دراسةٍ للمنطقة تُبنى عليها قرارات التخطيط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خطوط السير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ونقاط مرتبطة بالوحدات الجغرافية</a:t>
            </a:r>
            <a:endParaRPr lang="en-US" sz="1350" dirty="0"/>
          </a:p>
          <a:p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التتبّع  </a:t>
            </a:r>
            <a:pPr rtl="1" algn="r" indent="0" marL="0">
              <a:lnSpc>
                <a:spcPts val="225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موقعٍ جغرافي للزيارات المنفَّذة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434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والمنطقة تحوّلت من كلمةٍ في خليّة — إلى وحدةٍ في شجرةٍ يُخطَّط عليها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العميل على الهاتف المحمول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مساراً خلفياً مخصّصاً للتطبيق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18504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جداول لحسابات التطبيق وإشعاراته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التحقّق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11296" y="1914652"/>
            <a:ext cx="233172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رمز تحقّق مع مزوّد رسائل فعلي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424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4088" y="1914652"/>
            <a:ext cx="2331720" cy="58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تفاعلية وزمنية وإدارية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يستطيعه العميل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حسابٍ موثّق برقم هاتفه، وربطه بسجله في النظام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طلبٍ للخدمة أو للجهاز، ومتابعة حالته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أجهزته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أجهزته المركّبة وحالتها وتاريخها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زياراته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زياراته ومواعيدها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الشكاوى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شكوى ومتابعة تحديثاتها المعلَنة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وما يُدار من داخل النظام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حسابات التطبيق وطلبات إنشائها والموافقة عليها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إشعاراتٌ تلقائية على الأحداث، وأخرى زمنية، وإرسالٌ حرّ من الإدارة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الرئيسية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العروض والشرائح المعروضة للعميل واستهدافها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الكتالوج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كتالوج الأجهزة وأغراض الطلب المعروضة في التطبيق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الطلبات الواردة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طلبات التطبيق وتحويلها إلى مهامٍ في النظام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 والمساءلة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صلاحية مُنفَّذاً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18504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نطاقاً موزّعة عليها المفاتيح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11296" y="2105152"/>
            <a:ext cx="233172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مستويات لنطاق الرؤية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280160"/>
          </a:xfrm>
          <a:prstGeom prst="roundRect">
            <a:avLst>
              <a:gd name="adj" fmla="val 5714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4088" y="1952752"/>
            <a:ext cx="2331720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نشاطٍ لكل انتقال حالة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F5EEE2"/>
          </a:solidFill>
          <a:ln w="12700">
            <a:solidFill>
              <a:srgbClr val="F5EEE2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A06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القائم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التعديلات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موجود على أي كيان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كتب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شيء في الملفات يسجّله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التعارض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تعارضٍ بين نسختين يُحسم بالنقاش لا بمرجع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عنصرٌ معطّل في القائمة، بلا رابط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78892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292608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بعد التأسيس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355848"/>
            <a:ext cx="4919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المفاتيح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مفتاحاً على 31 نطاقاً، تُفحص قبل كل عملية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الرؤية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عامة · فرع · فريق · ما أُسند إلى الشخص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قابلة للتعريف، وفصلٌ بين إدارة الأدوار وإدارة المستخدمين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المساءلة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نشاطٍ للمهام، وسجلات تدقيق، وتنبيهات تصعيد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الميدان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موقعٍ جغرافي تُثبت تنفيذ الزيارة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المرجعية المكتوبة وحوكمة القرار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15984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25712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25712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مرجعية معتمدة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318504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قراراً موثّقاً مرقّماً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11296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11296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ترحيلٍ موثّق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1453896"/>
            <a:ext cx="2331720" cy="61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04088" y="2105152"/>
            <a:ext cx="233172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مرجعية مُدارة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08776" y="2834640"/>
            <a:ext cx="5358384" cy="2240280"/>
          </a:xfrm>
          <a:prstGeom prst="roundRect">
            <a:avLst>
              <a:gd name="adj" fmla="val 326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9718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تحتويه المرجعية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28232" y="3401568"/>
            <a:ext cx="491947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وثائق النطاقات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وثيقة تحدّد قواعد كل قسمٍ وحدوده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وثائق الميزات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وثيقة تشرح كل ميزةٍ وسلوكها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وثائق العقود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وثيقة لمنظومة العقود والأجهزة وحدها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القرارات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قرارٍ جوهري: سببه، وبدائله المرفوضة، وأثره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834640"/>
            <a:ext cx="5358384" cy="2240280"/>
          </a:xfrm>
          <a:prstGeom prst="roundRect">
            <a:avLst>
              <a:gd name="adj" fmla="val 3265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" y="29718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ولماذا تُعدّ مُخرَجاً مُسلَّماً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13816" y="3401568"/>
            <a:ext cx="491947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ثبات السياسة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مكتوبة، فلا تتبدّل بقرارٍ يومي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استمرارية المعرفة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المعرفة في الوثيقة لا في ذاكرة شخص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قابلية التطوير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تعديلٍ لاحق يُقاس على قاعدةٍ معلومة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يمكنكم مراجعة أي قاعدةٍ واعتراضها كتابةً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أعمالٌ أُنجزت سبقاً لنطاق المرحلة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2712" y="14630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الدفعات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463040"/>
            <a:ext cx="6986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 عشر جدولاً مالياً مترابطاً: أقساط العقود، وقيود الدفع، والمستحقات بأربع حالات، وأقساط الصيانة الطارئة والضمان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88336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82712" y="2688336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المقايضة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688336"/>
            <a:ext cx="6986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خدمة مستقلة باختباراتها، وحقولها في نموذج العقد وتفاصيله وقائمته، ولها تفصيلٌ في طبقة التقارير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913632"/>
            <a:ext cx="1097280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82712" y="39136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الأسماء المقترحة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3913632"/>
            <a:ext cx="6986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نطاقٌ كامل بجداوله وحالاته الست ومؤشراته الأربعة، وكان مقرّراً لما بعد هذه المرحلة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52578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نطاقاتٍ كانت مقرّرةً للمرحلة القادمة، أُنجزت داخل هذه المرحلة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spc="100" kern="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الثالث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النطاق والاعتماد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3749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داخل نطاق هذا التسليم، وما هو خارجه بقرارٍ معلَن.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0243D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خارج نطاق هذه المرحلة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82712" y="13716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دون اتصال بالإنترنت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371600"/>
            <a:ext cx="6986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يُنفَّذ في هذه المرحلة. ومزامنة العمل دون اتصال تستلزم مهاماً محدّدة الأنواع، ونتائج منظّمة لكل نوع، وقواعد لفضّ التعارض بين نسختين — وهو ما أُسّس في هذه المرحلة بالضبط. لم يكن ممكناً قبلها، وأصبح ممكناً الآن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88336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82712" y="2688336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مستقل للفني والمشرفة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688336"/>
            <a:ext cx="6986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سُلّمت تجربتهما داخل النظام على واجهةٍ تعمل على الهاتف المحمول: زياراتي، وتفاصيل الزيارة، وتنبيهات المشرفة. والتطبيق المستقل مرحلةٌ قادمة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005072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82712" y="400507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 مؤجّلة بقرارٍ موثّق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4005072"/>
            <a:ext cx="6986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الضمانات الموحّد في صورته النهائية · مسار فحص المياه غير الموثّق · الأعمال الموكولة إلى طرف تطبيق الهاتف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6EEF3"/>
          </a:solidFill>
          <a:ln w="12700">
            <a:solidFill>
              <a:srgbClr val="E6E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2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تُعلَن منّا قبل أن تُكتشف — وبهذا يكون الاعتماد نهائياً</a:t>
            </a:r>
            <a:endParaRPr lang="en-US" sz="1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36808" y="475488"/>
            <a:ext cx="530352" cy="530352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11036808" y="4754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من هذا الاجتماع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629400" y="137160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0A1829"/>
          </a:solidFill>
          <a:ln w="12700">
            <a:solidFill>
              <a:srgbClr val="1C6E8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12280" y="13716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اللقطة الصامتة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المشهد 19 — الخاتمة</a:t>
            </a:r>
            <a:endParaRPr lang="en-US" sz="1350" dirty="0"/>
          </a:p>
          <a:p>
            <a:pPr rtl="1" algn="ctr"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C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ثانية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596128" cy="1280160"/>
          </a:xfrm>
          <a:prstGeom prst="roundRect">
            <a:avLst>
              <a:gd name="adj" fmla="val 5714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104" y="1508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أولاً: اعتماد المرحلة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2104" y="19476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D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بنطاقها المحدّد كما عُرض، وباستثناءاتها المعلَنة.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5596128" cy="1554480"/>
          </a:xfrm>
          <a:prstGeom prst="roundRect">
            <a:avLst>
              <a:gd name="adj" fmla="val 4706"/>
            </a:avLst>
          </a:prstGeom>
          <a:solidFill>
            <a:srgbClr val="0A1829"/>
          </a:solidFill>
          <a:ln w="12700">
            <a:solidFill>
              <a:srgbClr val="0A1829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" y="29718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ثانياً: بروتوكول المرحلة القادمة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" y="3429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مرجعٌ واحد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يملك حق الحسم لديكم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إيقاعٌ ثابت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لاتخاذ القرارات في مواعيد معلومة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تثبيتٌ كتابي  </a:t>
            </a:r>
            <a:pPr rtl="1" algn="r" indent="0" marL="0">
              <a:lnSpc>
                <a:spcPts val="22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54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لأي قرارٍ قبل تنفيذه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27000" dist="25400" dir="5400000">
              <a:srgbClr val="0A18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6634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حُفظت الروح، واستُبدل الهيكل — وبقي طريقٌ واحد لم نصله بعد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2026-08-19T12:34:55Z</dcterms:created>
  <dcterms:modified xsi:type="dcterms:W3CDTF">2026-08-19T12:34:55Z</dcterms:modified>
</cp:coreProperties>
</file>