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البنية القائمة</c:v>
                </c:pt>
              </c:strCache>
            </c:strRef>
          </c:tx>
          <c:spPr>
            <a:solidFill>
              <a:srgbClr val="A06C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43D"/>
                    </a:solidFill>
                    <a:latin typeface="Duba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المؤشرات والتقارير</c:v>
                  </c:pt>
                  <c:pt idx="1">
                    <c:v>العناصر المرئية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البنية الجديدة</c:v>
                </c:pt>
              </c:strCache>
            </c:strRef>
          </c:tx>
          <c:spPr>
            <a:solidFill>
              <a:srgbClr val="1C6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43D"/>
                    </a:solidFill>
                    <a:latin typeface="Duba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المؤشرات والتقارير</c:v>
                  </c:pt>
                  <c:pt idx="1">
                    <c:v>العناصر المرئية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</c:v>
                </c:pt>
                <c:pt idx="1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0243D"/>
                  </a:solidFill>
                  <a:latin typeface="Duba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4657A"/>
                </a:solidFill>
                <a:latin typeface="Duba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657A"/>
                </a:solidFill>
                <a:latin typeface="Duba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4657A"/>
              </a:solidFill>
              <a:latin typeface="Dubai"/>
              <a:cs typeface="Duba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قواعد الاجتماع: كل عقبة تُعرض على الشاشة تُغلق على الشاشة. المسؤولية تُنسب إلى الأدوات لا إلى الأشخاص. لا شكوى مفتوحة أمام الزبون.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عرض المحتويات يعطي الاجتماع وزنه، ويطمئن الحضور إلى أن الاستثناءات ستُعرض ولن تُخفى.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تُسرع في هذا القسم. الاقتناع بالتشخيص شرطٌ لقبول كل ما يليه.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بالمنهجية لا بالنتيجة. الحضور يقبل الحكم بعد أن يقبل طريقة الوصول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تحمي العرض كله. مالك النظام القائم في القاعة، والإنصاف هو ما يجعله يستمع بدل أن يدافع.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اقرأ الأثر التشغيلي لا الوصف التقني. كل بندٍ هنا مُثبت بصرياً في تقرير المعاينة.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إن أردتَ بنداً خامساً: لوحة النظام تعلن 26,272 عميلاً وشاشة العملاء تعلن 20,914 — لكن تحقّق من التعريفات أولاً وإلا يُدحض في القاعة.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الصورة المموّهة، واصمت عشر ثوان، ثم اقرأ السطر الأخير ببطء. لا تُضف بعده شيئاً.
تحذير: لا تُعرض أي صورة قبل تمويه أسماء العملاء وأرقام هواتفهم.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تُثبت أن الملف لم يكن سجلاً، بل منظومة تشغيل كاملة تعمل بلا قواعد. اذكر التكرار في الأعمدة كدليلٍ على انعدام مصدر الحقيقة الواحد.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الترتيب الثلاثي: لا شيء كان يمنع الكتابة في خانة الغير، ولا شيء يسجّل من كتب، ولا شيء يكتشف ذلك.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تعرض عدد ملفاتٍ لا تملك إسناده. اعرض المعادلة، والحضور يُقدّرون الحجم بأنفسهم.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تصوغ المشكلة بلغة الإدارة لا بلغة التقنية — وهي مفتاح إقناع الزبون الإداري.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يُذكر استيعاب الجهد مرة واحدة فقط، ثم يُنتقل فوراً. التكرار يُقرأ استجداءً للتعاطف ويُضعف موقف الاعتماد.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من هنا يبدأ إثبات حجم العمل. لا تشرح التقنية — اشرح ما أصبح ممكناً ولم يكن.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تُعرض هذه الأرقام افتخاراً، بل جواباً على سؤالٍ واحد: لماذا استغرق العمل ثمانية أشهر.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أوضح شريحة على عمق العمل: كل حالة هنا تعني قاعدة انتقالٍ مكتوبة، وحقولاً إلزامية، وصلاحيةً لمن يُجريها.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تُظهر الانضباط: النظام لا يقبل «سبباً» مكتوباً بحرية في موضع القرار. هذا ما يجعل التقرير قابلاً للثقة.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اربط هذه الشريحة بالتقارير: جودة التقرير تبدأ من باب الإدخال، لا من شاشة التقرير.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أول مرة يكون لمسار المبيعات مؤشرات. الرقم 167,126 من نظامهم هم، فذكره أقوى من أي وصف.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الصياغة المسندة: «مبتورة» لا «متوقفة». نظامهم فيه 20,948 طلباً و13,780 مقابلة، فوصف التوقف يُدحض بالأرقام.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الطبقة لا يلمسها الزبون الإداري، فاربطها بلغته فوراً: هي مصنع البيانات الذي يجعل التقرير صادقاً.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المهمة هي الوحدة التي حلّت مشكلة تداخل النتائج. اشرحها هنا لأن كل ما يليها يقوم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الملفات كان الموعد يُكتب في عمود ثم يُنقل يدوياً إلى ملف آخر. هنا موضع ذكر الإدخال المزدوج.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مهمة عرض الجهاز لم يكن لها وجود في أي موضع سابق: كانت تحدث في الواقع ولا تترك أثراً.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الفصل هو ما جعل الصيانة الدورية والطارئة قابلتين للإدارة أصلاً. اذكره كشرطٍ لما يليه.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الجهاز في البنية القديمة كان سطراً في عقد؛ وأصبح كياناً له تاريخٌ كامل. هذه أوضح شريحة على العمق.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أقوى مقارنة تفصيلية في العرض، لأنها مرئية في صورة الملف ومسندة في بنية النظام معاً.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في الملفات كانت المنظومة المالية عمودين: مبلغ مدفوع وحسم محاسبة. هنا أصبحت 11 جدولاً مترابطاً.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أولوية الزبون الأولى. اعرض اللوحة حيّة إن أمكن — ثلاث دقائق هنا تساوي عشر شرائح.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نطاق الشكاوى لم يكن موجوداً بأي شكل. أربعة عشر جدولاً وثلاثة وثلاثون مفتاح صلاحية لنطاقٍ واحد مؤشرٌ واضح على حجم العمل.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تُظهر الاتساع لا العمق: نطاقات لم تكن مطروحة في الاتفاق الأصلي وبُنيت بالكامل.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الطبقة هي أساس التخطيط الميداني كله. بدونها لا مسارات ولا نطاقات ولا تحليل جغرافي.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أحد بنود الاتفاق الأصلي، وقد سُلّم. اذكره ضمن سياق الإنجاز لا كردٍّ على مطلب.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عنصر «المستخدمين» في البنية القائمة كان معطّلاً بلا رابط. تُذكر كواقعة، دون تعليق.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أقوى شريحة في مواجهة تبدّل الأولويات: النظام لم يحفظ البيانات فقط، بل حفظ السياسة التي تُدار بها.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الشريحة دليل فائض الجهد. تُعرض كإنجازٍ زائد عن النطاق، لا كاستجابةٍ لمطلب.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الانتقال إلى هذا القسم يجب أن يكون واضحاً ومقصوداً — فهو ما يُطلب من الاجتماع.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أهم شريحة في الاجتماع. البند المؤجَّل الذي يُكتشف بعد الاعتماد يُبطل الاعتماد والثقة؛ والمعلَن منّا دليل انضباط.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البروتوكول لا يكلّف الزبون شيئاً، ولذلك يصعب رفضه بعد سماع التشخيص. اختم على اللقطة الصامتة ثم انتظر الجواب.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371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spc="20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GOLDEN CRM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94360" y="1874520"/>
            <a:ext cx="10972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من نظام تسجيل إلى منظومة تشغيل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94360" y="3063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dirty="0">
                <a:solidFill>
                  <a:srgbClr val="C8D6E2"/>
                </a:solidFill>
                <a:latin typeface="Dubai Light" pitchFamily="34" charset="0"/>
                <a:ea typeface="Dubai Light" pitchFamily="34" charset="-122"/>
                <a:cs typeface="Dubai Light" pitchFamily="34" charset="-120"/>
              </a:rPr>
              <a:t>تقرير تسليم المرحلة الأولى واعتمادها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335524" y="5715000"/>
            <a:ext cx="173736" cy="173736"/>
          </a:xfrm>
          <a:prstGeom prst="rect">
            <a:avLst/>
          </a:prstGeom>
          <a:solidFill>
            <a:srgbClr val="A06C2C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77840" y="5715000"/>
            <a:ext cx="173736" cy="173736"/>
          </a:xfrm>
          <a:prstGeom prst="rect">
            <a:avLst/>
          </a:prstGeom>
          <a:solidFill>
            <a:srgbClr val="A06C2C">
              <a:alpha val="2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20156" y="5715000"/>
            <a:ext cx="173736" cy="173736"/>
          </a:xfrm>
          <a:prstGeom prst="rect">
            <a:avLst/>
          </a:prstGeom>
          <a:solidFill>
            <a:srgbClr val="A06C2C">
              <a:alpha val="3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62472" y="5715000"/>
            <a:ext cx="173736" cy="173736"/>
          </a:xfrm>
          <a:prstGeom prst="rect">
            <a:avLst/>
          </a:prstGeom>
          <a:solidFill>
            <a:srgbClr val="A06C2C">
              <a:alpha val="3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4788" y="5715000"/>
            <a:ext cx="173736" cy="173736"/>
          </a:xfrm>
          <a:prstGeom prst="rect">
            <a:avLst/>
          </a:prstGeom>
          <a:solidFill>
            <a:srgbClr val="A06C2C">
              <a:alpha val="4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5715000"/>
            <a:ext cx="173736" cy="173736"/>
          </a:xfrm>
          <a:prstGeom prst="rect">
            <a:avLst/>
          </a:prstGeom>
          <a:solidFill>
            <a:srgbClr val="A06C2C">
              <a:alpha val="4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89420" y="5715000"/>
            <a:ext cx="173736" cy="173736"/>
          </a:xfrm>
          <a:prstGeom prst="rect">
            <a:avLst/>
          </a:prstGeom>
          <a:solidFill>
            <a:srgbClr val="A06C2C">
              <a:alpha val="51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31736" y="5715000"/>
            <a:ext cx="173736" cy="173736"/>
          </a:xfrm>
          <a:prstGeom prst="rect">
            <a:avLst/>
          </a:prstGeom>
          <a:solidFill>
            <a:srgbClr val="A06C2C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74052" y="5715000"/>
            <a:ext cx="173736" cy="173736"/>
          </a:xfrm>
          <a:prstGeom prst="rect">
            <a:avLst/>
          </a:prstGeom>
          <a:solidFill>
            <a:srgbClr val="A06C2C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16368" y="5715000"/>
            <a:ext cx="173736" cy="173736"/>
          </a:xfrm>
          <a:prstGeom prst="rect">
            <a:avLst/>
          </a:prstGeom>
          <a:solidFill>
            <a:srgbClr val="A06C2C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58684" y="5715000"/>
            <a:ext cx="173736" cy="173736"/>
          </a:xfrm>
          <a:prstGeom prst="rect">
            <a:avLst/>
          </a:prstGeom>
          <a:solidFill>
            <a:srgbClr val="A06C2C">
              <a:alpha val="6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01000" y="5715000"/>
            <a:ext cx="173736" cy="173736"/>
          </a:xfrm>
          <a:prstGeom prst="rect">
            <a:avLst/>
          </a:prstGeom>
          <a:solidFill>
            <a:srgbClr val="5A6E7A">
              <a:alpha val="7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43316" y="5715000"/>
            <a:ext cx="173736" cy="173736"/>
          </a:xfrm>
          <a:prstGeom prst="rect">
            <a:avLst/>
          </a:prstGeom>
          <a:solidFill>
            <a:srgbClr val="5A6E7A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85632" y="5715000"/>
            <a:ext cx="173736" cy="173736"/>
          </a:xfrm>
          <a:prstGeom prst="rect">
            <a:avLst/>
          </a:prstGeom>
          <a:solidFill>
            <a:srgbClr val="5A6E7A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7948" y="5715000"/>
            <a:ext cx="173736" cy="173736"/>
          </a:xfrm>
          <a:prstGeom prst="rect">
            <a:avLst/>
          </a:prstGeom>
          <a:solidFill>
            <a:srgbClr val="5A6E7A">
              <a:alpha val="7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70264" y="5715000"/>
            <a:ext cx="173736" cy="173736"/>
          </a:xfrm>
          <a:prstGeom prst="rect">
            <a:avLst/>
          </a:prstGeom>
          <a:solidFill>
            <a:srgbClr val="1C6E8C">
              <a:alpha val="6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12580" y="5715000"/>
            <a:ext cx="173736" cy="173736"/>
          </a:xfrm>
          <a:prstGeom prst="rect">
            <a:avLst/>
          </a:prstGeom>
          <a:solidFill>
            <a:srgbClr val="1C6E8C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454896" y="5715000"/>
            <a:ext cx="173736" cy="173736"/>
          </a:xfrm>
          <a:prstGeom prst="rect">
            <a:avLst/>
          </a:prstGeom>
          <a:solidFill>
            <a:srgbClr val="1C6E8C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97212" y="5715000"/>
            <a:ext cx="173736" cy="173736"/>
          </a:xfrm>
          <a:prstGeom prst="rect">
            <a:avLst/>
          </a:prstGeom>
          <a:solidFill>
            <a:srgbClr val="1C6E8C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939528" y="5715000"/>
            <a:ext cx="173736" cy="173736"/>
          </a:xfrm>
          <a:prstGeom prst="rect">
            <a:avLst/>
          </a:prstGeom>
          <a:solidFill>
            <a:srgbClr val="1C6E8C">
              <a:alpha val="51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81844" y="5715000"/>
            <a:ext cx="173736" cy="173736"/>
          </a:xfrm>
          <a:prstGeom prst="rect">
            <a:avLst/>
          </a:prstGeom>
          <a:solidFill>
            <a:srgbClr val="1C6E8C">
              <a:alpha val="4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424160" y="5715000"/>
            <a:ext cx="173736" cy="173736"/>
          </a:xfrm>
          <a:prstGeom prst="rect">
            <a:avLst/>
          </a:prstGeom>
          <a:solidFill>
            <a:srgbClr val="1C6E8C">
              <a:alpha val="4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666476" y="5715000"/>
            <a:ext cx="173736" cy="173736"/>
          </a:xfrm>
          <a:prstGeom prst="rect">
            <a:avLst/>
          </a:prstGeom>
          <a:solidFill>
            <a:srgbClr val="1C6E8C">
              <a:alpha val="3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908792" y="5715000"/>
            <a:ext cx="173736" cy="173736"/>
          </a:xfrm>
          <a:prstGeom prst="rect">
            <a:avLst/>
          </a:prstGeom>
          <a:solidFill>
            <a:srgbClr val="1C6E8C">
              <a:alpha val="3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51108" y="5715000"/>
            <a:ext cx="173736" cy="173736"/>
          </a:xfrm>
          <a:prstGeom prst="rect">
            <a:avLst/>
          </a:prstGeom>
          <a:solidFill>
            <a:srgbClr val="1C6E8C">
              <a:alpha val="2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393424" y="5715000"/>
            <a:ext cx="173736" cy="173736"/>
          </a:xfrm>
          <a:prstGeom prst="rect">
            <a:avLst/>
          </a:prstGeom>
          <a:solidFill>
            <a:srgbClr val="1C6E8C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3886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A9BDCE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ثمانية أشهر من العمل المتواصل، آب ‏2026‏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محتويات العرض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8080248" y="1768450"/>
            <a:ext cx="3486912" cy="4101084"/>
          </a:xfrm>
          <a:prstGeom prst="roundRect">
            <a:avLst>
              <a:gd name="adj" fmla="val 1836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81416" y="1936699"/>
            <a:ext cx="3084576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أولاً، التشخيص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81416" y="2399386"/>
            <a:ext cx="3084576" cy="332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نطاق المعاينة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منهجية التشخيص ومصادره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البنية القائمة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كانت تؤدّيه فعلاً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تسع فجوات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مُثبتة بصرياً في المعاينة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الطبقة الموازية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تشريح الملف التشغيلي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توزيع المسؤوليات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الصلاحية كسطر في رأس جدول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الأثر الإداري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القرار يُتخذ على الملف لا على الحقيقة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قرار إعادة التأسيس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لحظة تغيّر المنهج</a:t>
            </a:r>
            <a:endParaRPr lang="en-US" sz="1380" dirty="0"/>
          </a:p>
        </p:txBody>
      </p:sp>
      <p:sp>
        <p:nvSpPr>
          <p:cNvPr id="6" name="Shape 4"/>
          <p:cNvSpPr/>
          <p:nvPr/>
        </p:nvSpPr>
        <p:spPr>
          <a:xfrm>
            <a:off x="4337304" y="1768450"/>
            <a:ext cx="3486912" cy="4101084"/>
          </a:xfrm>
          <a:prstGeom prst="roundRect">
            <a:avLst>
              <a:gd name="adj" fmla="val 1836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38472" y="1936699"/>
            <a:ext cx="3084576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ثانياً، ما بُني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38472" y="2399386"/>
            <a:ext cx="3084576" cy="332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حجم الإنجاز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الأرقام الإجمالية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آلات الحالة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‏11‏ دورة حياة و‏79‏ حالة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القوائم المرجعية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‏68‏ قائمة مُدارة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العملاء والأسماء المقترحة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ضبط المصدر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التوظيف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‏16‏ حالة لطلب واحد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إدارة عمل الفرع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الطبقة الأعقد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المهام والزيارات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الفصل بين الزيارة ونتيجتها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العقود والأجهزة والصيانة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الفصل والسجلات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المالية والتقارير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القيد والمؤشر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الشكاوى والتطبيق والصلاحيات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نطاقات مستقلة</a:t>
            </a:r>
            <a:endParaRPr lang="en-US" sz="1380" dirty="0"/>
          </a:p>
        </p:txBody>
      </p:sp>
      <p:sp>
        <p:nvSpPr>
          <p:cNvPr id="9" name="Shape 7"/>
          <p:cNvSpPr/>
          <p:nvPr/>
        </p:nvSpPr>
        <p:spPr>
          <a:xfrm>
            <a:off x="594360" y="1768450"/>
            <a:ext cx="3486912" cy="4101084"/>
          </a:xfrm>
          <a:prstGeom prst="roundRect">
            <a:avLst>
              <a:gd name="adj" fmla="val 1836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" y="1936699"/>
            <a:ext cx="3084576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ثالثاً، النطاق والاعتماد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399386"/>
            <a:ext cx="3084576" cy="332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أعمال سبقاً للنطاق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ثلاثة نطاقات كانت للمرحلة القادمة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خارج النطاق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لم يُنفَّذ، بقرار معلَن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نطاق الاعتماد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المطلوب من الاجتماع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بروتوكول المرحلة القادمة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مرجع واحد وإيقاع ثابت وتثبيت كتابي</a:t>
            </a:r>
            <a:endParaRPr lang="en-US" sz="13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82296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0" b="1" dirty="0">
                <a:solidFill>
                  <a:srgbClr val="17324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‏01‏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94360" y="288036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spc="10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القسم الأول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94360" y="33375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تشخيص البنية القائمة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594360" y="44348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BDCE"/>
                </a:solidFill>
                <a:latin typeface="Dubai Light" pitchFamily="34" charset="0"/>
                <a:ea typeface="Dubai Light" pitchFamily="34" charset="-122"/>
                <a:cs typeface="Dubai Light" pitchFamily="34" charset="-120"/>
              </a:rPr>
              <a:t>ما وجدناه عند المباشرة، وما استوجب إعادة النظر في المنهج بالكامل.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335524" y="5806440"/>
            <a:ext cx="173736" cy="173736"/>
          </a:xfrm>
          <a:prstGeom prst="rect">
            <a:avLst/>
          </a:prstGeom>
          <a:solidFill>
            <a:srgbClr val="A06C2C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5806440"/>
            <a:ext cx="173736" cy="173736"/>
          </a:xfrm>
          <a:prstGeom prst="rect">
            <a:avLst/>
          </a:prstGeom>
          <a:solidFill>
            <a:srgbClr val="A06C2C">
              <a:alpha val="2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20156" y="5806440"/>
            <a:ext cx="173736" cy="173736"/>
          </a:xfrm>
          <a:prstGeom prst="rect">
            <a:avLst/>
          </a:prstGeom>
          <a:solidFill>
            <a:srgbClr val="A06C2C">
              <a:alpha val="3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62472" y="5806440"/>
            <a:ext cx="173736" cy="173736"/>
          </a:xfrm>
          <a:prstGeom prst="rect">
            <a:avLst/>
          </a:prstGeom>
          <a:solidFill>
            <a:srgbClr val="A06C2C">
              <a:alpha val="3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4788" y="5806440"/>
            <a:ext cx="173736" cy="173736"/>
          </a:xfrm>
          <a:prstGeom prst="rect">
            <a:avLst/>
          </a:prstGeom>
          <a:solidFill>
            <a:srgbClr val="A06C2C">
              <a:alpha val="4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47104" y="5806440"/>
            <a:ext cx="173736" cy="173736"/>
          </a:xfrm>
          <a:prstGeom prst="rect">
            <a:avLst/>
          </a:prstGeom>
          <a:solidFill>
            <a:srgbClr val="A06C2C">
              <a:alpha val="4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89420" y="5806440"/>
            <a:ext cx="173736" cy="173736"/>
          </a:xfrm>
          <a:prstGeom prst="rect">
            <a:avLst/>
          </a:prstGeom>
          <a:solidFill>
            <a:srgbClr val="A06C2C">
              <a:alpha val="51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31736" y="5806440"/>
            <a:ext cx="173736" cy="173736"/>
          </a:xfrm>
          <a:prstGeom prst="rect">
            <a:avLst/>
          </a:prstGeom>
          <a:solidFill>
            <a:srgbClr val="A06C2C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4052" y="5806440"/>
            <a:ext cx="173736" cy="173736"/>
          </a:xfrm>
          <a:prstGeom prst="rect">
            <a:avLst/>
          </a:prstGeom>
          <a:solidFill>
            <a:srgbClr val="A06C2C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16368" y="5806440"/>
            <a:ext cx="173736" cy="173736"/>
          </a:xfrm>
          <a:prstGeom prst="rect">
            <a:avLst/>
          </a:prstGeom>
          <a:solidFill>
            <a:srgbClr val="A06C2C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58684" y="5806440"/>
            <a:ext cx="173736" cy="173736"/>
          </a:xfrm>
          <a:prstGeom prst="rect">
            <a:avLst/>
          </a:prstGeom>
          <a:solidFill>
            <a:srgbClr val="A06C2C">
              <a:alpha val="6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01000" y="5806440"/>
            <a:ext cx="173736" cy="173736"/>
          </a:xfrm>
          <a:prstGeom prst="rect">
            <a:avLst/>
          </a:prstGeom>
          <a:solidFill>
            <a:srgbClr val="5A6E7A">
              <a:alpha val="7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43316" y="5806440"/>
            <a:ext cx="173736" cy="173736"/>
          </a:xfrm>
          <a:prstGeom prst="rect">
            <a:avLst/>
          </a:prstGeom>
          <a:solidFill>
            <a:srgbClr val="5A6E7A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85632" y="5806440"/>
            <a:ext cx="173736" cy="173736"/>
          </a:xfrm>
          <a:prstGeom prst="rect">
            <a:avLst/>
          </a:prstGeom>
          <a:solidFill>
            <a:srgbClr val="5A6E7A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27948" y="5806440"/>
            <a:ext cx="173736" cy="173736"/>
          </a:xfrm>
          <a:prstGeom prst="rect">
            <a:avLst/>
          </a:prstGeom>
          <a:solidFill>
            <a:srgbClr val="5A6E7A">
              <a:alpha val="7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70264" y="5806440"/>
            <a:ext cx="173736" cy="173736"/>
          </a:xfrm>
          <a:prstGeom prst="rect">
            <a:avLst/>
          </a:prstGeom>
          <a:solidFill>
            <a:srgbClr val="1C6E8C">
              <a:alpha val="6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12580" y="5806440"/>
            <a:ext cx="173736" cy="173736"/>
          </a:xfrm>
          <a:prstGeom prst="rect">
            <a:avLst/>
          </a:prstGeom>
          <a:solidFill>
            <a:srgbClr val="1C6E8C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54896" y="5806440"/>
            <a:ext cx="173736" cy="173736"/>
          </a:xfrm>
          <a:prstGeom prst="rect">
            <a:avLst/>
          </a:prstGeom>
          <a:solidFill>
            <a:srgbClr val="1C6E8C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7212" y="5806440"/>
            <a:ext cx="173736" cy="173736"/>
          </a:xfrm>
          <a:prstGeom prst="rect">
            <a:avLst/>
          </a:prstGeom>
          <a:solidFill>
            <a:srgbClr val="1C6E8C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939528" y="5806440"/>
            <a:ext cx="173736" cy="173736"/>
          </a:xfrm>
          <a:prstGeom prst="rect">
            <a:avLst/>
          </a:prstGeom>
          <a:solidFill>
            <a:srgbClr val="1C6E8C">
              <a:alpha val="51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181844" y="5806440"/>
            <a:ext cx="173736" cy="173736"/>
          </a:xfrm>
          <a:prstGeom prst="rect">
            <a:avLst/>
          </a:prstGeom>
          <a:solidFill>
            <a:srgbClr val="1C6E8C">
              <a:alpha val="4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424160" y="5806440"/>
            <a:ext cx="173736" cy="173736"/>
          </a:xfrm>
          <a:prstGeom prst="rect">
            <a:avLst/>
          </a:prstGeom>
          <a:solidFill>
            <a:srgbClr val="1C6E8C">
              <a:alpha val="4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66476" y="5806440"/>
            <a:ext cx="173736" cy="173736"/>
          </a:xfrm>
          <a:prstGeom prst="rect">
            <a:avLst/>
          </a:prstGeom>
          <a:solidFill>
            <a:srgbClr val="1C6E8C">
              <a:alpha val="3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908792" y="5806440"/>
            <a:ext cx="173736" cy="173736"/>
          </a:xfrm>
          <a:prstGeom prst="rect">
            <a:avLst/>
          </a:prstGeom>
          <a:solidFill>
            <a:srgbClr val="1C6E8C">
              <a:alpha val="3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151108" y="5806440"/>
            <a:ext cx="173736" cy="173736"/>
          </a:xfrm>
          <a:prstGeom prst="rect">
            <a:avLst/>
          </a:prstGeom>
          <a:solidFill>
            <a:srgbClr val="1C6E8C">
              <a:alpha val="2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393424" y="5806440"/>
            <a:ext cx="173736" cy="173736"/>
          </a:xfrm>
          <a:prstGeom prst="rect">
            <a:avLst/>
          </a:prstGeom>
          <a:solidFill>
            <a:srgbClr val="1C6E8C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التشخيص · ‏1‏ من ‏10‏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نطاق المعاينة ومنهجيتها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9015984" y="1474013"/>
            <a:ext cx="2551176" cy="1682496"/>
          </a:xfrm>
          <a:prstGeom prst="roundRect">
            <a:avLst>
              <a:gd name="adj" fmla="val 3804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07424" y="1652778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A06C2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‏39‏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0" y="2415318"/>
            <a:ext cx="2295144" cy="615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عنصراً في قوائم النظام القائم، حُصرت كاملة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208776" y="1474013"/>
            <a:ext cx="2551176" cy="1682496"/>
          </a:xfrm>
          <a:prstGeom prst="roundRect">
            <a:avLst>
              <a:gd name="adj" fmla="val 3804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0216" y="1652778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A06C2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‏30‏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336792" y="2415318"/>
            <a:ext cx="2295144" cy="615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صفحة فُتحت وعُوينت فعلياً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401568" y="1474013"/>
            <a:ext cx="2551176" cy="1682496"/>
          </a:xfrm>
          <a:prstGeom prst="roundRect">
            <a:avLst>
              <a:gd name="adj" fmla="val 3804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93008" y="1652778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A06C2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‏35‏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529584" y="2415318"/>
            <a:ext cx="2295144" cy="615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عموداً في تبويب واحد من الملفات التشغيلية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594360" y="1474013"/>
            <a:ext cx="2551176" cy="1682496"/>
          </a:xfrm>
          <a:prstGeom prst="roundRect">
            <a:avLst>
              <a:gd name="adj" fmla="val 3804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1652778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‏158‏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22376" y="2415318"/>
            <a:ext cx="2295144" cy="6150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جدولاً في البنية الجديدة، جُردت من الكود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208776" y="3419399"/>
            <a:ext cx="5358384" cy="2734056"/>
          </a:xfrm>
          <a:prstGeom prst="roundRect">
            <a:avLst>
              <a:gd name="adj" fmla="val 2341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9944" y="3587648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منهجية التشخيص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9944" y="4050335"/>
            <a:ext cx="4956048" cy="1955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قراءة فقط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دون تعديل أي سجل ودون إرسال أي نموذج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حماية البيانات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لم يُنسخ أي اسم أو رقم هاتف أو عنوان لعميل أو موظف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الأرقام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إجماليات وعدّادات سجلات وأسماء أعمدة فقط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التحفّظ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كل نتيجة غير مؤكّدة بصرياً مؤشَّرة صراحةً بذلك</a:t>
            </a:r>
            <a:endParaRPr lang="en-US" sz="1380" dirty="0"/>
          </a:p>
        </p:txBody>
      </p:sp>
      <p:sp>
        <p:nvSpPr>
          <p:cNvPr id="21" name="Shape 19"/>
          <p:cNvSpPr/>
          <p:nvPr/>
        </p:nvSpPr>
        <p:spPr>
          <a:xfrm>
            <a:off x="594360" y="3419399"/>
            <a:ext cx="5358384" cy="2734056"/>
          </a:xfrm>
          <a:prstGeom prst="roundRect">
            <a:avLst>
              <a:gd name="adj" fmla="val 2341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" y="3587648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مصادر الاستدلال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95528" y="4050335"/>
            <a:ext cx="4956048" cy="1955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النظام القائم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كل عنصر ظاهر في القوائم وقوائمها الفرعية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الملفات التشغيلية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معاينة بنية الملف الموازي وأعمدته ومسؤولياته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البنية الجديدة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جرد آلي كامل للكود وقاعدة البيانات والوثائق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 القرارات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مراجعة القرارات الموثّقة التسعة عشر</a:t>
            </a:r>
            <a:endParaRPr lang="en-US" sz="13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التشخيص · ‏2‏ من ‏10‏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كانت البنية القائمة تؤدّيه فعلاً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9015984" y="1705356"/>
            <a:ext cx="2551176" cy="1577340"/>
          </a:xfrm>
          <a:prstGeom prst="roundRect">
            <a:avLst>
              <a:gd name="adj" fmla="val 4058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07424" y="1884121"/>
            <a:ext cx="2368296" cy="720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20" b="1" dirty="0">
                <a:solidFill>
                  <a:srgbClr val="A06C2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‏30‏</a:t>
            </a:r>
            <a:endParaRPr lang="en-US" sz="3820" dirty="0"/>
          </a:p>
        </p:txBody>
      </p:sp>
      <p:sp>
        <p:nvSpPr>
          <p:cNvPr id="8" name="Text 6"/>
          <p:cNvSpPr/>
          <p:nvPr/>
        </p:nvSpPr>
        <p:spPr>
          <a:xfrm>
            <a:off x="9144000" y="2678527"/>
            <a:ext cx="2295144" cy="477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صفحة عاملة ببيانات حقيقية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208776" y="1705356"/>
            <a:ext cx="2551176" cy="1577340"/>
          </a:xfrm>
          <a:prstGeom prst="roundRect">
            <a:avLst>
              <a:gd name="adj" fmla="val 4058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0216" y="1884121"/>
            <a:ext cx="2368296" cy="720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20" b="1" dirty="0">
                <a:solidFill>
                  <a:srgbClr val="A06C2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‏45‏</a:t>
            </a:r>
            <a:endParaRPr lang="en-US" sz="3820" dirty="0"/>
          </a:p>
        </p:txBody>
      </p:sp>
      <p:sp>
        <p:nvSpPr>
          <p:cNvPr id="11" name="Text 9"/>
          <p:cNvSpPr/>
          <p:nvPr/>
        </p:nvSpPr>
        <p:spPr>
          <a:xfrm>
            <a:off x="6336792" y="2678527"/>
            <a:ext cx="2295144" cy="477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تقريراً على ستة تصنيفات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401568" y="1705356"/>
            <a:ext cx="2551176" cy="1577340"/>
          </a:xfrm>
          <a:prstGeom prst="roundRect">
            <a:avLst>
              <a:gd name="adj" fmla="val 4058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93008" y="1884121"/>
            <a:ext cx="2368296" cy="720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20" b="1" dirty="0">
                <a:solidFill>
                  <a:srgbClr val="A06C2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‏18‏</a:t>
            </a:r>
            <a:endParaRPr lang="en-US" sz="3820" dirty="0"/>
          </a:p>
        </p:txBody>
      </p:sp>
      <p:sp>
        <p:nvSpPr>
          <p:cNvPr id="14" name="Text 12"/>
          <p:cNvSpPr/>
          <p:nvPr/>
        </p:nvSpPr>
        <p:spPr>
          <a:xfrm>
            <a:off x="3529584" y="2678527"/>
            <a:ext cx="2295144" cy="477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قائمة مرجعية منظّمة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594360" y="1705356"/>
            <a:ext cx="2551176" cy="1577340"/>
          </a:xfrm>
          <a:prstGeom prst="roundRect">
            <a:avLst>
              <a:gd name="adj" fmla="val 4058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1884121"/>
            <a:ext cx="2368296" cy="720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20" b="1" dirty="0">
                <a:solidFill>
                  <a:srgbClr val="A06C2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‏6‏</a:t>
            </a:r>
            <a:endParaRPr lang="en-US" sz="3820" dirty="0"/>
          </a:p>
        </p:txBody>
      </p:sp>
      <p:sp>
        <p:nvSpPr>
          <p:cNvPr id="17" name="Text 15"/>
          <p:cNvSpPr/>
          <p:nvPr/>
        </p:nvSpPr>
        <p:spPr>
          <a:xfrm>
            <a:off x="722376" y="2678527"/>
            <a:ext cx="2295144" cy="477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فروع عاملة على النظام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208776" y="3545586"/>
            <a:ext cx="5358384" cy="2260854"/>
          </a:xfrm>
          <a:prstGeom prst="roundRect">
            <a:avLst>
              <a:gd name="adj" fmla="val 2831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9944" y="3713836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قدراتٌ كانت موجودة فعلاً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9944" y="4176522"/>
            <a:ext cx="4956048" cy="1482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محرّر صلاحيات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على مستوى العملية، لا تسميات شكلية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حقول الإسناد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مندوب التسويق، والمشرفة، وفني الصيانة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تفصيل الصيانة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القطع المستبدلة بالاسم والعدد، والمبلغ المدفوع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حجم بيانات ضخم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‏188,040‏ عميلاً و‏283,928‏ زيارة صيانة</a:t>
            </a:r>
            <a:endParaRPr lang="en-US" sz="1380" dirty="0"/>
          </a:p>
        </p:txBody>
      </p:sp>
      <p:sp>
        <p:nvSpPr>
          <p:cNvPr id="21" name="Shape 19"/>
          <p:cNvSpPr/>
          <p:nvPr/>
        </p:nvSpPr>
        <p:spPr>
          <a:xfrm>
            <a:off x="594360" y="3545586"/>
            <a:ext cx="5358384" cy="2260854"/>
          </a:xfrm>
          <a:prstGeom prst="roundRect">
            <a:avLst>
              <a:gd name="adj" fmla="val 2831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" y="3713836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وطبيعة ما بُني له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95528" y="4176522"/>
            <a:ext cx="4956048" cy="1482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منظومة تسجيل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تُدوّن ما حدث بعد حدوثه، وتُتقن ذلك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 منظومة تشغيل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 توجّه العمل قبل حدوثه ولا تلاحقه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الخلاصة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البنية القائمة لم تكن قاصرةً عمّا أُنشئت له</a:t>
            </a:r>
            <a:endParaRPr lang="en-US" sz="13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التشخيص · ‏3‏ من ‏10‏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الفجوات المُثبتة ‏—‏ انعدام أدوات الإدارة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369794"/>
            <a:ext cx="10972800" cy="878284"/>
          </a:xfrm>
          <a:prstGeom prst="roundRect">
            <a:avLst>
              <a:gd name="adj" fmla="val 7288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982712" y="1369794"/>
            <a:ext cx="3383280" cy="878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44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انعدام سجل التعديلات</a:t>
            </a:r>
            <a:endParaRPr lang="en-US" sz="1440" dirty="0"/>
          </a:p>
        </p:txBody>
      </p:sp>
      <p:sp>
        <p:nvSpPr>
          <p:cNvPr id="8" name="Text 6"/>
          <p:cNvSpPr/>
          <p:nvPr/>
        </p:nvSpPr>
        <p:spPr>
          <a:xfrm>
            <a:off x="795528" y="1369794"/>
            <a:ext cx="6986016" cy="878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 يوجد على أي كيان سجلٌّ يُبيّن من عدّل ومتى وما الذي تغيّر ‏—‏ فلا مساءلة ولا تتبّع للنزاع. وصفحة الأدوار وحدها تعرض تاريخ إنشاءٍ وتعديل دون بيان من عدّل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94360" y="2362255"/>
            <a:ext cx="10972800" cy="878284"/>
          </a:xfrm>
          <a:prstGeom prst="roundRect">
            <a:avLst>
              <a:gd name="adj" fmla="val 72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82712" y="2362255"/>
            <a:ext cx="3383280" cy="878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44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غياب حالات سير العمل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95528" y="2362255"/>
            <a:ext cx="6986016" cy="878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الغالب في النظام تبديلٌ ثنائي بين فعّال وغير فعّال، ومعه حقول نتيجةٍ متفرّقة لكل نموذج على حدة ‏—‏ دون حالةٍ موحّدة تُبيّن موقع العمل في مساره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3354715"/>
            <a:ext cx="10972800" cy="878284"/>
          </a:xfrm>
          <a:prstGeom prst="roundRect">
            <a:avLst>
              <a:gd name="adj" fmla="val 7288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82712" y="3354715"/>
            <a:ext cx="3383280" cy="878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44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انعدام التنبيهات</a:t>
            </a:r>
            <a:endParaRPr lang="en-US" sz="1440" dirty="0"/>
          </a:p>
        </p:txBody>
      </p:sp>
      <p:sp>
        <p:nvSpPr>
          <p:cNvPr id="14" name="Text 12"/>
          <p:cNvSpPr/>
          <p:nvPr/>
        </p:nvSpPr>
        <p:spPr>
          <a:xfrm>
            <a:off x="795528" y="3354715"/>
            <a:ext cx="6986016" cy="878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 إشعار ولا تذكير ولا عدّاد في أي صفحة من الصفحات الثلاثين. الشريط العلوي يحوي الساعة والفرع والقسم والملف الشخصي فحسب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347176"/>
            <a:ext cx="10972800" cy="878284"/>
          </a:xfrm>
          <a:prstGeom prst="roundRect">
            <a:avLst>
              <a:gd name="adj" fmla="val 72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82712" y="4347176"/>
            <a:ext cx="3383280" cy="878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44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غياب العرض المرئي</a:t>
            </a:r>
            <a:endParaRPr lang="en-US" sz="1440" dirty="0"/>
          </a:p>
        </p:txBody>
      </p:sp>
      <p:sp>
        <p:nvSpPr>
          <p:cNvPr id="17" name="Text 15"/>
          <p:cNvSpPr/>
          <p:nvPr/>
        </p:nvSpPr>
        <p:spPr>
          <a:xfrm>
            <a:off x="795528" y="4347176"/>
            <a:ext cx="6986016" cy="878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خمسةٌ وأربعون تقريراً، كلها جداول أرقام نصية مع مرشّح مدى تاريخي، دون رسمٍ بيانيٍّ واحد في النظام كله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" y="5339636"/>
            <a:ext cx="10972800" cy="878284"/>
          </a:xfrm>
          <a:prstGeom prst="roundRect">
            <a:avLst>
              <a:gd name="adj" fmla="val 7288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982712" y="5339636"/>
            <a:ext cx="3383280" cy="878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44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انعدام التقويم والتصدير</a:t>
            </a:r>
            <a:endParaRPr lang="en-US" sz="1440" dirty="0"/>
          </a:p>
        </p:txBody>
      </p:sp>
      <p:sp>
        <p:nvSpPr>
          <p:cNvPr id="20" name="Text 18"/>
          <p:cNvSpPr/>
          <p:nvPr/>
        </p:nvSpPr>
        <p:spPr>
          <a:xfrm>
            <a:off x="795528" y="5339636"/>
            <a:ext cx="6986016" cy="878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الجدولة حقول تاريخ داخل نماذج، ولا تقويم مرئي في أي قسم، ولا زرّ تصدير أو طباعة في القوائم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التشخيص · ‏4‏ من ‏10‏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‏4‏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وفجوات تمسّ صحة البيانات نفسها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371177"/>
            <a:ext cx="10972800" cy="978408"/>
          </a:xfrm>
          <a:prstGeom prst="roundRect">
            <a:avLst>
              <a:gd name="adj" fmla="val 6542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982712" y="1371177"/>
            <a:ext cx="33832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9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إدارة المستخدمين معطّلة</a:t>
            </a:r>
            <a:endParaRPr lang="en-US" sz="1490" dirty="0"/>
          </a:p>
        </p:txBody>
      </p:sp>
      <p:sp>
        <p:nvSpPr>
          <p:cNvPr id="8" name="Text 6"/>
          <p:cNvSpPr/>
          <p:nvPr/>
        </p:nvSpPr>
        <p:spPr>
          <a:xfrm>
            <a:off x="795528" y="1371177"/>
            <a:ext cx="69860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29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عنصر »المستخدمين« يظهر في القائمة الفرعية بخطٍّ باهت، دون أي رابط في الكود، ولا يؤدّي النقر عليه إلى أي صفحة</a:t>
            </a:r>
            <a:endParaRPr lang="en-US" sz="1290" dirty="0"/>
          </a:p>
        </p:txBody>
      </p:sp>
      <p:sp>
        <p:nvSpPr>
          <p:cNvPr id="9" name="Shape 7"/>
          <p:cNvSpPr/>
          <p:nvPr/>
        </p:nvSpPr>
        <p:spPr>
          <a:xfrm>
            <a:off x="594360" y="2467356"/>
            <a:ext cx="10972800" cy="978408"/>
          </a:xfrm>
          <a:prstGeom prst="roundRect">
            <a:avLst>
              <a:gd name="adj" fmla="val 65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82712" y="2467356"/>
            <a:ext cx="33832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9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شاشة تعرض نتيجةً مخالفة لبياناتها</a:t>
            </a:r>
            <a:endParaRPr lang="en-US" sz="1490" dirty="0"/>
          </a:p>
        </p:txBody>
      </p:sp>
      <p:sp>
        <p:nvSpPr>
          <p:cNvPr id="11" name="Text 9"/>
          <p:cNvSpPr/>
          <p:nvPr/>
        </p:nvSpPr>
        <p:spPr>
          <a:xfrm>
            <a:off x="795528" y="2467356"/>
            <a:ext cx="69860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29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شاشة »طالبي وظائف« تعرض صفر نتيجة ورسالة »لم يتم العثور على سجلات« مع إعلانها في العنوان عن ‏20,521‏ مدخلاً، دون أي مرشّح مفعَّل</a:t>
            </a:r>
            <a:endParaRPr lang="en-US" sz="1290" dirty="0"/>
          </a:p>
        </p:txBody>
      </p:sp>
      <p:sp>
        <p:nvSpPr>
          <p:cNvPr id="12" name="Shape 10"/>
          <p:cNvSpPr/>
          <p:nvPr/>
        </p:nvSpPr>
        <p:spPr>
          <a:xfrm>
            <a:off x="594360" y="3563535"/>
            <a:ext cx="10972800" cy="978408"/>
          </a:xfrm>
          <a:prstGeom prst="roundRect">
            <a:avLst>
              <a:gd name="adj" fmla="val 6542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82712" y="3563535"/>
            <a:ext cx="33832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9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إدخال مزدوج مُثبت</a:t>
            </a:r>
            <a:endParaRPr lang="en-US" sz="1490" dirty="0"/>
          </a:p>
        </p:txBody>
      </p:sp>
      <p:sp>
        <p:nvSpPr>
          <p:cNvPr id="14" name="Text 12"/>
          <p:cNvSpPr/>
          <p:nvPr/>
        </p:nvSpPr>
        <p:spPr>
          <a:xfrm>
            <a:off x="795528" y="3563535"/>
            <a:ext cx="69860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29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رقم الهاتف الجوال يُحفظ مرتين في صفحة العميل نفسها:‏ في أعلى الصفحة، ثم كسطرٍ منفصل في جدول وسائل الاتصال، بأزرار إضافةٍ وحذفٍ منفصلة</a:t>
            </a:r>
            <a:endParaRPr lang="en-US" sz="1290" dirty="0"/>
          </a:p>
        </p:txBody>
      </p:sp>
      <p:sp>
        <p:nvSpPr>
          <p:cNvPr id="15" name="Shape 13"/>
          <p:cNvSpPr/>
          <p:nvPr/>
        </p:nvSpPr>
        <p:spPr>
          <a:xfrm>
            <a:off x="594360" y="4659715"/>
            <a:ext cx="10972800" cy="978408"/>
          </a:xfrm>
          <a:prstGeom prst="roundRect">
            <a:avLst>
              <a:gd name="adj" fmla="val 65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82712" y="4659715"/>
            <a:ext cx="33832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49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بيانات غير منضبطة الشكل</a:t>
            </a:r>
            <a:endParaRPr lang="en-US" sz="1490" dirty="0"/>
          </a:p>
        </p:txBody>
      </p:sp>
      <p:sp>
        <p:nvSpPr>
          <p:cNvPr id="17" name="Text 15"/>
          <p:cNvSpPr/>
          <p:nvPr/>
        </p:nvSpPr>
        <p:spPr>
          <a:xfrm>
            <a:off x="795528" y="4659715"/>
            <a:ext cx="69860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29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قيمٌ في حقل وسيلة الاتصال تحوي أكثر من رقم هاتف متتالٍ دون فاصل، ومسار تخزين الصور يكشف بنيةً تحتية قديمة</a:t>
            </a:r>
            <a:endParaRPr lang="en-US" sz="1290" dirty="0"/>
          </a:p>
        </p:txBody>
      </p:sp>
      <p:sp>
        <p:nvSpPr>
          <p:cNvPr id="18" name="Shape 16"/>
          <p:cNvSpPr/>
          <p:nvPr/>
        </p:nvSpPr>
        <p:spPr>
          <a:xfrm>
            <a:off x="594360" y="5493173"/>
            <a:ext cx="10972800" cy="724747"/>
          </a:xfrm>
          <a:prstGeom prst="roundRect">
            <a:avLst>
              <a:gd name="adj" fmla="val 8832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493173"/>
            <a:ext cx="10424160" cy="724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900"/>
              </a:lnSpc>
              <a:buNone/>
            </a:pPr>
            <a:r>
              <a:rPr lang="en-US" sz="188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وهذه الفجوات تمسّ صحة القرار الإداري، لا شكل الواجهة</a:t>
            </a:r>
            <a:endParaRPr lang="en-US" sz="1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التشخيص · ‏5‏ من ‏10‏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C6E8C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‏5‏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الطبقة التشغيلية الموازية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409944" y="1375799"/>
            <a:ext cx="5157216" cy="3494314"/>
          </a:xfrm>
          <a:prstGeom prst="roundRect">
            <a:avLst>
              <a:gd name="adj" fmla="val 1832"/>
            </a:avLst>
          </a:prstGeom>
          <a:solidFill>
            <a:srgbClr val="0A1829"/>
          </a:solidFill>
          <a:ln w="12700">
            <a:solidFill>
              <a:srgbClr val="1C6E8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592824" y="1375799"/>
            <a:ext cx="4791456" cy="3494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مساحة اللقطة الصامتة</a:t>
            </a:r>
            <a:endParaRPr lang="en-US" sz="1350" dirty="0"/>
          </a:p>
          <a:p>
            <a:pPr rtl="1" algn="ctr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المشهد ‏3‏ ‏—‏ الكوخ الخلفي</a:t>
            </a:r>
            <a:endParaRPr lang="en-US" sz="1350" dirty="0"/>
          </a:p>
          <a:p>
            <a:pPr rtl="1" algn="ctr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‏10‏ ثوان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1375799"/>
            <a:ext cx="5157216" cy="698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en-US" sz="1760" b="1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العمل الفعلي لم يكن يجري داخل النظام، بل في ملفات جداول بيانية خارجه.</a:t>
            </a:r>
            <a:endParaRPr lang="en-US" sz="1760" dirty="0"/>
          </a:p>
        </p:txBody>
      </p:sp>
      <p:sp>
        <p:nvSpPr>
          <p:cNvPr id="9" name="Text 7"/>
          <p:cNvSpPr/>
          <p:nvPr/>
        </p:nvSpPr>
        <p:spPr>
          <a:xfrm>
            <a:off x="594360" y="2174499"/>
            <a:ext cx="5157216" cy="2695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الحجم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‏35‏ عموداً في تبويبٍ واحد، ونحو عشرة تبويبات في الملف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التبويبات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طوارئ، استحقاقات، فلاتر مسحوبة، هدايا وسطاء، عملاء دائمون، جهاز هدية، حجز عقد، كفالة ذهبية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المدى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الملف يحمل اسم »الشهر الحالي« لفرعٍ واحد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التسمية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وملفات أخرى للمشرفة، وللفني، وللتيلماركتر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5119707"/>
            <a:ext cx="10972800" cy="1098213"/>
          </a:xfrm>
          <a:prstGeom prst="roundRect">
            <a:avLst>
              <a:gd name="adj" fmla="val 5828"/>
            </a:avLst>
          </a:prstGeom>
          <a:solidFill>
            <a:srgbClr val="0A1829"/>
          </a:solidFill>
          <a:ln w="12700">
            <a:solidFill>
              <a:srgbClr val="0A1829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5119707"/>
            <a:ext cx="10424160" cy="1098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500"/>
              </a:lnSpc>
              <a:buNone/>
            </a:pPr>
            <a:r>
              <a:rPr lang="en-US" sz="2490" b="1" dirty="0">
                <a:solidFill>
                  <a:srgbClr val="FFFFFF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وهذا ملفٌ واحد، لفرعٍ واحد، لشهرٍ واحد، ولدورٍ واحد</a:t>
            </a:r>
            <a:endParaRPr lang="en-US" sz="249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التشخيص · ‏6‏ من ‏10‏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‏6‏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تشريح الملف الواحد ‏—‏ دورة تشغيل كاملة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8080248" y="1371600"/>
            <a:ext cx="3486912" cy="2148840"/>
          </a:xfrm>
          <a:prstGeom prst="roundRect">
            <a:avLst>
              <a:gd name="adj" fmla="val 2979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81416" y="1517904"/>
            <a:ext cx="3084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الاستقبال والتعريف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81416" y="1920240"/>
            <a:ext cx="308457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الأعمدة  </a:t>
            </a:r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تاريخ الاتصال، مصدر الاتصال، مستلم الاتصال، اسم العميل، حالة العميل، رقم الهاتف، كود الخط، المنطقة</a:t>
            </a:r>
            <a:endParaRPr lang="en-US" sz="1250" dirty="0"/>
          </a:p>
          <a:p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المعنى  </a:t>
            </a:r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مركز اتصالٍ كامل يعمل على جدول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7304" y="1371600"/>
            <a:ext cx="3486912" cy="2148840"/>
          </a:xfrm>
          <a:prstGeom prst="roundRect">
            <a:avLst>
              <a:gd name="adj" fmla="val 2979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38472" y="1517904"/>
            <a:ext cx="3084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التوجيه والتنفيذ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38472" y="1920240"/>
            <a:ext cx="308457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الأعمدة  </a:t>
            </a:r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المشكلة، تاريخ التركيب، تاريخ آخر زيارة، الفني، نوع الزيارة، القطع المبدلة وملاحظاتها، الحالة الفنية، المبلغ المدفوع</a:t>
            </a:r>
            <a:endParaRPr lang="en-US" sz="1250" dirty="0"/>
          </a:p>
          <a:p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المعنى  </a:t>
            </a:r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توزيع الفرق ونتيجة الزيارة بنصٍّ حر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1371600"/>
            <a:ext cx="3486912" cy="2148840"/>
          </a:xfrm>
          <a:prstGeom prst="roundRect">
            <a:avLst>
              <a:gd name="adj" fmla="val 2979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5528" y="1517904"/>
            <a:ext cx="3084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المتابعة والجدولة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95528" y="1920240"/>
            <a:ext cx="308457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الأعمدة  </a:t>
            </a:r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ملاحظات المسؤول الفني، تقييم المسؤول الفني، تاريخ آخر اتصال، اسم الصبية، ملاحظات الاتصال، موعد تاريخ، النتيجة، ملاحظات النتيجة</a:t>
            </a:r>
            <a:endParaRPr lang="en-US" sz="1250" dirty="0"/>
          </a:p>
          <a:p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المعنى  </a:t>
            </a:r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حجز المواعيد يجري هنا لا في النظام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08776" y="3703320"/>
            <a:ext cx="5358384" cy="1554480"/>
          </a:xfrm>
          <a:prstGeom prst="roundRect">
            <a:avLst>
              <a:gd name="adj" fmla="val 4118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9944" y="3849624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المال والمحاسبة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9944" y="4251960"/>
            <a:ext cx="49560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الأعمدة  </a:t>
            </a:r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المبلغ المدفوع، عمولة الفني عن آخر زيارة، حسم محاسبة، قيمة الحسم</a:t>
            </a:r>
            <a:endParaRPr lang="en-US" sz="1250" dirty="0"/>
          </a:p>
          <a:p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المعنى  </a:t>
            </a:r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عمولات الفنيين وحسومهم تُحسب في جدول بيانات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" y="3703320"/>
            <a:ext cx="5358384" cy="1554480"/>
          </a:xfrm>
          <a:prstGeom prst="roundRect">
            <a:avLst>
              <a:gd name="adj" fmla="val 4118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95528" y="3849624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الرقابة والتقييم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95528" y="4251960"/>
            <a:ext cx="495604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الأعمدة  </a:t>
            </a:r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تقييم المسؤول الفني، تقييم مدير الفرع، مطابقة التقييم النهائي للمدير الفني في الإدارة المركزية</a:t>
            </a:r>
            <a:endParaRPr lang="en-US" sz="1250" dirty="0"/>
          </a:p>
          <a:p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المعنى  </a:t>
            </a:r>
            <a:pPr rtl="1" algn="r" indent="0" marL="0">
              <a:lnSpc>
                <a:spcPts val="215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ثلاث طبقات تقييم دون إلزامٍ ولا تتبّع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94360" y="5440680"/>
            <a:ext cx="10972800" cy="777240"/>
          </a:xfrm>
          <a:prstGeom prst="roundRect">
            <a:avLst>
              <a:gd name="adj" fmla="val 8235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5440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وثلاثة أعمدة باسم الفني، وعمودان باسم المبلغ المدفوع ‏—‏ في الصف الواحد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التشخيص · ‏7‏ من ‏10‏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‏7‏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وتوزيع المسؤوليات كان سطراً في رأس الجدول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208776" y="1568653"/>
            <a:ext cx="5358384" cy="2891790"/>
          </a:xfrm>
          <a:prstGeom prst="roundRect">
            <a:avLst>
              <a:gd name="adj" fmla="val 2213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9944" y="1736903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القائم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9944" y="2199589"/>
            <a:ext cx="4956048" cy="2113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الموضع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السطر الأول فوق رؤوس الأعمدة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المحتوى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اسم المسؤول عن تعبئة كل عمود:‏ تلماركتر، مدير الفرع أو من ينوب عنه، المسؤول الفني، إدخال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الطبيعة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تعليمةٌ مكتوبة يقرأها الموظف، ولا شيء يُلزمه بها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النتيجة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 مانع من الكتابة في خانة الغير، ولا سجلٌّ لمن كتب، ولا وسيلة لاكتشاف ذلك</a:t>
            </a:r>
            <a:endParaRPr lang="en-US" sz="1430" dirty="0"/>
          </a:p>
        </p:txBody>
      </p:sp>
      <p:sp>
        <p:nvSpPr>
          <p:cNvPr id="9" name="Shape 7"/>
          <p:cNvSpPr/>
          <p:nvPr/>
        </p:nvSpPr>
        <p:spPr>
          <a:xfrm>
            <a:off x="594360" y="1568653"/>
            <a:ext cx="5358384" cy="2891790"/>
          </a:xfrm>
          <a:prstGeom prst="roundRect">
            <a:avLst>
              <a:gd name="adj" fmla="val 2213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" y="1736903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بعد التأسيس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199589"/>
            <a:ext cx="4956048" cy="2113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الحجم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‏272‏ مفتاح صلاحية موزّعة على ‏31‏ نطاقاً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موضع التنفيذ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في الطبقة الخلفية، تُفحص قبل تنفيذ كل عملية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الدفاع المزدوج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الواجهة تُخفي ما لا يُملك، والخادم يمنعه ثانيةً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النطاق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ولكل دورٍ حدود رؤيةٍ محدّدة:‏ عامة، أو فرع، أو فريق، أو ما أُسند إليه</a:t>
            </a:r>
            <a:endParaRPr lang="en-US" sz="1430" dirty="0"/>
          </a:p>
        </p:txBody>
      </p:sp>
      <p:sp>
        <p:nvSpPr>
          <p:cNvPr id="12" name="Shape 10"/>
          <p:cNvSpPr/>
          <p:nvPr/>
        </p:nvSpPr>
        <p:spPr>
          <a:xfrm>
            <a:off x="594360" y="4828489"/>
            <a:ext cx="10972800" cy="1104138"/>
          </a:xfrm>
          <a:prstGeom prst="roundRect">
            <a:avLst>
              <a:gd name="adj" fmla="val 5797"/>
            </a:avLst>
          </a:prstGeom>
          <a:solidFill>
            <a:srgbClr val="10243D"/>
          </a:solidFill>
          <a:ln w="12700">
            <a:solidFill>
              <a:srgbClr val="10243D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4828489"/>
            <a:ext cx="1042416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4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من سطرٍ نصّي في رأس جدول ‏—‏ إلى ‏272‏ قاعدة تُطبَّق قبل كل عملية</a:t>
            </a:r>
            <a:endParaRPr lang="en-US" sz="23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التشخيص · ‏8‏ من ‏10‏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‏8‏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وتضاعف الملفات على ثلاثة محاور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8080248" y="1368126"/>
            <a:ext cx="3486912" cy="1098385"/>
          </a:xfrm>
          <a:prstGeom prst="roundRect">
            <a:avLst>
              <a:gd name="adj" fmla="val 5827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171688" y="1511761"/>
            <a:ext cx="3304032" cy="39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30" b="1" dirty="0">
                <a:solidFill>
                  <a:srgbClr val="A06C2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الفرع</a:t>
            </a:r>
            <a:endParaRPr lang="en-US" sz="2030" dirty="0"/>
          </a:p>
        </p:txBody>
      </p:sp>
      <p:sp>
        <p:nvSpPr>
          <p:cNvPr id="8" name="Text 6"/>
          <p:cNvSpPr/>
          <p:nvPr/>
        </p:nvSpPr>
        <p:spPr>
          <a:xfrm>
            <a:off x="8208264" y="1970829"/>
            <a:ext cx="3230880" cy="394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06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ملف مستقل لكل فرع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4337304" y="1368126"/>
            <a:ext cx="3486912" cy="1098385"/>
          </a:xfrm>
          <a:prstGeom prst="roundRect">
            <a:avLst>
              <a:gd name="adj" fmla="val 5827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28744" y="1511761"/>
            <a:ext cx="3304032" cy="39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30" b="1" dirty="0">
                <a:solidFill>
                  <a:srgbClr val="A06C2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الشهر</a:t>
            </a:r>
            <a:endParaRPr lang="en-US" sz="2030" dirty="0"/>
          </a:p>
        </p:txBody>
      </p:sp>
      <p:sp>
        <p:nvSpPr>
          <p:cNvPr id="11" name="Text 9"/>
          <p:cNvSpPr/>
          <p:nvPr/>
        </p:nvSpPr>
        <p:spPr>
          <a:xfrm>
            <a:off x="4465320" y="1970829"/>
            <a:ext cx="3230880" cy="394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06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ملف جديد في كل شهر</a:t>
            </a:r>
            <a:endParaRPr lang="en-US" sz="1060" dirty="0"/>
          </a:p>
        </p:txBody>
      </p:sp>
      <p:sp>
        <p:nvSpPr>
          <p:cNvPr id="12" name="Shape 10"/>
          <p:cNvSpPr/>
          <p:nvPr/>
        </p:nvSpPr>
        <p:spPr>
          <a:xfrm>
            <a:off x="594360" y="1368126"/>
            <a:ext cx="3486912" cy="1098385"/>
          </a:xfrm>
          <a:prstGeom prst="roundRect">
            <a:avLst>
              <a:gd name="adj" fmla="val 5827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1511761"/>
            <a:ext cx="3304032" cy="399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30" b="1" dirty="0">
                <a:solidFill>
                  <a:srgbClr val="A06C2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الدور</a:t>
            </a:r>
            <a:endParaRPr lang="en-US" sz="2030" dirty="0"/>
          </a:p>
        </p:txBody>
      </p:sp>
      <p:sp>
        <p:nvSpPr>
          <p:cNvPr id="14" name="Text 12"/>
          <p:cNvSpPr/>
          <p:nvPr/>
        </p:nvSpPr>
        <p:spPr>
          <a:xfrm>
            <a:off x="722376" y="1970829"/>
            <a:ext cx="3230880" cy="394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06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ملفات للمشرفة وللفني وللتيلماركتر</a:t>
            </a:r>
            <a:endParaRPr lang="en-US" sz="1060" dirty="0"/>
          </a:p>
        </p:txBody>
      </p:sp>
      <p:sp>
        <p:nvSpPr>
          <p:cNvPr id="15" name="Shape 13"/>
          <p:cNvSpPr/>
          <p:nvPr/>
        </p:nvSpPr>
        <p:spPr>
          <a:xfrm>
            <a:off x="594360" y="2677739"/>
            <a:ext cx="10972800" cy="802666"/>
          </a:xfrm>
          <a:prstGeom prst="roundRect">
            <a:avLst>
              <a:gd name="adj" fmla="val 7974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82712" y="2677739"/>
            <a:ext cx="3383280" cy="802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9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تعدّد نسخ المعلومة</a:t>
            </a:r>
            <a:endParaRPr lang="en-US" sz="1390" dirty="0"/>
          </a:p>
        </p:txBody>
      </p:sp>
      <p:sp>
        <p:nvSpPr>
          <p:cNvPr id="17" name="Text 15"/>
          <p:cNvSpPr/>
          <p:nvPr/>
        </p:nvSpPr>
        <p:spPr>
          <a:xfrm>
            <a:off x="795528" y="2677739"/>
            <a:ext cx="6986016" cy="802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الزيارة الواحدة موجودة في أكثر من ملف، بعدد الأدوار التي تتعامل معها ‏—‏ ولا مرجع يحدّد أيّها الصحيح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590244"/>
            <a:ext cx="10972800" cy="802666"/>
          </a:xfrm>
          <a:prstGeom prst="roundRect">
            <a:avLst>
              <a:gd name="adj" fmla="val 79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982712" y="3590244"/>
            <a:ext cx="3383280" cy="802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9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المطابقة اليدوية</a:t>
            </a:r>
            <a:endParaRPr lang="en-US" sz="1390" dirty="0"/>
          </a:p>
        </p:txBody>
      </p:sp>
      <p:sp>
        <p:nvSpPr>
          <p:cNvPr id="20" name="Text 18"/>
          <p:cNvSpPr/>
          <p:nvPr/>
        </p:nvSpPr>
        <p:spPr>
          <a:xfrm>
            <a:off x="795528" y="3590244"/>
            <a:ext cx="6986016" cy="802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التوفيق بين النسخ كان عملاً بشرياً متكرّراً، وكل تعارضٍ بين نسختين يُحسم بالنقاش لا بمرجع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4360" y="4502749"/>
            <a:ext cx="10972800" cy="802666"/>
          </a:xfrm>
          <a:prstGeom prst="roundRect">
            <a:avLst>
              <a:gd name="adj" fmla="val 7974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82712" y="4502749"/>
            <a:ext cx="3383280" cy="802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9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تقطّع التاريخ</a:t>
            </a:r>
            <a:endParaRPr lang="en-US" sz="1390" dirty="0"/>
          </a:p>
        </p:txBody>
      </p:sp>
      <p:sp>
        <p:nvSpPr>
          <p:cNvPr id="23" name="Text 21"/>
          <p:cNvSpPr/>
          <p:nvPr/>
        </p:nvSpPr>
        <p:spPr>
          <a:xfrm>
            <a:off x="795528" y="4502749"/>
            <a:ext cx="6986016" cy="802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 تاريخ متّصل لعميلٍ واحد، ولا مقارنة بين شهرين، ولا رؤية لفرعين معاً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" y="5415254"/>
            <a:ext cx="10972800" cy="802666"/>
          </a:xfrm>
          <a:prstGeom prst="roundRect">
            <a:avLst>
              <a:gd name="adj" fmla="val 79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982712" y="5415254"/>
            <a:ext cx="3383280" cy="802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9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غياب الصورة الكاملة</a:t>
            </a:r>
            <a:endParaRPr lang="en-US" sz="1390" dirty="0"/>
          </a:p>
        </p:txBody>
      </p:sp>
      <p:sp>
        <p:nvSpPr>
          <p:cNvPr id="26" name="Text 24"/>
          <p:cNvSpPr/>
          <p:nvPr/>
        </p:nvSpPr>
        <p:spPr>
          <a:xfrm>
            <a:off x="795528" y="5415254"/>
            <a:ext cx="6986016" cy="802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كان موجوداً هو مجموع ملفاتٍ لا يستطيع أحدٌ جمعها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التشخيص · ‏9‏ من ‏10‏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‏9‏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وأثر ذلك على القرار الإداري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422561"/>
            <a:ext cx="10972800" cy="1256848"/>
          </a:xfrm>
          <a:prstGeom prst="roundRect">
            <a:avLst>
              <a:gd name="adj" fmla="val 5093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1422561"/>
            <a:ext cx="10387584" cy="1256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300"/>
              </a:lnSpc>
              <a:buNone/>
            </a:pPr>
            <a:r>
              <a:rPr lang="en-US" sz="20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القرار كان يُتخذ بناءً على الملف المفتوح، لا على الحقيقة ‏—‏ لأن الحقيقة الكاملة لم تكن متاحةً لأحد.</a:t>
            </a:r>
            <a:endParaRPr lang="en-US" sz="2050" dirty="0"/>
          </a:p>
        </p:txBody>
      </p:sp>
      <p:sp>
        <p:nvSpPr>
          <p:cNvPr id="8" name="Shape 6"/>
          <p:cNvSpPr/>
          <p:nvPr/>
        </p:nvSpPr>
        <p:spPr>
          <a:xfrm>
            <a:off x="594360" y="2921110"/>
            <a:ext cx="10972800" cy="1015147"/>
          </a:xfrm>
          <a:prstGeom prst="roundRect">
            <a:avLst>
              <a:gd name="adj" fmla="val 6305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982712" y="2921110"/>
            <a:ext cx="3383280" cy="1015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3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على مستوى الميدان</a:t>
            </a:r>
            <a:endParaRPr lang="en-US" sz="1530" dirty="0"/>
          </a:p>
        </p:txBody>
      </p:sp>
      <p:sp>
        <p:nvSpPr>
          <p:cNvPr id="10" name="Text 8"/>
          <p:cNvSpPr/>
          <p:nvPr/>
        </p:nvSpPr>
        <p:spPr>
          <a:xfrm>
            <a:off x="795528" y="2921110"/>
            <a:ext cx="6986016" cy="1015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الفني والمشرفة يعملان على ما في ملفهما، لا على ما في النظام ‏—‏ والتأخير يُعالَج بملاحظةٍ يكتبها إنسان لا بتنبيهٍ يُصدره نظام</a:t>
            </a:r>
            <a:endParaRPr lang="en-US" sz="1330" dirty="0"/>
          </a:p>
        </p:txBody>
      </p:sp>
      <p:sp>
        <p:nvSpPr>
          <p:cNvPr id="11" name="Shape 9"/>
          <p:cNvSpPr/>
          <p:nvPr/>
        </p:nvSpPr>
        <p:spPr>
          <a:xfrm>
            <a:off x="594360" y="4061942"/>
            <a:ext cx="10972800" cy="1015147"/>
          </a:xfrm>
          <a:prstGeom prst="roundRect">
            <a:avLst>
              <a:gd name="adj" fmla="val 63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982712" y="4061942"/>
            <a:ext cx="3383280" cy="1015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3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على مستوى الفرع</a:t>
            </a:r>
            <a:endParaRPr lang="en-US" sz="1530" dirty="0"/>
          </a:p>
        </p:txBody>
      </p:sp>
      <p:sp>
        <p:nvSpPr>
          <p:cNvPr id="13" name="Text 11"/>
          <p:cNvSpPr/>
          <p:nvPr/>
        </p:nvSpPr>
        <p:spPr>
          <a:xfrm>
            <a:off x="795528" y="4061942"/>
            <a:ext cx="6986016" cy="1015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مدير الفرع يخطّط من ذاكرته، ويوزّع الفرق دون خريطةٍ ولا خطةٍ محفوظة، ولا يعرف الحمل الواقع على فريقه</a:t>
            </a:r>
            <a:endParaRPr lang="en-US" sz="1330" dirty="0"/>
          </a:p>
        </p:txBody>
      </p:sp>
      <p:sp>
        <p:nvSpPr>
          <p:cNvPr id="14" name="Shape 12"/>
          <p:cNvSpPr/>
          <p:nvPr/>
        </p:nvSpPr>
        <p:spPr>
          <a:xfrm>
            <a:off x="594360" y="5202773"/>
            <a:ext cx="10972800" cy="1015147"/>
          </a:xfrm>
          <a:prstGeom prst="roundRect">
            <a:avLst>
              <a:gd name="adj" fmla="val 6305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982712" y="5202773"/>
            <a:ext cx="3383280" cy="1015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3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على مستوى الإدارة المركزية</a:t>
            </a:r>
            <a:endParaRPr lang="en-US" sz="1530" dirty="0"/>
          </a:p>
        </p:txBody>
      </p:sp>
      <p:sp>
        <p:nvSpPr>
          <p:cNvPr id="16" name="Text 14"/>
          <p:cNvSpPr/>
          <p:nvPr/>
        </p:nvSpPr>
        <p:spPr>
          <a:xfrm>
            <a:off x="795528" y="5202773"/>
            <a:ext cx="6986016" cy="10151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التقرير يُبنى على بياناتٍ وُلدت في خلايا نصية حرة، فتتعذّر الثقة بنتيجته حتى مع وجود خمسةٍ وأربعين تقريراً</a:t>
            </a:r>
            <a:endParaRPr lang="en-US" sz="13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2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التشخيص · ‏10‏ من ‏10‏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C6E8C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‏10‏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قرار إعادة التأسيس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409944" y="1375799"/>
            <a:ext cx="5157216" cy="3544233"/>
          </a:xfrm>
          <a:prstGeom prst="roundRect">
            <a:avLst>
              <a:gd name="adj" fmla="val 1806"/>
            </a:avLst>
          </a:prstGeom>
          <a:solidFill>
            <a:srgbClr val="0A1829"/>
          </a:solidFill>
          <a:ln w="12700">
            <a:solidFill>
              <a:srgbClr val="1C6E8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592824" y="1375799"/>
            <a:ext cx="4791456" cy="3544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مساحة اللقطة الصامتة</a:t>
            </a:r>
            <a:endParaRPr lang="en-US" sz="1350" dirty="0"/>
          </a:p>
          <a:p>
            <a:pPr rtl="1" algn="ctr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المشهد ‏7‏ ‏—‏ التوقف</a:t>
            </a:r>
            <a:endParaRPr lang="en-US" sz="1350" dirty="0"/>
          </a:p>
          <a:p>
            <a:pPr rtl="1" algn="ctr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‏10‏ ثوان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1425718"/>
            <a:ext cx="5157216" cy="79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900"/>
              </a:lnSpc>
              <a:buNone/>
            </a:pPr>
            <a:r>
              <a:rPr lang="en-US" sz="197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كان العمل قد بدأ فعلياً بتطبيق العملاء، فأوقفناه.</a:t>
            </a:r>
            <a:endParaRPr lang="en-US" sz="1970" dirty="0"/>
          </a:p>
        </p:txBody>
      </p:sp>
      <p:sp>
        <p:nvSpPr>
          <p:cNvPr id="9" name="Text 7"/>
          <p:cNvSpPr/>
          <p:nvPr/>
        </p:nvSpPr>
        <p:spPr>
          <a:xfrm>
            <a:off x="594360" y="2324256"/>
            <a:ext cx="5157216" cy="2595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السبب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أي إضافةٍ على تلك البنية كانت ستزيد الاختلال لا القدرة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البديل المرفوض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المضيّ في الترقية وتسليم منظومةٍ تسجيلٍ أحدث الشكل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اختيرَ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إعادة التأسيس على فهمٍ صحيح لواقع العمل الفعلي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كيف عُولج الفارق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استُوعب داخلياً دون إيقاف المشروع ودون إعادة التفاوض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الوصف الدقيق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وهو أصعب قرارٍ اتُّخذ في المشروع كله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5219544"/>
            <a:ext cx="10972800" cy="998376"/>
          </a:xfrm>
          <a:prstGeom prst="roundRect">
            <a:avLst>
              <a:gd name="adj" fmla="val 6411"/>
            </a:avLst>
          </a:prstGeom>
          <a:solidFill>
            <a:srgbClr val="0A1829"/>
          </a:solidFill>
          <a:ln w="12700">
            <a:solidFill>
              <a:srgbClr val="0A1829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5219544"/>
            <a:ext cx="10424160" cy="998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300"/>
              </a:lnSpc>
              <a:buNone/>
            </a:pPr>
            <a:r>
              <a:rPr lang="en-US" sz="2280" b="1" dirty="0">
                <a:solidFill>
                  <a:srgbClr val="FFFFFF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دون مطالبةٍ بتكلفةٍ إضافية، ودون تمديدٍ للمدة</a:t>
            </a:r>
            <a:endParaRPr lang="en-US" sz="22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82296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0" b="1" dirty="0">
                <a:solidFill>
                  <a:srgbClr val="17324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‏02‏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94360" y="288036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spc="10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القسم الثاني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94360" y="33375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 ‏—‏ بنية النظام الجديد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594360" y="44348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BDCE"/>
                </a:solidFill>
                <a:latin typeface="Dubai Light" pitchFamily="34" charset="0"/>
                <a:ea typeface="Dubai Light" pitchFamily="34" charset="-122"/>
                <a:cs typeface="Dubai Light" pitchFamily="34" charset="-120"/>
              </a:rPr>
              <a:t>ثمانية أشهر من العمل، موزّعة على منظوماتٍ مترابطة لا على ميزاتٍ متجاورة.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335524" y="5806440"/>
            <a:ext cx="173736" cy="173736"/>
          </a:xfrm>
          <a:prstGeom prst="rect">
            <a:avLst/>
          </a:prstGeom>
          <a:solidFill>
            <a:srgbClr val="A06C2C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5806440"/>
            <a:ext cx="173736" cy="173736"/>
          </a:xfrm>
          <a:prstGeom prst="rect">
            <a:avLst/>
          </a:prstGeom>
          <a:solidFill>
            <a:srgbClr val="A06C2C">
              <a:alpha val="2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20156" y="5806440"/>
            <a:ext cx="173736" cy="173736"/>
          </a:xfrm>
          <a:prstGeom prst="rect">
            <a:avLst/>
          </a:prstGeom>
          <a:solidFill>
            <a:srgbClr val="A06C2C">
              <a:alpha val="3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62472" y="5806440"/>
            <a:ext cx="173736" cy="173736"/>
          </a:xfrm>
          <a:prstGeom prst="rect">
            <a:avLst/>
          </a:prstGeom>
          <a:solidFill>
            <a:srgbClr val="A06C2C">
              <a:alpha val="3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4788" y="5806440"/>
            <a:ext cx="173736" cy="173736"/>
          </a:xfrm>
          <a:prstGeom prst="rect">
            <a:avLst/>
          </a:prstGeom>
          <a:solidFill>
            <a:srgbClr val="A06C2C">
              <a:alpha val="4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47104" y="5806440"/>
            <a:ext cx="173736" cy="173736"/>
          </a:xfrm>
          <a:prstGeom prst="rect">
            <a:avLst/>
          </a:prstGeom>
          <a:solidFill>
            <a:srgbClr val="A06C2C">
              <a:alpha val="4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89420" y="5806440"/>
            <a:ext cx="173736" cy="173736"/>
          </a:xfrm>
          <a:prstGeom prst="rect">
            <a:avLst/>
          </a:prstGeom>
          <a:solidFill>
            <a:srgbClr val="A06C2C">
              <a:alpha val="51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31736" y="5806440"/>
            <a:ext cx="173736" cy="173736"/>
          </a:xfrm>
          <a:prstGeom prst="rect">
            <a:avLst/>
          </a:prstGeom>
          <a:solidFill>
            <a:srgbClr val="A06C2C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4052" y="5806440"/>
            <a:ext cx="173736" cy="173736"/>
          </a:xfrm>
          <a:prstGeom prst="rect">
            <a:avLst/>
          </a:prstGeom>
          <a:solidFill>
            <a:srgbClr val="A06C2C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16368" y="5806440"/>
            <a:ext cx="173736" cy="173736"/>
          </a:xfrm>
          <a:prstGeom prst="rect">
            <a:avLst/>
          </a:prstGeom>
          <a:solidFill>
            <a:srgbClr val="A06C2C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58684" y="5806440"/>
            <a:ext cx="173736" cy="173736"/>
          </a:xfrm>
          <a:prstGeom prst="rect">
            <a:avLst/>
          </a:prstGeom>
          <a:solidFill>
            <a:srgbClr val="A06C2C">
              <a:alpha val="6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01000" y="5806440"/>
            <a:ext cx="173736" cy="173736"/>
          </a:xfrm>
          <a:prstGeom prst="rect">
            <a:avLst/>
          </a:prstGeom>
          <a:solidFill>
            <a:srgbClr val="5A6E7A">
              <a:alpha val="7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43316" y="5806440"/>
            <a:ext cx="173736" cy="173736"/>
          </a:xfrm>
          <a:prstGeom prst="rect">
            <a:avLst/>
          </a:prstGeom>
          <a:solidFill>
            <a:srgbClr val="5A6E7A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85632" y="5806440"/>
            <a:ext cx="173736" cy="173736"/>
          </a:xfrm>
          <a:prstGeom prst="rect">
            <a:avLst/>
          </a:prstGeom>
          <a:solidFill>
            <a:srgbClr val="5A6E7A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27948" y="5806440"/>
            <a:ext cx="173736" cy="173736"/>
          </a:xfrm>
          <a:prstGeom prst="rect">
            <a:avLst/>
          </a:prstGeom>
          <a:solidFill>
            <a:srgbClr val="5A6E7A">
              <a:alpha val="7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70264" y="5806440"/>
            <a:ext cx="173736" cy="173736"/>
          </a:xfrm>
          <a:prstGeom prst="rect">
            <a:avLst/>
          </a:prstGeom>
          <a:solidFill>
            <a:srgbClr val="1C6E8C">
              <a:alpha val="6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12580" y="5806440"/>
            <a:ext cx="173736" cy="173736"/>
          </a:xfrm>
          <a:prstGeom prst="rect">
            <a:avLst/>
          </a:prstGeom>
          <a:solidFill>
            <a:srgbClr val="1C6E8C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54896" y="5806440"/>
            <a:ext cx="173736" cy="173736"/>
          </a:xfrm>
          <a:prstGeom prst="rect">
            <a:avLst/>
          </a:prstGeom>
          <a:solidFill>
            <a:srgbClr val="1C6E8C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7212" y="5806440"/>
            <a:ext cx="173736" cy="173736"/>
          </a:xfrm>
          <a:prstGeom prst="rect">
            <a:avLst/>
          </a:prstGeom>
          <a:solidFill>
            <a:srgbClr val="1C6E8C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939528" y="5806440"/>
            <a:ext cx="173736" cy="173736"/>
          </a:xfrm>
          <a:prstGeom prst="rect">
            <a:avLst/>
          </a:prstGeom>
          <a:solidFill>
            <a:srgbClr val="1C6E8C">
              <a:alpha val="51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181844" y="5806440"/>
            <a:ext cx="173736" cy="173736"/>
          </a:xfrm>
          <a:prstGeom prst="rect">
            <a:avLst/>
          </a:prstGeom>
          <a:solidFill>
            <a:srgbClr val="1C6E8C">
              <a:alpha val="4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424160" y="5806440"/>
            <a:ext cx="173736" cy="173736"/>
          </a:xfrm>
          <a:prstGeom prst="rect">
            <a:avLst/>
          </a:prstGeom>
          <a:solidFill>
            <a:srgbClr val="1C6E8C">
              <a:alpha val="4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66476" y="5806440"/>
            <a:ext cx="173736" cy="173736"/>
          </a:xfrm>
          <a:prstGeom prst="rect">
            <a:avLst/>
          </a:prstGeom>
          <a:solidFill>
            <a:srgbClr val="1C6E8C">
              <a:alpha val="3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908792" y="5806440"/>
            <a:ext cx="173736" cy="173736"/>
          </a:xfrm>
          <a:prstGeom prst="rect">
            <a:avLst/>
          </a:prstGeom>
          <a:solidFill>
            <a:srgbClr val="1C6E8C">
              <a:alpha val="3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151108" y="5806440"/>
            <a:ext cx="173736" cy="173736"/>
          </a:xfrm>
          <a:prstGeom prst="rect">
            <a:avLst/>
          </a:prstGeom>
          <a:solidFill>
            <a:srgbClr val="1C6E8C">
              <a:alpha val="2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393424" y="5806440"/>
            <a:ext cx="173736" cy="173736"/>
          </a:xfrm>
          <a:prstGeom prst="rect">
            <a:avLst/>
          </a:prstGeom>
          <a:solidFill>
            <a:srgbClr val="1C6E8C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‏1‏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‏11‏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حجم الإنجاز الإجمالي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9015984" y="1325880"/>
            <a:ext cx="2551176" cy="1482436"/>
          </a:xfrm>
          <a:prstGeom prst="roundRect">
            <a:avLst>
              <a:gd name="adj" fmla="val 4318"/>
            </a:avLst>
          </a:prstGeom>
          <a:solidFill>
            <a:srgbClr val="10243D"/>
          </a:solidFill>
          <a:ln w="12700">
            <a:solidFill>
              <a:srgbClr val="10243D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07424" y="1493889"/>
            <a:ext cx="2368296" cy="52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68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‏216,417‏</a:t>
            </a:r>
            <a:endParaRPr lang="en-US" sz="2680" dirty="0"/>
          </a:p>
        </p:txBody>
      </p:sp>
      <p:sp>
        <p:nvSpPr>
          <p:cNvPr id="8" name="Text 6"/>
          <p:cNvSpPr/>
          <p:nvPr/>
        </p:nvSpPr>
        <p:spPr>
          <a:xfrm>
            <a:off x="9144000" y="2090757"/>
            <a:ext cx="2295144" cy="598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190" dirty="0">
                <a:solidFill>
                  <a:srgbClr val="A9BDCE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سطراً برمجياً في ‏770‏ ملفاً</a:t>
            </a:r>
            <a:endParaRPr lang="en-US" sz="1190" dirty="0"/>
          </a:p>
        </p:txBody>
      </p:sp>
      <p:sp>
        <p:nvSpPr>
          <p:cNvPr id="9" name="Shape 7"/>
          <p:cNvSpPr/>
          <p:nvPr/>
        </p:nvSpPr>
        <p:spPr>
          <a:xfrm>
            <a:off x="6208776" y="1325880"/>
            <a:ext cx="2551176" cy="1482436"/>
          </a:xfrm>
          <a:prstGeom prst="roundRect">
            <a:avLst>
              <a:gd name="adj" fmla="val 431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0216" y="1493889"/>
            <a:ext cx="2368296" cy="617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‏158‏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336792" y="2180602"/>
            <a:ext cx="2295144" cy="5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19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جدولاً مترابطاً في قاعدة البيانات</a:t>
            </a:r>
            <a:endParaRPr lang="en-US" sz="1190" dirty="0"/>
          </a:p>
        </p:txBody>
      </p:sp>
      <p:sp>
        <p:nvSpPr>
          <p:cNvPr id="12" name="Shape 10"/>
          <p:cNvSpPr/>
          <p:nvPr/>
        </p:nvSpPr>
        <p:spPr>
          <a:xfrm>
            <a:off x="3401568" y="1325880"/>
            <a:ext cx="2551176" cy="1482436"/>
          </a:xfrm>
          <a:prstGeom prst="roundRect">
            <a:avLst>
              <a:gd name="adj" fmla="val 431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93008" y="1493889"/>
            <a:ext cx="2368296" cy="617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‏101‏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3529584" y="2180602"/>
            <a:ext cx="2295144" cy="5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19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شاشة في واجهة النظام</a:t>
            </a:r>
            <a:endParaRPr lang="en-US" sz="1190" dirty="0"/>
          </a:p>
        </p:txBody>
      </p:sp>
      <p:sp>
        <p:nvSpPr>
          <p:cNvPr id="15" name="Shape 13"/>
          <p:cNvSpPr/>
          <p:nvPr/>
        </p:nvSpPr>
        <p:spPr>
          <a:xfrm>
            <a:off x="594360" y="1325880"/>
            <a:ext cx="2551176" cy="1482436"/>
          </a:xfrm>
          <a:prstGeom prst="roundRect">
            <a:avLst>
              <a:gd name="adj" fmla="val 431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1493889"/>
            <a:ext cx="2368296" cy="617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‏86‏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722376" y="2180602"/>
            <a:ext cx="2295144" cy="5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19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ملف مسار في الخدمة الخلفية</a:t>
            </a:r>
            <a:endParaRPr lang="en-US" sz="1190" dirty="0"/>
          </a:p>
        </p:txBody>
      </p:sp>
      <p:sp>
        <p:nvSpPr>
          <p:cNvPr id="18" name="Shape 16"/>
          <p:cNvSpPr/>
          <p:nvPr/>
        </p:nvSpPr>
        <p:spPr>
          <a:xfrm>
            <a:off x="9015984" y="2956560"/>
            <a:ext cx="2551176" cy="1482436"/>
          </a:xfrm>
          <a:prstGeom prst="roundRect">
            <a:avLst>
              <a:gd name="adj" fmla="val 431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07424" y="3124569"/>
            <a:ext cx="2368296" cy="617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‏272‏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144000" y="3811282"/>
            <a:ext cx="2295144" cy="5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19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مفتاح صلاحية على ‏31‏ نطاقاً</a:t>
            </a:r>
            <a:endParaRPr lang="en-US" sz="1190" dirty="0"/>
          </a:p>
        </p:txBody>
      </p:sp>
      <p:sp>
        <p:nvSpPr>
          <p:cNvPr id="21" name="Shape 19"/>
          <p:cNvSpPr/>
          <p:nvPr/>
        </p:nvSpPr>
        <p:spPr>
          <a:xfrm>
            <a:off x="6208776" y="2956560"/>
            <a:ext cx="2551176" cy="1482436"/>
          </a:xfrm>
          <a:prstGeom prst="roundRect">
            <a:avLst>
              <a:gd name="adj" fmla="val 431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00216" y="3124569"/>
            <a:ext cx="2368296" cy="617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‏446‏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6336792" y="3811282"/>
            <a:ext cx="2295144" cy="5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19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ملف ترحيل لقاعدة البيانات</a:t>
            </a:r>
            <a:endParaRPr lang="en-US" sz="1190" dirty="0"/>
          </a:p>
        </p:txBody>
      </p:sp>
      <p:sp>
        <p:nvSpPr>
          <p:cNvPr id="24" name="Shape 22"/>
          <p:cNvSpPr/>
          <p:nvPr/>
        </p:nvSpPr>
        <p:spPr>
          <a:xfrm>
            <a:off x="3401568" y="2956560"/>
            <a:ext cx="2551176" cy="1482436"/>
          </a:xfrm>
          <a:prstGeom prst="roundRect">
            <a:avLst>
              <a:gd name="adj" fmla="val 431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124569"/>
            <a:ext cx="2368296" cy="617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‏79‏</a:t>
            </a:r>
            <a:endParaRPr lang="en-US" sz="3300" dirty="0"/>
          </a:p>
        </p:txBody>
      </p:sp>
      <p:sp>
        <p:nvSpPr>
          <p:cNvPr id="26" name="Text 24"/>
          <p:cNvSpPr/>
          <p:nvPr/>
        </p:nvSpPr>
        <p:spPr>
          <a:xfrm>
            <a:off x="3529584" y="3811282"/>
            <a:ext cx="2295144" cy="5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19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وثيقة مرجعية معتمدة</a:t>
            </a:r>
            <a:endParaRPr lang="en-US" sz="1190" dirty="0"/>
          </a:p>
        </p:txBody>
      </p:sp>
      <p:sp>
        <p:nvSpPr>
          <p:cNvPr id="27" name="Shape 25"/>
          <p:cNvSpPr/>
          <p:nvPr/>
        </p:nvSpPr>
        <p:spPr>
          <a:xfrm>
            <a:off x="594360" y="2956560"/>
            <a:ext cx="2551176" cy="1482436"/>
          </a:xfrm>
          <a:prstGeom prst="roundRect">
            <a:avLst>
              <a:gd name="adj" fmla="val 431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5800" y="3124569"/>
            <a:ext cx="2368296" cy="617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3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‏19‏</a:t>
            </a:r>
            <a:endParaRPr lang="en-US" sz="3300" dirty="0"/>
          </a:p>
        </p:txBody>
      </p:sp>
      <p:sp>
        <p:nvSpPr>
          <p:cNvPr id="29" name="Text 27"/>
          <p:cNvSpPr/>
          <p:nvPr/>
        </p:nvSpPr>
        <p:spPr>
          <a:xfrm>
            <a:off x="722376" y="3811282"/>
            <a:ext cx="2295144" cy="50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19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قراراً موثّقاً مرقّماً</a:t>
            </a:r>
            <a:endParaRPr lang="en-US" sz="1190" dirty="0"/>
          </a:p>
        </p:txBody>
      </p:sp>
      <p:sp>
        <p:nvSpPr>
          <p:cNvPr id="30" name="Shape 28"/>
          <p:cNvSpPr/>
          <p:nvPr/>
        </p:nvSpPr>
        <p:spPr>
          <a:xfrm>
            <a:off x="594360" y="4636655"/>
            <a:ext cx="10972800" cy="938876"/>
          </a:xfrm>
          <a:prstGeom prst="roundRect">
            <a:avLst>
              <a:gd name="adj" fmla="val 681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68680" y="4636655"/>
            <a:ext cx="10424160" cy="938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000"/>
              </a:lnSpc>
              <a:buNone/>
            </a:pPr>
            <a:r>
              <a:rPr lang="en-US" sz="196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ونحو ‏600‏ ألف سجل تشغيلي نُقل من البنية القديمة إلى بنيةٍ مختلفةٍ كلياً</a:t>
            </a:r>
            <a:endParaRPr lang="en-US" sz="1960" dirty="0"/>
          </a:p>
        </p:txBody>
      </p:sp>
      <p:sp>
        <p:nvSpPr>
          <p:cNvPr id="32" name="Text 30"/>
          <p:cNvSpPr/>
          <p:nvPr/>
        </p:nvSpPr>
        <p:spPr>
          <a:xfrm>
            <a:off x="594360" y="5773189"/>
            <a:ext cx="10972800" cy="4447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وذروة الكثافة كانت في شهرٍ واحد:‏ ‏189‏ تعديلاً مسجّلاً على الكود في حزيران وحده.</a:t>
            </a:r>
            <a:endParaRPr lang="en-US" sz="15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‏2‏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‏12‏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آلات الحالة ‏—‏ من تبديلٍ ثنائي إلى دوراتِ حياة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208776" y="1810512"/>
            <a:ext cx="5358384" cy="3680460"/>
          </a:xfrm>
          <a:prstGeom prst="roundRect">
            <a:avLst>
              <a:gd name="adj" fmla="val 1739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9944" y="1978762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القائم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9944" y="2441448"/>
            <a:ext cx="4956048" cy="2902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الحالة السائدة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تبديلٌ ثنائي واحد بين فعّال وغير فعّال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عدا ذلك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حقول نتيجةٍ متفرّقة لكل نموذج على حدة، واحدٌ في الصيانة وآخر في التسويق وآخر في الهدايا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القبول والرفض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موزّعان على رابطين منفصلين، دون عمود حالةٍ موحّد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الأثر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 يمكن معرفة موقع أي عملٍ في مساره، ولا ما ينتظره، ولا من يعطّله</a:t>
            </a:r>
            <a:endParaRPr lang="en-US" sz="1430" dirty="0"/>
          </a:p>
        </p:txBody>
      </p:sp>
      <p:sp>
        <p:nvSpPr>
          <p:cNvPr id="9" name="Shape 7"/>
          <p:cNvSpPr/>
          <p:nvPr/>
        </p:nvSpPr>
        <p:spPr>
          <a:xfrm>
            <a:off x="594360" y="1810512"/>
            <a:ext cx="5358384" cy="3680460"/>
          </a:xfrm>
          <a:prstGeom prst="roundRect">
            <a:avLst>
              <a:gd name="adj" fmla="val 1739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" y="1978762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بعد التأسيس ‏—‏ ‏11‏ دورة حياة و‏79‏ حالة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441448"/>
            <a:ext cx="4956048" cy="2902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طلب التوظيف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‏16‏ حالة، من الاستلام إلى التوظيف النهائي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المهمة المفتوحة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‏11‏ حالة:‏ مفتوحة، بحاجة متابعة، مُسندة، في الجدولة، مجدولة، بانتظار التنفيذ، قيد التنفيذ، منتهية، مكتملة، مغلقة، ملغاة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الجهاز المركّب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‏10‏ حالات:‏ مسجّل، بانتظار التسليم، مُسلَّم، مُركَّب، فعّال، معطّل، في الورشة، جاهز، خارج الخدمة، مسحوب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الزيارة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‏7‏ حالات، مهمة الزيارة ‏5‏ حالات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هدف الاتصال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‏7‏ حالات، الاسم المقترح ‏6‏ حالات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العقد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‏5‏ حالات، الضمان ‏4‏، المستحقات ‏4‏، الموظف ‏4‏</a:t>
            </a:r>
            <a:endParaRPr lang="en-US" sz="14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‏3‏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‏13‏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القوائم المرجعية المُدارة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9015984" y="1516075"/>
            <a:ext cx="2551176" cy="1524762"/>
          </a:xfrm>
          <a:prstGeom prst="roundRect">
            <a:avLst>
              <a:gd name="adj" fmla="val 4198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07424" y="1694840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A06C2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‏18‏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0" y="2457381"/>
            <a:ext cx="2295144" cy="457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قائمة في البنية القائمة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208776" y="1516075"/>
            <a:ext cx="2551176" cy="1524762"/>
          </a:xfrm>
          <a:prstGeom prst="roundRect">
            <a:avLst>
              <a:gd name="adj" fmla="val 4198"/>
            </a:avLst>
          </a:prstGeom>
          <a:solidFill>
            <a:srgbClr val="10243D"/>
          </a:solidFill>
          <a:ln w="12700">
            <a:solidFill>
              <a:srgbClr val="10243D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0216" y="1694840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‏68‏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336792" y="2457381"/>
            <a:ext cx="2295144" cy="457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A9BDCE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قائمة مُدارة في البنية الجديدة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401568" y="1516075"/>
            <a:ext cx="2551176" cy="1524762"/>
          </a:xfrm>
          <a:prstGeom prst="roundRect">
            <a:avLst>
              <a:gd name="adj" fmla="val 419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93008" y="1694840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‏4‏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529584" y="2457381"/>
            <a:ext cx="2295144" cy="457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قوائم أسبابٍ لنوع المهمة الواحد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594360" y="1516075"/>
            <a:ext cx="2551176" cy="1524762"/>
          </a:xfrm>
          <a:prstGeom prst="roundRect">
            <a:avLst>
              <a:gd name="adj" fmla="val 419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1694840"/>
            <a:ext cx="2368296" cy="62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1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صفر</a:t>
            </a:r>
            <a:endParaRPr lang="en-US" sz="3180" dirty="0"/>
          </a:p>
        </p:txBody>
      </p:sp>
      <p:sp>
        <p:nvSpPr>
          <p:cNvPr id="17" name="Text 15"/>
          <p:cNvSpPr/>
          <p:nvPr/>
        </p:nvSpPr>
        <p:spPr>
          <a:xfrm>
            <a:off x="722376" y="2393650"/>
            <a:ext cx="2295144" cy="52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نصٌّ حر في مواضع القرار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208776" y="3303727"/>
            <a:ext cx="5358384" cy="2628900"/>
          </a:xfrm>
          <a:prstGeom prst="roundRect">
            <a:avLst>
              <a:gd name="adj" fmla="val 2435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9944" y="3471977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عمق التصنيف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9944" y="3934663"/>
            <a:ext cx="4956048" cy="1850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لكل نوع مهمة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قوائم منفصلة لأسباب الإنشاء، والتأجيل، والرفض، والفشل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مثالٌ واحد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مهمة عرض الجهاز:‏ أسباب الإنشاء، أسباب الإلغاء، أسباب رفض العرض، أسباب التأجيل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الصيانة الطارئة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أنواع الإجراءات، أسباب الحل، أسباب عدم الحل، أسباب المتابعة، مؤشرات السلامة، تصنيفات المرفقات</a:t>
            </a:r>
            <a:endParaRPr lang="en-US" sz="1380" dirty="0"/>
          </a:p>
        </p:txBody>
      </p:sp>
      <p:sp>
        <p:nvSpPr>
          <p:cNvPr id="21" name="Shape 19"/>
          <p:cNvSpPr/>
          <p:nvPr/>
        </p:nvSpPr>
        <p:spPr>
          <a:xfrm>
            <a:off x="594360" y="3303727"/>
            <a:ext cx="5358384" cy="2628900"/>
          </a:xfrm>
          <a:prstGeom prst="roundRect">
            <a:avLst>
              <a:gd name="adj" fmla="val 2435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" y="3471977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أثر ذلك إدارياً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95528" y="3934663"/>
            <a:ext cx="4956048" cy="1850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قابلية القياس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كل سببٍ صار قيمةً قابلة للعدّ والتحليل، لا عبارةً تُكتب بصيغٍ مختلفة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الضبط بيد الإدارة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القوائم تُدار من الإعدادات دون تعديلٍ برمجي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أثرٌ على التقارير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أصبح ممكناً السؤال:‏ ما أكثر أسباب رفض العرض هذا الشهر؟</a:t>
            </a:r>
            <a:endParaRPr lang="en-US" sz="13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‏4‏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‏14‏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منظومة ضبط بيانات العملاء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208776" y="1452982"/>
            <a:ext cx="5358384" cy="3259836"/>
          </a:xfrm>
          <a:prstGeom prst="roundRect">
            <a:avLst>
              <a:gd name="adj" fmla="val 1964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9944" y="1621231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القائم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9944" y="2083918"/>
            <a:ext cx="4956048" cy="2481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الإنشاء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عشوائي، من أي جهة وبأي طريق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البيانات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خاطئة أو وهمية أو مكرّرة، دون تحقّق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التكرار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العميل نفسه يتكرّر بأسماء وأرقام متقاربة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الأثر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كل تقريرٍ يُبنى على قاعدةٍ ملوّثة يعطي رقماً غير صحيح</a:t>
            </a:r>
            <a:endParaRPr lang="en-US" sz="1430" dirty="0"/>
          </a:p>
        </p:txBody>
      </p:sp>
      <p:sp>
        <p:nvSpPr>
          <p:cNvPr id="9" name="Shape 7"/>
          <p:cNvSpPr/>
          <p:nvPr/>
        </p:nvSpPr>
        <p:spPr>
          <a:xfrm>
            <a:off x="594360" y="1452982"/>
            <a:ext cx="5358384" cy="3259836"/>
          </a:xfrm>
          <a:prstGeom prst="roundRect">
            <a:avLst>
              <a:gd name="adj" fmla="val 1964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" y="1621231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بعد التأسيس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083918"/>
            <a:ext cx="4956048" cy="2481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مسارٌ واحد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باب إدخالٍ واحد بسياسةٍ صارمة، لا مسارات جانبية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منع التكرار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كشف التطابق قبل الإنشاء، وهويةٌ واحدة لكل عميل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التحقّق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قيود على صيغ الأرقام والحقول الإلزامية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التصنيف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دورة حياة العميل:‏ مرشّح، ثم محتمل، ثم عميل ‏—‏ بحالاتٍ محدّدة لا بوصفٍ يدوي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الأثر المالي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كل عميلٍ مرتبط بعقوده وأجهزته ومستحقاته وذممه في مسارٍ واحد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المتابعة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ضوابط لمدد التواصل تمنع تكرار الإزعاج للعميل نفسه</a:t>
            </a:r>
            <a:endParaRPr lang="en-US" sz="1430" dirty="0"/>
          </a:p>
        </p:txBody>
      </p:sp>
      <p:sp>
        <p:nvSpPr>
          <p:cNvPr id="12" name="Shape 10"/>
          <p:cNvSpPr/>
          <p:nvPr/>
        </p:nvSpPr>
        <p:spPr>
          <a:xfrm>
            <a:off x="594360" y="4923130"/>
            <a:ext cx="10972800" cy="1104138"/>
          </a:xfrm>
          <a:prstGeom prst="roundRect">
            <a:avLst>
              <a:gd name="adj" fmla="val 5797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4923130"/>
            <a:ext cx="1042416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200"/>
              </a:lnSpc>
              <a:buNone/>
            </a:pPr>
            <a:r>
              <a:rPr lang="en-US" sz="212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وصحة كل تقريرٍ لاحق تقوم على نظافة هذه النقطة وحدها</a:t>
            </a:r>
            <a:endParaRPr lang="en-US" sz="21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‏5‏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‏15‏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سجلات الأسماء المقترحة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208776" y="1600200"/>
            <a:ext cx="5358384" cy="2734056"/>
          </a:xfrm>
          <a:prstGeom prst="roundRect">
            <a:avLst>
              <a:gd name="adj" fmla="val 2341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9944" y="1768450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القائم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9944" y="2231136"/>
            <a:ext cx="4956048" cy="1955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المصدر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اقتراحات ترد من جهاتٍ متعدّدة غير موثوقة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الموضع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تدخل مباشرةً إلى البيانات الأساسية فتلوّثها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الحجم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‏167,126‏ اسماً محتملاً في البنية القائمة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الإدارة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دون دورة حياة ودون مؤشرٍ واحد</a:t>
            </a:r>
            <a:endParaRPr lang="en-US" sz="1430" dirty="0"/>
          </a:p>
        </p:txBody>
      </p:sp>
      <p:sp>
        <p:nvSpPr>
          <p:cNvPr id="9" name="Shape 7"/>
          <p:cNvSpPr/>
          <p:nvPr/>
        </p:nvSpPr>
        <p:spPr>
          <a:xfrm>
            <a:off x="594360" y="1600200"/>
            <a:ext cx="5358384" cy="2734056"/>
          </a:xfrm>
          <a:prstGeom prst="roundRect">
            <a:avLst>
              <a:gd name="adj" fmla="val 2341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" y="1768450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بعد التأسيس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231136"/>
            <a:ext cx="4956048" cy="1955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نطاقٌ مستقل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الاسم يُفحص ويُقيَّم ويُسند قبل أن يمسّ بيانات العملاء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ست حالات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جديد، مقترح، متابعة، تم الاتصال، مؤهّل، مرفوض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الملكية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جداول للإسناد وتاريخ ملكية كل اسم ومن تسلّمه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التحويل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مسارٌ منضبط للتحويل إلى عميل، بشروطٍ لا باجتهاد</a:t>
            </a:r>
            <a:endParaRPr lang="en-US" sz="1430" dirty="0"/>
          </a:p>
        </p:txBody>
      </p:sp>
      <p:sp>
        <p:nvSpPr>
          <p:cNvPr id="12" name="Shape 10"/>
          <p:cNvSpPr/>
          <p:nvPr/>
        </p:nvSpPr>
        <p:spPr>
          <a:xfrm>
            <a:off x="9015984" y="4491990"/>
            <a:ext cx="2551176" cy="1314450"/>
          </a:xfrm>
          <a:prstGeom prst="roundRect">
            <a:avLst>
              <a:gd name="adj" fmla="val 4870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07424" y="4670755"/>
            <a:ext cx="2368296" cy="449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1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التغذية</a:t>
            </a:r>
            <a:endParaRPr lang="en-US" sz="2010" dirty="0"/>
          </a:p>
        </p:txBody>
      </p:sp>
      <p:sp>
        <p:nvSpPr>
          <p:cNvPr id="14" name="Text 12"/>
          <p:cNvSpPr/>
          <p:nvPr/>
        </p:nvSpPr>
        <p:spPr>
          <a:xfrm>
            <a:off x="9144000" y="5194305"/>
            <a:ext cx="2295144" cy="485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حجم الأسماء الواردة خلال الفترة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208776" y="4491990"/>
            <a:ext cx="2551176" cy="1314450"/>
          </a:xfrm>
          <a:prstGeom prst="roundRect">
            <a:avLst>
              <a:gd name="adj" fmla="val 4870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00216" y="4670755"/>
            <a:ext cx="2368296" cy="449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1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التحويل</a:t>
            </a:r>
            <a:endParaRPr lang="en-US" sz="2010" dirty="0"/>
          </a:p>
        </p:txBody>
      </p:sp>
      <p:sp>
        <p:nvSpPr>
          <p:cNvPr id="17" name="Text 15"/>
          <p:cNvSpPr/>
          <p:nvPr/>
        </p:nvSpPr>
        <p:spPr>
          <a:xfrm>
            <a:off x="6336792" y="5194305"/>
            <a:ext cx="2295144" cy="485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معدّل التحويل الفعلي إلى عملاء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3401568" y="4491990"/>
            <a:ext cx="2551176" cy="1314450"/>
          </a:xfrm>
          <a:prstGeom prst="roundRect">
            <a:avLst>
              <a:gd name="adj" fmla="val 4870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93008" y="4670755"/>
            <a:ext cx="2368296" cy="449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1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العالق</a:t>
            </a:r>
            <a:endParaRPr lang="en-US" sz="2010" dirty="0"/>
          </a:p>
        </p:txBody>
      </p:sp>
      <p:sp>
        <p:nvSpPr>
          <p:cNvPr id="20" name="Text 18"/>
          <p:cNvSpPr/>
          <p:nvPr/>
        </p:nvSpPr>
        <p:spPr>
          <a:xfrm>
            <a:off x="3529584" y="5194305"/>
            <a:ext cx="2295144" cy="485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أسماء مؤهّلة تنتظر إتمام التحويل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594360" y="4491990"/>
            <a:ext cx="2551176" cy="1314450"/>
          </a:xfrm>
          <a:prstGeom prst="roundRect">
            <a:avLst>
              <a:gd name="adj" fmla="val 4870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5800" y="4670755"/>
            <a:ext cx="2368296" cy="449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1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الهدر</a:t>
            </a:r>
            <a:endParaRPr lang="en-US" sz="2010" dirty="0"/>
          </a:p>
        </p:txBody>
      </p:sp>
      <p:sp>
        <p:nvSpPr>
          <p:cNvPr id="23" name="Text 21"/>
          <p:cNvSpPr/>
          <p:nvPr/>
        </p:nvSpPr>
        <p:spPr>
          <a:xfrm>
            <a:off x="722376" y="5194305"/>
            <a:ext cx="2295144" cy="485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نسبة المرفوض من إجمالي الواردات</a:t>
            </a:r>
            <a:endParaRPr lang="en-US" sz="12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‏6‏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‏16‏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الموظفون وإدارة التوظيف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10972800" cy="998982"/>
          </a:xfrm>
          <a:prstGeom prst="roundRect">
            <a:avLst>
              <a:gd name="adj" fmla="val 6407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1600200"/>
            <a:ext cx="10387584" cy="9989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500"/>
              </a:lnSpc>
              <a:buNone/>
            </a:pPr>
            <a:r>
              <a:rPr lang="en-US" sz="1590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كانت الوظيفة مبتورة:‏ شاشة »طالبي وظائف« تعرض صفر نتيجة مع ‏20,521‏ مدخلاً، ونتيجة القبول والرفض على رابطين منفصلين دون حالةٍ موحّدة.</a:t>
            </a:r>
            <a:endParaRPr lang="en-US" sz="1590" dirty="0"/>
          </a:p>
        </p:txBody>
      </p:sp>
      <p:sp>
        <p:nvSpPr>
          <p:cNvPr id="8" name="Shape 6"/>
          <p:cNvSpPr/>
          <p:nvPr/>
        </p:nvSpPr>
        <p:spPr>
          <a:xfrm>
            <a:off x="6208776" y="2809494"/>
            <a:ext cx="5358384" cy="2996946"/>
          </a:xfrm>
          <a:prstGeom prst="roundRect">
            <a:avLst>
              <a:gd name="adj" fmla="val 2136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9944" y="2977744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دورة حياة طلب التوظيف ‏—‏ ‏16‏ حالة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9944" y="3440430"/>
            <a:ext cx="4956048" cy="2218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الاستلام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جديد، قيد المراجعة، مؤهّل، مرفوض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المقابلة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مقابلة مجدولة، مقابلة منفَّذة، مقابلة غير موفَّقة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القبول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مقبول، تدريب مجدول، تدريب بدأ، تدريب منتهٍ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الحسم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إعادة تدريب، ناجح، توظيف نهائي، رفض نهائي، منسحب</a:t>
            </a:r>
            <a:endParaRPr lang="en-US" sz="1430" dirty="0"/>
          </a:p>
        </p:txBody>
      </p:sp>
      <p:sp>
        <p:nvSpPr>
          <p:cNvPr id="11" name="Shape 9"/>
          <p:cNvSpPr/>
          <p:nvPr/>
        </p:nvSpPr>
        <p:spPr>
          <a:xfrm>
            <a:off x="594360" y="2809494"/>
            <a:ext cx="5358384" cy="2996946"/>
          </a:xfrm>
          <a:prstGeom prst="roundRect">
            <a:avLst>
              <a:gd name="adj" fmla="val 2136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95528" y="2977744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وما يحيط بها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95528" y="3440430"/>
            <a:ext cx="4956048" cy="2218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مقارنة المرشّحين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مقارنة مباشرة على المعايير نفسها، لا حكماً من الذاكرة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المقابلات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 للمقابل والموعد والنتيجة والملاحظات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الدورات التدريبية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بداية ونهاية وتخرّج ومدرّب ومشتركين ومتخرّجين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سجلات الموظفين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الأقسام والمدير المباشر والمدرّب وحالة الموظف بأربع حالات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نقل الموظف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عملية نقلٍ صريحة بين الفروع، بضوابط على العمل المفتوح</a:t>
            </a:r>
            <a:endParaRPr lang="en-US" sz="14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2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‏7‏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C6E8C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‏17‏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إدارة عمل الفرع ‏—‏ أعقد ما بُني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409944" y="1325880"/>
            <a:ext cx="5157216" cy="3594152"/>
          </a:xfrm>
          <a:prstGeom prst="roundRect">
            <a:avLst>
              <a:gd name="adj" fmla="val 1781"/>
            </a:avLst>
          </a:prstGeom>
          <a:solidFill>
            <a:srgbClr val="0A1829"/>
          </a:solidFill>
          <a:ln w="12700">
            <a:solidFill>
              <a:srgbClr val="1C6E8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592824" y="1325880"/>
            <a:ext cx="4791456" cy="3594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مساحة اللقطة الصامتة</a:t>
            </a:r>
            <a:endParaRPr lang="en-US" sz="1350" dirty="0"/>
          </a:p>
          <a:p>
            <a:pPr rtl="1" algn="ctr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المشهد ‏13‏ ‏—‏ طاولة الخريطة</a:t>
            </a:r>
            <a:endParaRPr lang="en-US" sz="1350" dirty="0"/>
          </a:p>
          <a:p>
            <a:pPr rtl="1" algn="ctr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‏14‏ ثانية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5157216" cy="698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buNone/>
            </a:pPr>
            <a:r>
              <a:rPr lang="en-US" sz="1810" b="1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طبقةٌ لم يكن لها وجود ‏—‏ لا في النظام القائم ولا في الملفات.</a:t>
            </a:r>
            <a:endParaRPr lang="en-US" sz="1810" dirty="0"/>
          </a:p>
        </p:txBody>
      </p:sp>
      <p:sp>
        <p:nvSpPr>
          <p:cNvPr id="9" name="Text 7"/>
          <p:cNvSpPr/>
          <p:nvPr/>
        </p:nvSpPr>
        <p:spPr>
          <a:xfrm>
            <a:off x="594360" y="2124580"/>
            <a:ext cx="5157216" cy="2795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التخطيط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نطاقات عمل، دورات تخطيط يومية، جداول يومية للفرق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المسارات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تركيب خطوط السير ومحطاتها وإسناد الفرق إليها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المهام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إضافة المهام اللازمة إلى المحطات، وترتيبها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الاستبعاد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على مستوى الفريق، وعلى مستوى اليوم ‏—‏ قرارٌ واعٍ لا إغفال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الاستهداف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أهداف الاتصال وربطها بالمهام المفتوحة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الميدان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دراسة المناطق، سجلات الموقع الجغرافي، تنبيهات التصعيد والمواعيد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94360" y="5219544"/>
            <a:ext cx="10972800" cy="998376"/>
          </a:xfrm>
          <a:prstGeom prst="roundRect">
            <a:avLst>
              <a:gd name="adj" fmla="val 6411"/>
            </a:avLst>
          </a:prstGeom>
          <a:solidFill>
            <a:srgbClr val="0A1829"/>
          </a:solidFill>
          <a:ln w="12700">
            <a:solidFill>
              <a:srgbClr val="0A1829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5219544"/>
            <a:ext cx="10424160" cy="998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400"/>
              </a:lnSpc>
              <a:buNone/>
            </a:pPr>
            <a:r>
              <a:rPr lang="en-US" sz="2380" b="1" dirty="0">
                <a:solidFill>
                  <a:srgbClr val="FFFFFF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‏15‏ جدولاً لطبقةٍ كانت تعمل في ذاكرة مدير الفرع</a:t>
            </a:r>
            <a:endParaRPr lang="en-US" sz="23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‏8‏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‏18‏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المهمة المفتوحة ‏—‏ وحدة العمل الأساسية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208776" y="1957730"/>
            <a:ext cx="5358384" cy="3312414"/>
          </a:xfrm>
          <a:prstGeom prst="roundRect">
            <a:avLst>
              <a:gd name="adj" fmla="val 1932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9944" y="2125980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ما هي المهمة المفتوحة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9944" y="2588666"/>
            <a:ext cx="4956048" cy="253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التعريف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عملٌ مستحقٌّ على عميلٍ أو جهاز، قائمٌ بذاته، لا سطرٌ في زيارة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الأنواع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عرض جهاز، تسليم، تركيب، تفعيل، فحص، فصل، سحب، إرجاع، نقل، صيانة دورية، صيانة طارئة، تسليم هدية، تحصيل قسط، فحص مياه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الحالات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‏11‏ حالة تُبيّن موقعها في مسارها بدقّة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الأهلية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قواعد مكتوبة تحدّد متى تصبح المهمة مؤهّلة للجدولة</a:t>
            </a:r>
            <a:endParaRPr lang="en-US" sz="1430" dirty="0"/>
          </a:p>
        </p:txBody>
      </p:sp>
      <p:sp>
        <p:nvSpPr>
          <p:cNvPr id="9" name="Shape 7"/>
          <p:cNvSpPr/>
          <p:nvPr/>
        </p:nvSpPr>
        <p:spPr>
          <a:xfrm>
            <a:off x="594360" y="1957730"/>
            <a:ext cx="5358384" cy="3312414"/>
          </a:xfrm>
          <a:prstGeom prst="roundRect">
            <a:avLst>
              <a:gd name="adj" fmla="val 1932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" y="2125980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وما يترتّب عليها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588666"/>
            <a:ext cx="4956048" cy="253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الإسناد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لكل مهمة مسؤولٌ ومصدرٌ وسببُ إنشاء من قائمةٍ مُدارة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السحب إلى الزيارة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يمكن سحب مهام العميل المنتظرة إلى زيارةٍ قائمة، بضوابط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الحمل المالي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المهام المالية تحمل قيودها ودفعاتها وأقساطها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 النشاط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كل انتقال حالةٍ مسجّلٌ بصاحبه ووقته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التصعيد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تنبيهات على المهام المتأخّرة أو المعطَّلة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الاستبعاد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استبعاد مُعلَّل من الخطة، بسببٍ من قائمةٍ مُدارة</a:t>
            </a:r>
            <a:endParaRPr lang="en-US" sz="143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‏9‏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‏19‏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إدارة الاتصال وجدولة الزيارات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325880"/>
            <a:ext cx="10972800" cy="715908"/>
          </a:xfrm>
          <a:prstGeom prst="roundRect">
            <a:avLst>
              <a:gd name="adj" fmla="val 8941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982712" y="1325880"/>
            <a:ext cx="3383280" cy="715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قوائم الاتصال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" y="1325880"/>
            <a:ext cx="6986016" cy="715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قوائم منظّمة تُبنى من أهداف الاتصال المؤهّلة، بدلاً من ورقةٍ منفصلة لكل موظف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2161106"/>
            <a:ext cx="10972800" cy="715908"/>
          </a:xfrm>
          <a:prstGeom prst="roundRect">
            <a:avLst>
              <a:gd name="adj" fmla="val 8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82712" y="2161106"/>
            <a:ext cx="3383280" cy="715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سجل كل اتصال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5528" y="2161106"/>
            <a:ext cx="6986016" cy="715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المتصل، والوقت، ومع من تم الاتصال، والنتيجة، وسببها من قائمةٍ مُدارة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2996333"/>
            <a:ext cx="10972800" cy="715908"/>
          </a:xfrm>
          <a:prstGeom prst="roundRect">
            <a:avLst>
              <a:gd name="adj" fmla="val 8941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82712" y="2996333"/>
            <a:ext cx="3383280" cy="715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دورة هدف الاتصال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" y="2996333"/>
            <a:ext cx="6986016" cy="715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سبع حالات:‏ جديد، في الطابور، في قائمة الاتصال، تم الاتصال، محجوز، مغلق، ملغى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3831559"/>
            <a:ext cx="10972800" cy="715908"/>
          </a:xfrm>
          <a:prstGeom prst="roundRect">
            <a:avLst>
              <a:gd name="adj" fmla="val 8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82712" y="3831559"/>
            <a:ext cx="3383280" cy="715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من الاتصال إلى الموعد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" y="3831559"/>
            <a:ext cx="6986016" cy="715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الموعد المؤكَّد يتحوّل إلى زيارةٍ مجدولة على المسار، دون نقلٍ يدوي بين ملفين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" y="4666785"/>
            <a:ext cx="10972800" cy="715908"/>
          </a:xfrm>
          <a:prstGeom prst="roundRect">
            <a:avLst>
              <a:gd name="adj" fmla="val 8941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982712" y="4666785"/>
            <a:ext cx="3383280" cy="715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الارتباط بخطة الفرع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95528" y="4666785"/>
            <a:ext cx="6986016" cy="715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الجدولة تجري داخل الخطة لا خارجها، فتظهر في حمل الفريق وفي التقارير في الحال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" y="5502012"/>
            <a:ext cx="10972800" cy="715908"/>
          </a:xfrm>
          <a:prstGeom prst="roundRect">
            <a:avLst>
              <a:gd name="adj" fmla="val 8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82712" y="5502012"/>
            <a:ext cx="3383280" cy="715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ضوابط الإزعاج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95528" y="5502012"/>
            <a:ext cx="6986016" cy="715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مدد تهدئة تمنع تكرار الاتصال بالعميل نفسه، وإغلاقٌ يدوي مع شبكة أمانٍ تلقائية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‏10‏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‏20‏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الزيارة ومهامها ‏—‏ إعادة بناءٍ كاملة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208776" y="1516075"/>
            <a:ext cx="5358384" cy="3154680"/>
          </a:xfrm>
          <a:prstGeom prst="roundRect">
            <a:avLst>
              <a:gd name="adj" fmla="val 2029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9944" y="1684325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القائم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9944" y="2147011"/>
            <a:ext cx="4956048" cy="2376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الحقول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الزيارة التسويقية والخدمية تتشاركان الحقول نفسها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النتيجة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عمودٌ واحد للنتيجة وآخر للحالة الفنية، ونصٌّ حر فيهما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الأثر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تتداخل النتائج فتُعيق العمل بدلاً من أن تنظّمه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التتبّع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 يُعرف ما نُفِّذ فعلاً في الزيارة وما لم يُنفَّذ</a:t>
            </a:r>
            <a:endParaRPr lang="en-US" sz="1430" dirty="0"/>
          </a:p>
        </p:txBody>
      </p:sp>
      <p:sp>
        <p:nvSpPr>
          <p:cNvPr id="9" name="Shape 7"/>
          <p:cNvSpPr/>
          <p:nvPr/>
        </p:nvSpPr>
        <p:spPr>
          <a:xfrm>
            <a:off x="594360" y="1516075"/>
            <a:ext cx="5358384" cy="3154680"/>
          </a:xfrm>
          <a:prstGeom prst="roundRect">
            <a:avLst>
              <a:gd name="adj" fmla="val 2029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" y="1684325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بعد التأسيس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147011"/>
            <a:ext cx="4956048" cy="23765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الفصل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الزيارة وعاء، والمهمة هي وحدة العمل ‏—‏ ولكل مهمةٍ نتيجتها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‏14‏ جدول نتائج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عرض جهاز، تسليم، تركيب، تفعيل، فحص، فصل، سحب، إرجاع، نقل، تسليم هدية، تحصيل قسط، وثلاثة للصيانة الطارئة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حالات الزيارة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‏7‏ حالات:‏ مجدولة، قيد التنفيذ، منتهية، مكتملة، غير مكتملة، ملغاة، مغلقة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حالات مهمة الزيارة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‏5‏ حالات مستقلة عن حالة الزيارة نفسها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الميدان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تسجيل الموقع الجغرافي، واستبيانات الزيارة، ومصادر إنشائها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زيارة ميدانية فورية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إمكان فتح زيارةٍ خارج الخطة بضوابط نطاقٍ صارمة</a:t>
            </a:r>
            <a:endParaRPr lang="en-US" sz="1430" dirty="0"/>
          </a:p>
        </p:txBody>
      </p:sp>
      <p:sp>
        <p:nvSpPr>
          <p:cNvPr id="12" name="Shape 10"/>
          <p:cNvSpPr/>
          <p:nvPr/>
        </p:nvSpPr>
        <p:spPr>
          <a:xfrm>
            <a:off x="594360" y="4828489"/>
            <a:ext cx="10972800" cy="1104138"/>
          </a:xfrm>
          <a:prstGeom prst="roundRect">
            <a:avLst>
              <a:gd name="adj" fmla="val 5797"/>
            </a:avLst>
          </a:prstGeom>
          <a:solidFill>
            <a:srgbClr val="10243D"/>
          </a:solidFill>
          <a:ln w="12700">
            <a:solidFill>
              <a:srgbClr val="10243D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4828489"/>
            <a:ext cx="1042416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300"/>
              </a:lnSpc>
              <a:buNone/>
            </a:pPr>
            <a:r>
              <a:rPr lang="en-US" sz="2230" b="1" dirty="0">
                <a:solidFill>
                  <a:srgbClr val="FFFFFF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وأصبح تداخل النتائج ممتنعاً بنيوياً، لا موكولاً إلى التزام الموظف</a:t>
            </a:r>
            <a:endParaRPr lang="en-US" sz="223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‏11‏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‏21‏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فصل العقد عن اتفاقية الصيانة عن الجهاز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600200"/>
            <a:ext cx="10972800" cy="946404"/>
          </a:xfrm>
          <a:prstGeom prst="roundRect">
            <a:avLst>
              <a:gd name="adj" fmla="val 6763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86968" y="1600200"/>
            <a:ext cx="10387584" cy="946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كان العقد واتفاقية الصيانة والجهاز وحدةً واحدة ملتحمة، فكانت الزيارة تُنفَّذ على العقد لا على الجهاز.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080248" y="2756916"/>
            <a:ext cx="3486912" cy="3049524"/>
          </a:xfrm>
          <a:prstGeom prst="roundRect">
            <a:avLst>
              <a:gd name="adj" fmla="val 2099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81416" y="2925166"/>
            <a:ext cx="3084576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العقد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81416" y="3387852"/>
            <a:ext cx="3084576" cy="22713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الحالات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مسودّة، فعّال، ملغى، مكتمل، مطروح</a:t>
            </a:r>
            <a:endParaRPr lang="en-US" sz="133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الأطراف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المشتري، والمستفيد، والوسيط، ومالك البيع</a:t>
            </a:r>
            <a:endParaRPr lang="en-US" sz="133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المال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دفعة أولى وأقساط وقيود دفعٍ ومستحقات</a:t>
            </a:r>
            <a:endParaRPr lang="en-US" sz="133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المستندات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عقد إلكتروني قابل للطباعة</a:t>
            </a:r>
            <a:endParaRPr lang="en-US" sz="133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الإلغاء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مصفوفة إلغاء تحدّد أثره على الجهاز والمهام والضمان</a:t>
            </a:r>
            <a:endParaRPr lang="en-US" sz="1330" dirty="0"/>
          </a:p>
        </p:txBody>
      </p:sp>
      <p:sp>
        <p:nvSpPr>
          <p:cNvPr id="11" name="Shape 9"/>
          <p:cNvSpPr/>
          <p:nvPr/>
        </p:nvSpPr>
        <p:spPr>
          <a:xfrm>
            <a:off x="4337304" y="2756916"/>
            <a:ext cx="3486912" cy="3049524"/>
          </a:xfrm>
          <a:prstGeom prst="roundRect">
            <a:avLst>
              <a:gd name="adj" fmla="val 2099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38472" y="2925166"/>
            <a:ext cx="3084576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اتفاقية الصيانة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38472" y="3387852"/>
            <a:ext cx="3084576" cy="22713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الاستقلال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كيانٌ مستقل له مدّته ونطاقه</a:t>
            </a:r>
            <a:endParaRPr lang="en-US" sz="133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الدورية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توليد الصيانات الدورية بفواصل زمنية محسوبة</a:t>
            </a:r>
            <a:endParaRPr lang="en-US" sz="133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الالتزام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قياس التزام العميل بالمواعيد وأثره على الأولوية</a:t>
            </a:r>
            <a:endParaRPr lang="en-US" sz="133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التغطية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يغطّيه العقد وما يقع على العميل، بقاعدةٍ مكتوبة</a:t>
            </a:r>
            <a:endParaRPr lang="en-US" sz="1330" dirty="0"/>
          </a:p>
        </p:txBody>
      </p:sp>
      <p:sp>
        <p:nvSpPr>
          <p:cNvPr id="14" name="Shape 12"/>
          <p:cNvSpPr/>
          <p:nvPr/>
        </p:nvSpPr>
        <p:spPr>
          <a:xfrm>
            <a:off x="594360" y="2756916"/>
            <a:ext cx="3486912" cy="3049524"/>
          </a:xfrm>
          <a:prstGeom prst="roundRect">
            <a:avLst>
              <a:gd name="adj" fmla="val 2099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95528" y="2925166"/>
            <a:ext cx="3084576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الجهاز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95528" y="3387852"/>
            <a:ext cx="3084576" cy="22713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المرجعية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الزيارة تُنفَّذ على الجهاز لا على الورقة</a:t>
            </a:r>
            <a:endParaRPr lang="en-US" sz="133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التاريخ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لكل جهازٍ تاريخ خدمةٍ متّصل قابل للقراءة</a:t>
            </a:r>
            <a:endParaRPr lang="en-US" sz="133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الفرع الخدمي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الجهاز مرتبط بالفرع الذي يخدمه فعلاً</a:t>
            </a:r>
            <a:endParaRPr lang="en-US" sz="133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المقايضة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استبدال جهازٍ بآخر بمسارٍ محسوب ومُوثّق</a:t>
            </a:r>
            <a:endParaRPr lang="en-US" sz="13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‏12‏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‏22‏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هوية الجهاز المركّب وسجلّه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9015984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07424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‏25‏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0" y="2499443"/>
            <a:ext cx="2295144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جدولاً في منظومة الأجهزة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208776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0216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‏10‏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336792" y="2499443"/>
            <a:ext cx="2295144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حالات لعمر الجهاز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401568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93008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‏9‏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529584" y="2499443"/>
            <a:ext cx="2295144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أنواع مهام ترتبط بالجهاز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594360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‏3‏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22376" y="2499443"/>
            <a:ext cx="2295144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منظومات ضمانٍ مترابطة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208776" y="3240634"/>
            <a:ext cx="5358384" cy="2628900"/>
          </a:xfrm>
          <a:prstGeom prst="roundRect">
            <a:avLst>
              <a:gd name="adj" fmla="val 2435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9944" y="3408883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دورة عمر الجهاز ‏—‏ ‏10‏ حالات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9944" y="3871570"/>
            <a:ext cx="4956048" cy="1850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قبل التشغيل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مسجّل، بانتظار التسليم، مُسلَّم، مُركَّب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في الخدمة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فعّال، معطّل، في الورشة، جاهز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خارج الخدمة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خارج الخدمة، مسحوب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الحيازة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 يبيّن من يحوز الجهاز في كل لحظة وتاريخ كل انتقال</a:t>
            </a:r>
            <a:endParaRPr lang="en-US" sz="1380" dirty="0"/>
          </a:p>
        </p:txBody>
      </p:sp>
      <p:sp>
        <p:nvSpPr>
          <p:cNvPr id="21" name="Shape 19"/>
          <p:cNvSpPr/>
          <p:nvPr/>
        </p:nvSpPr>
        <p:spPr>
          <a:xfrm>
            <a:off x="594360" y="3240634"/>
            <a:ext cx="5358384" cy="2628900"/>
          </a:xfrm>
          <a:prstGeom prst="roundRect">
            <a:avLst>
              <a:gd name="adj" fmla="val 2435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" y="3408883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السجلات المرافقة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95528" y="3871570"/>
            <a:ext cx="4956048" cy="1850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التواريخ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التركيب، والتشغيل، والاستلام، وكل تغيّر حالة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السجل الفني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 صحة الجهاز، ومكوّناته وقطعه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القطع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القطع المبدلة بالاسم والعدد والسعر لكل زيارة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المال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الذمم المالية المرتبطة بالجهاز ودفعاتها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المهام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كل مهمة نُفِّذت عليه، ونتيجتها المفصّلة</a:t>
            </a:r>
            <a:endParaRPr lang="en-US" sz="13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‏13‏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‏23‏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الصيانة الطارئة والدورية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208776" y="1495044"/>
            <a:ext cx="5358384" cy="3207258"/>
          </a:xfrm>
          <a:prstGeom prst="roundRect">
            <a:avLst>
              <a:gd name="adj" fmla="val 1996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9944" y="1663294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القائم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9944" y="2125980"/>
            <a:ext cx="4956048" cy="2429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القطع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عمودٌ نصّي حرّ واحد:‏ القطع المبدلة وملاحظاتها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المال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عمودٌ رقمي واحد:‏ المبلغ المدفوع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الفصل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 فصل بين الصيانة الطارئة والدورية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الأسباب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 تصنيف لسبب العطل ولا لنتيجة المعالجة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الأثر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يتعذّر تحليل الأعطال أو قياس تكلفة الصيانة</a:t>
            </a:r>
            <a:endParaRPr lang="en-US" sz="1430" dirty="0"/>
          </a:p>
        </p:txBody>
      </p:sp>
      <p:sp>
        <p:nvSpPr>
          <p:cNvPr id="9" name="Shape 7"/>
          <p:cNvSpPr/>
          <p:nvPr/>
        </p:nvSpPr>
        <p:spPr>
          <a:xfrm>
            <a:off x="594360" y="1495044"/>
            <a:ext cx="5358384" cy="3207258"/>
          </a:xfrm>
          <a:prstGeom prst="roundRect">
            <a:avLst>
              <a:gd name="adj" fmla="val 1996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" y="1663294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بعد التأسيس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125980"/>
            <a:ext cx="4956048" cy="2429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الفصل البنيوي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حِملٌ مستقل للطارئة وآخر للدورية في أصل البيانات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الحالات الفنية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جدول مستقل لتشخيص الحالة الفنية وأنواع المشكلات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القطع المستخدمة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جدول مستقل بالقطع والكمّيات والتكاليف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الحركة المالية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جدول مستقل للقيود، مع أقساطٍ وقيود دفعٍ للطوارئ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الأسباب المُدارة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أنواع الإجراءات، أسباب الحل وعدم الحل والمتابعة والإلغاء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السلامة والمرفقات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مؤشرات سلامة، وتصنيفات مرفقاتٍ للأدلة الميدانية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الدورية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توليدٌ تلقائي متجدّد، وربطٌ بالالتزام والأولوية</a:t>
            </a:r>
            <a:endParaRPr lang="en-US" sz="1430" dirty="0"/>
          </a:p>
        </p:txBody>
      </p:sp>
      <p:sp>
        <p:nvSpPr>
          <p:cNvPr id="12" name="Shape 10"/>
          <p:cNvSpPr/>
          <p:nvPr/>
        </p:nvSpPr>
        <p:spPr>
          <a:xfrm>
            <a:off x="594360" y="4860036"/>
            <a:ext cx="10972800" cy="1104138"/>
          </a:xfrm>
          <a:prstGeom prst="roundRect">
            <a:avLst>
              <a:gd name="adj" fmla="val 5797"/>
            </a:avLst>
          </a:prstGeom>
          <a:solidFill>
            <a:srgbClr val="10243D"/>
          </a:solidFill>
          <a:ln w="12700">
            <a:solidFill>
              <a:srgbClr val="10243D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4860036"/>
            <a:ext cx="1042416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600"/>
              </a:lnSpc>
              <a:buNone/>
            </a:pPr>
            <a:r>
              <a:rPr lang="en-US" sz="2540" b="1" dirty="0">
                <a:solidFill>
                  <a:srgbClr val="FFFFFF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من خليةٍ نصّية واحدة ‏—‏ إلى ستة جداول منظّمة</a:t>
            </a:r>
            <a:endParaRPr lang="en-US" sz="254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‏14‏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‏24‏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المنظومة المالية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9015984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07424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‏11‏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0" y="2499443"/>
            <a:ext cx="2295144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جدولاً مالياً مترابطاً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208776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0216" y="1736903"/>
            <a:ext cx="2368296" cy="449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1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الأقساط</a:t>
            </a:r>
            <a:endParaRPr lang="en-US" sz="2010" dirty="0"/>
          </a:p>
        </p:txBody>
      </p:sp>
      <p:sp>
        <p:nvSpPr>
          <p:cNvPr id="11" name="Text 9"/>
          <p:cNvSpPr/>
          <p:nvPr/>
        </p:nvSpPr>
        <p:spPr>
          <a:xfrm>
            <a:off x="6336792" y="2260452"/>
            <a:ext cx="2295144" cy="643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للعقود والصيانة والضمان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401568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93008" y="1736903"/>
            <a:ext cx="2368296" cy="449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1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المستحقات</a:t>
            </a:r>
            <a:endParaRPr lang="en-US" sz="2010" dirty="0"/>
          </a:p>
        </p:txBody>
      </p:sp>
      <p:sp>
        <p:nvSpPr>
          <p:cNvPr id="14" name="Text 12"/>
          <p:cNvSpPr/>
          <p:nvPr/>
        </p:nvSpPr>
        <p:spPr>
          <a:xfrm>
            <a:off x="3529584" y="2260452"/>
            <a:ext cx="2295144" cy="643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بأربع حالات:‏ منتظر، جزئي، مسدَّد، متأخّر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594360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1736903"/>
            <a:ext cx="2368296" cy="449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1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المقايضة</a:t>
            </a:r>
            <a:endParaRPr lang="en-US" sz="2010" dirty="0"/>
          </a:p>
        </p:txBody>
      </p:sp>
      <p:sp>
        <p:nvSpPr>
          <p:cNvPr id="17" name="Text 15"/>
          <p:cNvSpPr/>
          <p:nvPr/>
        </p:nvSpPr>
        <p:spPr>
          <a:xfrm>
            <a:off x="722376" y="2260452"/>
            <a:ext cx="2295144" cy="643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منظومة مستقلة باختباراتها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208776" y="3240634"/>
            <a:ext cx="5358384" cy="2628900"/>
          </a:xfrm>
          <a:prstGeom prst="roundRect">
            <a:avLst>
              <a:gd name="adj" fmla="val 2435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9944" y="3408883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مصادر القيد المالي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9944" y="3871570"/>
            <a:ext cx="4956048" cy="1850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العقد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دفعة أولى، وأقساط، وقيود دفعٍ مفصّلة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الصيانة الطارئة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تكاليف القطع، والأقساط، وقيود الدفع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الضمان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أقساط الضمان ودفعاته المستقلة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المهام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مهام تحصيل الأقساط ونتائجها وأسباب الرفض أو التجزئة</a:t>
            </a:r>
            <a:endParaRPr lang="en-US" sz="1380" dirty="0"/>
          </a:p>
        </p:txBody>
      </p:sp>
      <p:sp>
        <p:nvSpPr>
          <p:cNvPr id="21" name="Shape 19"/>
          <p:cNvSpPr/>
          <p:nvPr/>
        </p:nvSpPr>
        <p:spPr>
          <a:xfrm>
            <a:off x="594360" y="3240634"/>
            <a:ext cx="5358384" cy="2628900"/>
          </a:xfrm>
          <a:prstGeom prst="roundRect">
            <a:avLst>
              <a:gd name="adj" fmla="val 2435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" y="3408883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ما أصبح ممكناً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95528" y="3871570"/>
            <a:ext cx="4956048" cy="1850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أثرٌ لكل عملية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كل تسليمٍ وتركيبٍ وصيانةٍ وتحصيلٍ يترك قيداً مرتبطاً بمصدره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كشف حساب العميل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يُستخرج من قيودٍ مترابطة، لا من تجميعٍ يدوي بين ملفات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عمولات الفنيين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محسوبة من عملٍ مسجَّل، لا من عمودٍ في جدول بيانات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التحليل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قياس تكلفة الصيانة والتحصيل لكل فرعٍ وفترة</a:t>
            </a:r>
            <a:endParaRPr lang="en-US" sz="138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‏15‏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‏25‏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طبقة التقارير والتحليلات</a:t>
            </a:r>
            <a:endParaRPr lang="en-US" sz="2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375799"/>
          <a:ext cx="5486400" cy="3693989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64808" y="1375799"/>
            <a:ext cx="5102352" cy="3693989"/>
          </a:xfrm>
          <a:prstGeom prst="roundRect">
            <a:avLst>
              <a:gd name="adj" fmla="val 1733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665976" y="1535539"/>
            <a:ext cx="4700016" cy="3793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6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ما بُني في طبقة التحليلات</a:t>
            </a:r>
            <a:endParaRPr lang="en-US" sz="1660" dirty="0"/>
          </a:p>
        </p:txBody>
      </p:sp>
      <p:sp>
        <p:nvSpPr>
          <p:cNvPr id="9" name="Text 6"/>
          <p:cNvSpPr/>
          <p:nvPr/>
        </p:nvSpPr>
        <p:spPr>
          <a:xfrm>
            <a:off x="6665976" y="1974824"/>
            <a:ext cx="4700016" cy="2955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الكتالوج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‏34‏ مؤشراً و‏44‏ تفصيلاً في مصدرٍ موحّد واحد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اللوحة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‏75‏ مؤشراً قابلاً للتركيب على لوحةٍ يبنيها كل مسؤول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العرض المرئي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‏41‏ عنصراً:‏ ‏19‏ شريطياً مرتّباً، ‏15‏ دائرياً، ‏4‏ زمنياً، ‏3‏ قمعياً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الأقسام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العملاء، الأسماء المقترحة، العقود، الأجهزة، التوظيف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الصلاحية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كل مؤشرٍ مبوّب بصلاحية، ولا يُرى إلا لمن يملك مصدره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النطاق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يُفرض مرتين:‏ في الواجهة وفي الخادم ‏—‏ دفاعٌ بطبقتين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الفترات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مقارنة بين الفترات:‏ يوم، أسبوع، شهر، ربع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94360" y="5269463"/>
            <a:ext cx="10972800" cy="948457"/>
          </a:xfrm>
          <a:prstGeom prst="roundRect">
            <a:avLst>
              <a:gd name="adj" fmla="val 6749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5269463"/>
            <a:ext cx="10424160" cy="948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800"/>
              </a:lnSpc>
              <a:buNone/>
            </a:pPr>
            <a:r>
              <a:rPr lang="en-US" sz="176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التقارير لم تكن ناقصةً في البنية القائمة، بل كانت غير موثوقة لأن بياناتها تُولد في خلايا حرّة</a:t>
            </a:r>
            <a:endParaRPr lang="en-US" sz="176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‏16‏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‏26‏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نطاق الشكاوى ‏—‏ منظومة مستقلة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8080248" y="1558138"/>
            <a:ext cx="3486912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171688" y="1736903"/>
            <a:ext cx="3304032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‏14‏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08264" y="2499443"/>
            <a:ext cx="3230880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جدولاً لنطاق الشكاوى وحده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4337304" y="1558138"/>
            <a:ext cx="3486912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28744" y="1736903"/>
            <a:ext cx="3304032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‏33‏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465320" y="2499443"/>
            <a:ext cx="3230880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مفتاح صلاحية خاصاً بالنطاق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594360" y="1558138"/>
            <a:ext cx="3486912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1736903"/>
            <a:ext cx="3304032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‏4‏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22376" y="2499443"/>
            <a:ext cx="3230880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حالات لنتيجة المعالجة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6208776" y="3240634"/>
            <a:ext cx="5358384" cy="2628900"/>
          </a:xfrm>
          <a:prstGeom prst="roundRect">
            <a:avLst>
              <a:gd name="adj" fmla="val 2435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9944" y="3408883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دورة معالجة كاملة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9944" y="3871570"/>
            <a:ext cx="4956048" cy="1850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مقدّم الشكوى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سجلٌّ مستقل لمقدّم الشكوى وصفته وصلته بالعميل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الهدف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ربط الشكوى بالجهاز أو العقد أو الزيارة أو الموظف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الإسناد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إسنادٌ صريح، مع ملاحظاتٍ داخلية لا يراها العميل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التفاصيل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تفاصيل فنية وتفاصيل جهازٍ يدوية عند غياب السجل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النتيجة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محلولة، غير محلولة، بحاجة متابعة، ملغاة</a:t>
            </a:r>
            <a:endParaRPr lang="en-US" sz="1380" dirty="0"/>
          </a:p>
        </p:txBody>
      </p:sp>
      <p:sp>
        <p:nvSpPr>
          <p:cNvPr id="18" name="Shape 16"/>
          <p:cNvSpPr/>
          <p:nvPr/>
        </p:nvSpPr>
        <p:spPr>
          <a:xfrm>
            <a:off x="594360" y="3240634"/>
            <a:ext cx="5358384" cy="2628900"/>
          </a:xfrm>
          <a:prstGeom prst="roundRect">
            <a:avLst>
              <a:gd name="adj" fmla="val 2435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95528" y="3408883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الانضباط والشفافية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95528" y="3871570"/>
            <a:ext cx="4956048" cy="1850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تحديثاتٌ معلَنة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يُطلع عليه العميل مفصولٌ تماماً عن الملاحظات الداخلية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منح التتبّع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صلاحيات تتبّعٍ منضبطة لمن يحق له متابعة الشكوى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 الحالات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تاريخٌ كامل لكل تغيّر حالة، بصاحبه ووقته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 تدقيق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 تدقيق مستقل للنطاق كله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المرفقات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أدلّة مرفقة مصنَّفة</a:t>
            </a:r>
            <a:endParaRPr lang="en-US" sz="13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‏17‏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‏27‏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الهدايا والضمانات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208776" y="1768450"/>
            <a:ext cx="5358384" cy="3785616"/>
          </a:xfrm>
          <a:prstGeom prst="roundRect">
            <a:avLst>
              <a:gd name="adj" fmla="val 1691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9944" y="1936699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الهدايا ‏—‏ ستة جداول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9944" y="2399386"/>
            <a:ext cx="4956048" cy="3007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الوضع القائم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شاشةٌ للقراءة فقط:‏ لا إضافة ولا تعديل ولا حذف، مع ‏16,930‏ سجلاً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التعريفات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كتالوج الهدايا وأنواعها وشروط استحقاقها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المصادر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مصدر كل هدية:‏ عقد، أو ترشيح وسيط، أو حملة، أو متدرّب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الأحداث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 أحداثٍ لكل هدية:‏ الاستحقاق، والموافقة، والتسليم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التسليم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مهمة تسليمٍ ميدانية بنتيجتها وأسباب رفضها وتأجيلها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الحوكمة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موافقات وملاحظات موافقة قبل التسليم</a:t>
            </a:r>
            <a:endParaRPr lang="en-US" sz="1380" dirty="0"/>
          </a:p>
        </p:txBody>
      </p:sp>
      <p:sp>
        <p:nvSpPr>
          <p:cNvPr id="9" name="Shape 7"/>
          <p:cNvSpPr/>
          <p:nvPr/>
        </p:nvSpPr>
        <p:spPr>
          <a:xfrm>
            <a:off x="594360" y="1768450"/>
            <a:ext cx="5358384" cy="3785616"/>
          </a:xfrm>
          <a:prstGeom prst="roundRect">
            <a:avLst>
              <a:gd name="adj" fmla="val 1691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" y="1936699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الضمانات ‏—‏ منظومة موحّدة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399386"/>
            <a:ext cx="4956048" cy="3007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المسار الواحد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مسارٌ واحد لكل أنواع الضمان، لا مسارات متفرّقة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ضمان العقد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يُنشأ مرةً واحدة مع العقد، ونطاقه مشتقٌّ من نوعه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الضمان الذهبي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قابل للتكرار وبتسلسل، وواحدٌ فعّال في الوقت نفسه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العرض والتفعيل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عرضٌ يُقدَّم للعميل، ويُفعَّل عند الاستلام لا عند العرض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المال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أقساط ودفعات مستقلة عن أقساط العقد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المهام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مهام تسليم البطاقة، وأسباب القبول والرفض والمتابعة</a:t>
            </a:r>
            <a:endParaRPr lang="en-US" sz="138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‏18‏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‏28‏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المرجعية الجغرافية ونطاقات العمل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208776" y="1452982"/>
            <a:ext cx="5358384" cy="3312414"/>
          </a:xfrm>
          <a:prstGeom prst="roundRect">
            <a:avLst>
              <a:gd name="adj" fmla="val 1932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9944" y="1621231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القائم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9944" y="2083918"/>
            <a:ext cx="4956048" cy="253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البنية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قائمة مدنٍ مسطّحة:‏ ‏3,609‏ مدينة وسجلا دولةٍ فقط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العلاقة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حقل »تابعة لمدينة« دون شجرةٍ حقيقية ولا مستويات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التغطية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 تحديد لما يغطّيه كل فرعٍ جغرافياً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الأثر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المنطقة تُكتب نصاً في الملف، فلا تخطيط ولا تحليل جغرافي</a:t>
            </a:r>
            <a:endParaRPr lang="en-US" sz="1430" dirty="0"/>
          </a:p>
        </p:txBody>
      </p:sp>
      <p:sp>
        <p:nvSpPr>
          <p:cNvPr id="9" name="Shape 7"/>
          <p:cNvSpPr/>
          <p:nvPr/>
        </p:nvSpPr>
        <p:spPr>
          <a:xfrm>
            <a:off x="594360" y="1452982"/>
            <a:ext cx="5358384" cy="3312414"/>
          </a:xfrm>
          <a:prstGeom prst="roundRect">
            <a:avLst>
              <a:gd name="adj" fmla="val 1932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5528" y="1621231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بعد التأسيس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083918"/>
            <a:ext cx="4956048" cy="2534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شجرة بأربعة مستويات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من المحافظة إلى الحي، بعلاقاتٍ صريحة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تغطية الفروع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لكل فرعٍ تغطيةٌ جغرافية محدّدة تُحدّد نطاق عمله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نطاقات العمل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نطاقات عملٍ تربط الفريق بالمنطقة وبالمهام المستحقّة فيها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دراسة المناطق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لقطات دراسةٍ للمنطقة تُبنى عليها قرارات التخطيط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خطوط السير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مسارات ونقاط مرتبطة بالوحدات الجغرافية</a:t>
            </a:r>
            <a:endParaRPr lang="en-US" sz="1430" dirty="0"/>
          </a:p>
          <a:p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التتبّع  </a:t>
            </a:r>
            <a:pPr rtl="1" algn="r" indent="0" marL="0">
              <a:lnSpc>
                <a:spcPts val="2400"/>
              </a:lnSpc>
              <a:spcAft>
                <a:spcPts val="500"/>
              </a:spcAft>
              <a:buNone/>
            </a:pPr>
            <a:r>
              <a:rPr lang="en-US" sz="143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سجلات موقعٍ جغرافي للزيارات المنفَّذة</a:t>
            </a:r>
            <a:endParaRPr lang="en-US" sz="1430" dirty="0"/>
          </a:p>
        </p:txBody>
      </p:sp>
      <p:sp>
        <p:nvSpPr>
          <p:cNvPr id="12" name="Shape 10"/>
          <p:cNvSpPr/>
          <p:nvPr/>
        </p:nvSpPr>
        <p:spPr>
          <a:xfrm>
            <a:off x="594360" y="4923130"/>
            <a:ext cx="10972800" cy="1104138"/>
          </a:xfrm>
          <a:prstGeom prst="roundRect">
            <a:avLst>
              <a:gd name="adj" fmla="val 5797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4923130"/>
            <a:ext cx="10424160" cy="1104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200"/>
              </a:lnSpc>
              <a:buNone/>
            </a:pPr>
            <a:r>
              <a:rPr lang="en-US" sz="212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والمنطقة تحوّلت من كلمةٍ في خليّة ‏—‏ إلى وحدةٍ في شجرةٍ يُخطَّط عليها</a:t>
            </a:r>
            <a:endParaRPr lang="en-US" sz="212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‏19‏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‏29‏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تطبيق العميل على الهاتف المحمول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9015984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07424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‏14‏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0" y="2499443"/>
            <a:ext cx="2295144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مساراً خلفياً مخصّصاً للتطبيق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208776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0216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‏8‏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336792" y="2499443"/>
            <a:ext cx="2295144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جداول لحسابات التطبيق وإشعاراته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401568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93008" y="1736903"/>
            <a:ext cx="2368296" cy="449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1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التحقّق</a:t>
            </a:r>
            <a:endParaRPr lang="en-US" sz="2010" dirty="0"/>
          </a:p>
        </p:txBody>
      </p:sp>
      <p:sp>
        <p:nvSpPr>
          <p:cNvPr id="14" name="Text 12"/>
          <p:cNvSpPr/>
          <p:nvPr/>
        </p:nvSpPr>
        <p:spPr>
          <a:xfrm>
            <a:off x="3529584" y="2260452"/>
            <a:ext cx="2295144" cy="643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رمز تحقّق مع مزوّد رسائل فعلي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594360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1736903"/>
            <a:ext cx="2368296" cy="449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1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الإشعارات</a:t>
            </a:r>
            <a:endParaRPr lang="en-US" sz="2010" dirty="0"/>
          </a:p>
        </p:txBody>
      </p:sp>
      <p:sp>
        <p:nvSpPr>
          <p:cNvPr id="17" name="Text 15"/>
          <p:cNvSpPr/>
          <p:nvPr/>
        </p:nvSpPr>
        <p:spPr>
          <a:xfrm>
            <a:off x="722376" y="2260452"/>
            <a:ext cx="2295144" cy="643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تفاعلية وزمنية وإدارية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208776" y="3240634"/>
            <a:ext cx="5358384" cy="2628900"/>
          </a:xfrm>
          <a:prstGeom prst="roundRect">
            <a:avLst>
              <a:gd name="adj" fmla="val 2435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9944" y="3408883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ما يستطيعه العميل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9944" y="3871570"/>
            <a:ext cx="4956048" cy="1850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الحساب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إنشاء حسابٍ موثّق برقم هاتفه، وربطه بسجله في النظام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الطلبات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تقديم طلبٍ للخدمة أو للجهاز، ومتابعة حالته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أجهزته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عرض أجهزته المركّبة وحالتها وتاريخها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زياراته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عرض زياراته ومواعيدها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الشكاوى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تقديم شكوى ومتابعة تحديثاتها المعلَنة</a:t>
            </a:r>
            <a:endParaRPr lang="en-US" sz="1380" dirty="0"/>
          </a:p>
        </p:txBody>
      </p:sp>
      <p:sp>
        <p:nvSpPr>
          <p:cNvPr id="21" name="Shape 19"/>
          <p:cNvSpPr/>
          <p:nvPr/>
        </p:nvSpPr>
        <p:spPr>
          <a:xfrm>
            <a:off x="594360" y="3240634"/>
            <a:ext cx="5358384" cy="2628900"/>
          </a:xfrm>
          <a:prstGeom prst="roundRect">
            <a:avLst>
              <a:gd name="adj" fmla="val 2435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" y="3408883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وما يُدار من داخل النظام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95528" y="3871570"/>
            <a:ext cx="4956048" cy="1850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الحسابات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إدارة حسابات التطبيق وطلبات إنشائها والموافقة عليها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الإشعارات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إشعاراتٌ تلقائية على الأحداث، وأخرى زمنية، وإرسالٌ حرّ من الإدارة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الصفحة الرئيسية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إدارة العروض والشرائح المعروضة للعميل واستهدافها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الكتالوج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كتالوج الأجهزة وأغراض الطلب المعروضة في التطبيق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الطلبات الواردة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استقبال طلبات التطبيق وتحويلها إلى مهامٍ في النظام</a:t>
            </a:r>
            <a:endParaRPr lang="en-US" sz="13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‏20‏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‏30‏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الصلاحيات والمساءلة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9015984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07424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‏272‏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0" y="2499443"/>
            <a:ext cx="2295144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مفتاح صلاحية مُنفَّذاً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208776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0216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‏31‏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336792" y="2499443"/>
            <a:ext cx="2295144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نطاقاً موزّعة عليها المفاتيح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401568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93008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‏4‏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529584" y="2499443"/>
            <a:ext cx="2295144" cy="404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مستويات لنطاق الرؤية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594360" y="1558138"/>
            <a:ext cx="2551176" cy="1472184"/>
          </a:xfrm>
          <a:prstGeom prst="roundRect">
            <a:avLst>
              <a:gd name="adj" fmla="val 434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1736903"/>
            <a:ext cx="2368296" cy="4977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33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</a:t>
            </a:r>
            <a:endParaRPr lang="en-US" sz="2330" dirty="0"/>
          </a:p>
        </p:txBody>
      </p:sp>
      <p:sp>
        <p:nvSpPr>
          <p:cNvPr id="17" name="Text 15"/>
          <p:cNvSpPr/>
          <p:nvPr/>
        </p:nvSpPr>
        <p:spPr>
          <a:xfrm>
            <a:off x="722376" y="2308250"/>
            <a:ext cx="2295144" cy="5958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نشاطٍ لكل انتقال حالة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208776" y="3240634"/>
            <a:ext cx="5358384" cy="2628900"/>
          </a:xfrm>
          <a:prstGeom prst="roundRect">
            <a:avLst>
              <a:gd name="adj" fmla="val 2435"/>
            </a:avLst>
          </a:prstGeom>
          <a:solidFill>
            <a:srgbClr val="F5EEE2"/>
          </a:solidFill>
          <a:ln w="12700">
            <a:solidFill>
              <a:srgbClr val="F5EEE2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9944" y="3408883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A06C2C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القائم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9944" y="3871570"/>
            <a:ext cx="4956048" cy="1850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 التعديلات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غير موجود على أي كيان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من كتب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 شيء في الملفات يسجّله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التعارض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كل تعارضٍ بين نسختين يُحسم بالنقاش لا بمرجع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إدارة المستخدمين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عنصرٌ معطّل في القائمة، بلا رابط</a:t>
            </a:r>
            <a:endParaRPr lang="en-US" sz="1380" dirty="0"/>
          </a:p>
        </p:txBody>
      </p:sp>
      <p:sp>
        <p:nvSpPr>
          <p:cNvPr id="21" name="Shape 19"/>
          <p:cNvSpPr/>
          <p:nvPr/>
        </p:nvSpPr>
        <p:spPr>
          <a:xfrm>
            <a:off x="594360" y="3240634"/>
            <a:ext cx="5358384" cy="2628900"/>
          </a:xfrm>
          <a:prstGeom prst="roundRect">
            <a:avLst>
              <a:gd name="adj" fmla="val 2435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" y="3408883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الوضع بعد التأسيس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95528" y="3871570"/>
            <a:ext cx="4956048" cy="1850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المفاتيح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‏272‏ مفتاحاً على ‏31‏ نطاقاً، تُفحص قبل كل عملية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نطاق الرؤية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عامة، فرع، فريق، ما أُسند إلى الشخص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الأدوار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أدوار قابلة للتعريف، وفصلٌ بين إدارة الأدوار وإدارة المستخدمين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المساءلة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 نشاطٍ للمهام، وسجلات تدقيق، وتنبيهات تصعيد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الميدان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سجلات موقعٍ جغرافي تُثبت تنفيذ الزيارة</a:t>
            </a:r>
            <a:endParaRPr lang="en-US" sz="138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‏21‏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‏31‏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المرجعية المكتوبة وحوكمة القرار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9015984" y="1558138"/>
            <a:ext cx="2551176" cy="1524762"/>
          </a:xfrm>
          <a:prstGeom prst="roundRect">
            <a:avLst>
              <a:gd name="adj" fmla="val 419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07424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‏79‏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144000" y="2499443"/>
            <a:ext cx="2295144" cy="457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وثيقة مرجعية معتمدة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6208776" y="1558138"/>
            <a:ext cx="2551176" cy="1524762"/>
          </a:xfrm>
          <a:prstGeom prst="roundRect">
            <a:avLst>
              <a:gd name="adj" fmla="val 419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0216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‏19‏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336792" y="2499443"/>
            <a:ext cx="2295144" cy="457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قراراً موثّقاً مرقّماً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401568" y="1558138"/>
            <a:ext cx="2551176" cy="1524762"/>
          </a:xfrm>
          <a:prstGeom prst="roundRect">
            <a:avLst>
              <a:gd name="adj" fmla="val 419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93008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‏446‏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529584" y="2499443"/>
            <a:ext cx="2295144" cy="457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ملف ترحيلٍ موثّق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594360" y="1558138"/>
            <a:ext cx="2551176" cy="1524762"/>
          </a:xfrm>
          <a:prstGeom prst="roundRect">
            <a:avLst>
              <a:gd name="adj" fmla="val 4198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1736903"/>
            <a:ext cx="2368296" cy="688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6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‏68‏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22376" y="2499443"/>
            <a:ext cx="2295144" cy="457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ts val="1700"/>
              </a:lnSpc>
              <a:buNone/>
            </a:pPr>
            <a:r>
              <a:rPr lang="en-US" sz="122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قائمة مرجعية مُدارة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208776" y="3293212"/>
            <a:ext cx="5358384" cy="2576322"/>
          </a:xfrm>
          <a:prstGeom prst="roundRect">
            <a:avLst>
              <a:gd name="adj" fmla="val 2484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9944" y="3461461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ما تحتويه المرجعية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9944" y="3924148"/>
            <a:ext cx="4956048" cy="1798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وثائق النطاقات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‏29‏ وثيقة تحدّد قواعد كل قسمٍ وحدوده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وثائق الميزات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‏24‏ وثيقة تشرح كل ميزةٍ وسلوكها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وثائق العقود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‏26‏ وثيقة لمنظومة العقود والأجهزة وحدها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سجل القرارات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لكل قرارٍ جوهري:‏ سببه، وبدائله المرفوضة، وأثره</a:t>
            </a:r>
            <a:endParaRPr lang="en-US" sz="1380" dirty="0"/>
          </a:p>
        </p:txBody>
      </p:sp>
      <p:sp>
        <p:nvSpPr>
          <p:cNvPr id="21" name="Shape 19"/>
          <p:cNvSpPr/>
          <p:nvPr/>
        </p:nvSpPr>
        <p:spPr>
          <a:xfrm>
            <a:off x="594360" y="3293212"/>
            <a:ext cx="5358384" cy="2576322"/>
          </a:xfrm>
          <a:prstGeom prst="roundRect">
            <a:avLst>
              <a:gd name="adj" fmla="val 2484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95528" y="3461461"/>
            <a:ext cx="4956048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ولماذا تُعدّ مُخرَجاً مُسلَّماً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95528" y="3924148"/>
            <a:ext cx="4956048" cy="1798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ثبات السياسة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القاعدة مكتوبة، فلا تتبدّل بقرارٍ يومي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استمرارية المعرفة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المعرفة في الوثيقة لا في ذاكرة شخص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قابلية التطوير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أي تعديلٍ لاحق يُقاس على قاعدةٍ معلومة</a:t>
            </a:r>
            <a:endParaRPr lang="en-US" sz="138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المراجعة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8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يمكنكم مراجعة أي قاعدةٍ واعتراضها كتابةً</a:t>
            </a:r>
            <a:endParaRPr lang="en-US" sz="13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بُني · ‏22‏ من ‏22‏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‏32‏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أعمالٌ أُنجزت سبقاً لنطاق المرحلة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464334"/>
            <a:ext cx="10972800" cy="1107632"/>
          </a:xfrm>
          <a:prstGeom prst="roundRect">
            <a:avLst>
              <a:gd name="adj" fmla="val 5779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982712" y="1464334"/>
            <a:ext cx="3383280" cy="110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1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منظومة الدفعات</a:t>
            </a:r>
            <a:endParaRPr lang="en-US" sz="1510" dirty="0"/>
          </a:p>
        </p:txBody>
      </p:sp>
      <p:sp>
        <p:nvSpPr>
          <p:cNvPr id="8" name="Text 6"/>
          <p:cNvSpPr/>
          <p:nvPr/>
        </p:nvSpPr>
        <p:spPr>
          <a:xfrm>
            <a:off x="795528" y="1464334"/>
            <a:ext cx="6986016" cy="110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أحد عشر جدولاً مالياً مترابطاً:‏ أقساط العقود، وقيود الدفع، والمستحقات بأربع حالات، وأقساط الصيانة الطارئة والضمان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2691959"/>
            <a:ext cx="10972800" cy="1107632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82712" y="2691959"/>
            <a:ext cx="3383280" cy="110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1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منظومة المقايضة</a:t>
            </a:r>
            <a:endParaRPr lang="en-US" sz="1510" dirty="0"/>
          </a:p>
        </p:txBody>
      </p:sp>
      <p:sp>
        <p:nvSpPr>
          <p:cNvPr id="11" name="Text 9"/>
          <p:cNvSpPr/>
          <p:nvPr/>
        </p:nvSpPr>
        <p:spPr>
          <a:xfrm>
            <a:off x="795528" y="2691959"/>
            <a:ext cx="6986016" cy="110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خدمة مستقلة باختباراتها، وحقولها في نموذج العقد وتفاصيله وقائمته، ولها تفصيلٌ في طبقة التقارير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3919584"/>
            <a:ext cx="10972800" cy="1107632"/>
          </a:xfrm>
          <a:prstGeom prst="roundRect">
            <a:avLst>
              <a:gd name="adj" fmla="val 5779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82712" y="3919584"/>
            <a:ext cx="3383280" cy="110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1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سجلات الأسماء المقترحة</a:t>
            </a:r>
            <a:endParaRPr lang="en-US" sz="1510" dirty="0"/>
          </a:p>
        </p:txBody>
      </p:sp>
      <p:sp>
        <p:nvSpPr>
          <p:cNvPr id="14" name="Text 12"/>
          <p:cNvSpPr/>
          <p:nvPr/>
        </p:nvSpPr>
        <p:spPr>
          <a:xfrm>
            <a:off x="795528" y="3919584"/>
            <a:ext cx="6986016" cy="110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نطاقٌ كامل بجداوله وحالاته الست ومؤشراته الأربعة، وكان مقرّراً لما بعد هذه المرحلة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5294894"/>
            <a:ext cx="10972800" cy="923026"/>
          </a:xfrm>
          <a:prstGeom prst="roundRect">
            <a:avLst>
              <a:gd name="adj" fmla="val 6935"/>
            </a:avLst>
          </a:prstGeom>
          <a:solidFill>
            <a:srgbClr val="10243D"/>
          </a:solidFill>
          <a:ln w="12700">
            <a:solidFill>
              <a:srgbClr val="10243D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5294894"/>
            <a:ext cx="10424160" cy="923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100"/>
              </a:lnSpc>
              <a:buNone/>
            </a:pPr>
            <a:r>
              <a:rPr lang="en-US" sz="2110" b="1" dirty="0">
                <a:solidFill>
                  <a:srgbClr val="FFFFFF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ثلاثة نطاقاتٍ كانت مقرّرةً للمرحلة القادمة، أُنجزت داخل هذه المرحلة</a:t>
            </a:r>
            <a:endParaRPr lang="en-US" sz="211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02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82296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0" b="1" dirty="0">
                <a:solidFill>
                  <a:srgbClr val="17324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‏03‏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94360" y="2880360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spc="10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القسم الثالث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94360" y="33375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النطاق والاعتماد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594360" y="44348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BDCE"/>
                </a:solidFill>
                <a:latin typeface="Dubai Light" pitchFamily="34" charset="0"/>
                <a:ea typeface="Dubai Light" pitchFamily="34" charset="-122"/>
                <a:cs typeface="Dubai Light" pitchFamily="34" charset="-120"/>
              </a:rPr>
              <a:t>ما هو داخل نطاق هذا التسليم، وما هو خارجه بقرارٍ معلَن.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335524" y="5806440"/>
            <a:ext cx="173736" cy="173736"/>
          </a:xfrm>
          <a:prstGeom prst="rect">
            <a:avLst/>
          </a:prstGeom>
          <a:solidFill>
            <a:srgbClr val="A06C2C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77840" y="5806440"/>
            <a:ext cx="173736" cy="173736"/>
          </a:xfrm>
          <a:prstGeom prst="rect">
            <a:avLst/>
          </a:prstGeom>
          <a:solidFill>
            <a:srgbClr val="A06C2C">
              <a:alpha val="2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20156" y="5806440"/>
            <a:ext cx="173736" cy="173736"/>
          </a:xfrm>
          <a:prstGeom prst="rect">
            <a:avLst/>
          </a:prstGeom>
          <a:solidFill>
            <a:srgbClr val="A06C2C">
              <a:alpha val="3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62472" y="5806440"/>
            <a:ext cx="173736" cy="173736"/>
          </a:xfrm>
          <a:prstGeom prst="rect">
            <a:avLst/>
          </a:prstGeom>
          <a:solidFill>
            <a:srgbClr val="A06C2C">
              <a:alpha val="3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4788" y="5806440"/>
            <a:ext cx="173736" cy="173736"/>
          </a:xfrm>
          <a:prstGeom prst="rect">
            <a:avLst/>
          </a:prstGeom>
          <a:solidFill>
            <a:srgbClr val="A06C2C">
              <a:alpha val="4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47104" y="5806440"/>
            <a:ext cx="173736" cy="173736"/>
          </a:xfrm>
          <a:prstGeom prst="rect">
            <a:avLst/>
          </a:prstGeom>
          <a:solidFill>
            <a:srgbClr val="A06C2C">
              <a:alpha val="4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89420" y="5806440"/>
            <a:ext cx="173736" cy="173736"/>
          </a:xfrm>
          <a:prstGeom prst="rect">
            <a:avLst/>
          </a:prstGeom>
          <a:solidFill>
            <a:srgbClr val="A06C2C">
              <a:alpha val="51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31736" y="5806440"/>
            <a:ext cx="173736" cy="173736"/>
          </a:xfrm>
          <a:prstGeom prst="rect">
            <a:avLst/>
          </a:prstGeom>
          <a:solidFill>
            <a:srgbClr val="A06C2C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74052" y="5806440"/>
            <a:ext cx="173736" cy="173736"/>
          </a:xfrm>
          <a:prstGeom prst="rect">
            <a:avLst/>
          </a:prstGeom>
          <a:solidFill>
            <a:srgbClr val="A06C2C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16368" y="5806440"/>
            <a:ext cx="173736" cy="173736"/>
          </a:xfrm>
          <a:prstGeom prst="rect">
            <a:avLst/>
          </a:prstGeom>
          <a:solidFill>
            <a:srgbClr val="A06C2C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58684" y="5806440"/>
            <a:ext cx="173736" cy="173736"/>
          </a:xfrm>
          <a:prstGeom prst="rect">
            <a:avLst/>
          </a:prstGeom>
          <a:solidFill>
            <a:srgbClr val="A06C2C">
              <a:alpha val="6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01000" y="5806440"/>
            <a:ext cx="173736" cy="173736"/>
          </a:xfrm>
          <a:prstGeom prst="rect">
            <a:avLst/>
          </a:prstGeom>
          <a:solidFill>
            <a:srgbClr val="5A6E7A">
              <a:alpha val="7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43316" y="5806440"/>
            <a:ext cx="173736" cy="173736"/>
          </a:xfrm>
          <a:prstGeom prst="rect">
            <a:avLst/>
          </a:prstGeom>
          <a:solidFill>
            <a:srgbClr val="5A6E7A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85632" y="5806440"/>
            <a:ext cx="173736" cy="173736"/>
          </a:xfrm>
          <a:prstGeom prst="rect">
            <a:avLst/>
          </a:prstGeom>
          <a:solidFill>
            <a:srgbClr val="5A6E7A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727948" y="5806440"/>
            <a:ext cx="173736" cy="173736"/>
          </a:xfrm>
          <a:prstGeom prst="rect">
            <a:avLst/>
          </a:prstGeom>
          <a:solidFill>
            <a:srgbClr val="5A6E7A">
              <a:alpha val="7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70264" y="5806440"/>
            <a:ext cx="173736" cy="173736"/>
          </a:xfrm>
          <a:prstGeom prst="rect">
            <a:avLst/>
          </a:prstGeom>
          <a:solidFill>
            <a:srgbClr val="1C6E8C">
              <a:alpha val="6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12580" y="5806440"/>
            <a:ext cx="173736" cy="173736"/>
          </a:xfrm>
          <a:prstGeom prst="rect">
            <a:avLst/>
          </a:prstGeom>
          <a:solidFill>
            <a:srgbClr val="1C6E8C">
              <a:alpha val="6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54896" y="5806440"/>
            <a:ext cx="173736" cy="173736"/>
          </a:xfrm>
          <a:prstGeom prst="rect">
            <a:avLst/>
          </a:prstGeom>
          <a:solidFill>
            <a:srgbClr val="1C6E8C">
              <a:alpha val="6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697212" y="5806440"/>
            <a:ext cx="173736" cy="173736"/>
          </a:xfrm>
          <a:prstGeom prst="rect">
            <a:avLst/>
          </a:prstGeom>
          <a:solidFill>
            <a:srgbClr val="1C6E8C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939528" y="5806440"/>
            <a:ext cx="173736" cy="173736"/>
          </a:xfrm>
          <a:prstGeom prst="rect">
            <a:avLst/>
          </a:prstGeom>
          <a:solidFill>
            <a:srgbClr val="1C6E8C">
              <a:alpha val="51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181844" y="5806440"/>
            <a:ext cx="173736" cy="173736"/>
          </a:xfrm>
          <a:prstGeom prst="rect">
            <a:avLst/>
          </a:prstGeom>
          <a:solidFill>
            <a:srgbClr val="1C6E8C">
              <a:alpha val="4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424160" y="5806440"/>
            <a:ext cx="173736" cy="173736"/>
          </a:xfrm>
          <a:prstGeom prst="rect">
            <a:avLst/>
          </a:prstGeom>
          <a:solidFill>
            <a:srgbClr val="1C6E8C">
              <a:alpha val="4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66476" y="5806440"/>
            <a:ext cx="173736" cy="173736"/>
          </a:xfrm>
          <a:prstGeom prst="rect">
            <a:avLst/>
          </a:prstGeom>
          <a:solidFill>
            <a:srgbClr val="1C6E8C">
              <a:alpha val="3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908792" y="5806440"/>
            <a:ext cx="173736" cy="173736"/>
          </a:xfrm>
          <a:prstGeom prst="rect">
            <a:avLst/>
          </a:prstGeom>
          <a:solidFill>
            <a:srgbClr val="1C6E8C">
              <a:alpha val="3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151108" y="5806440"/>
            <a:ext cx="173736" cy="173736"/>
          </a:xfrm>
          <a:prstGeom prst="rect">
            <a:avLst/>
          </a:prstGeom>
          <a:solidFill>
            <a:srgbClr val="1C6E8C">
              <a:alpha val="29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393424" y="5806440"/>
            <a:ext cx="173736" cy="173736"/>
          </a:xfrm>
          <a:prstGeom prst="rect">
            <a:avLst/>
          </a:prstGeom>
          <a:solidFill>
            <a:srgbClr val="1C6E8C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1C6E8C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النطاق والاعتماد · ‏1‏ من ‏2‏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0243D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‏33‏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10243D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ما هو خارج نطاق هذه المرحلة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10972800" cy="1188720"/>
          </a:xfrm>
          <a:prstGeom prst="roundRect">
            <a:avLst>
              <a:gd name="adj" fmla="val 5385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982712" y="137160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العمل دون اتصال بالإنترنت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" y="1371600"/>
            <a:ext cx="69860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لم يُنفَّذ في هذه المرحلة. ومزامنة العمل دون اتصال تستلزم مهاماً محدّدة الأنواع، ونتائج منظّمة لكل نوع، وقواعد لفضّ التعارض بين نسختين ‏—‏ وهو ما أُسّس في هذه المرحلة بالضبط. لم يكن ممكناً قبلها، وأصبح ممكناً الآن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2679192"/>
            <a:ext cx="109728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982712" y="2679192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تطبيق مستقل للفني والمشرفة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5528" y="2679192"/>
            <a:ext cx="69860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سُلّمت تجربتهما داخل النظام على واجهةٍ تعمل على الهاتف المحمول:‏ زياراتي، وتفاصيل الزيارة، وتنبيهات المشرفة. والتطبيق المستقل مرحلةٌ قادمة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3986784"/>
            <a:ext cx="10972800" cy="1188720"/>
          </a:xfrm>
          <a:prstGeom prst="roundRect">
            <a:avLst>
              <a:gd name="adj" fmla="val 5385"/>
            </a:avLst>
          </a:prstGeom>
          <a:solidFill>
            <a:srgbClr val="F2F5F7"/>
          </a:solidFill>
          <a:ln w="12700">
            <a:solidFill>
              <a:srgbClr val="F2F5F7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82712" y="3986784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بنود مؤجّلة بقرارٍ موثّق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5528" y="3986784"/>
            <a:ext cx="69860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4657A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نموذج الضمانات الموحّد في صورته النهائية، مسار فحص المياه غير الموثّق، الأعمال الموكولة إلى طرف تطبيق الهاتف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5440680"/>
            <a:ext cx="10972800" cy="777240"/>
          </a:xfrm>
          <a:prstGeom prst="roundRect">
            <a:avLst>
              <a:gd name="adj" fmla="val 8235"/>
            </a:avLst>
          </a:prstGeom>
          <a:solidFill>
            <a:srgbClr val="E6EEF3"/>
          </a:solidFill>
          <a:ln w="12700">
            <a:solidFill>
              <a:srgbClr val="E6EEF3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5440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900"/>
              </a:lnSpc>
              <a:buNone/>
            </a:pPr>
            <a:r>
              <a:rPr lang="en-US" sz="1900" b="1" dirty="0">
                <a:solidFill>
                  <a:srgbClr val="10243D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تُعلَن منّا قبل أن تُكتشف ‏—‏ وبهذا يكون الاعتماد نهائياً</a:t>
            </a:r>
            <a:endParaRPr lang="en-US" sz="1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02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194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b="1" spc="60" kern="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النطاق والاعتماد · ‏2‏ من ‏2‏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11055096" y="530352"/>
            <a:ext cx="512064" cy="512064"/>
          </a:xfrm>
          <a:prstGeom prst="ellipse">
            <a:avLst/>
          </a:prstGeom>
          <a:solidFill>
            <a:srgbClr val="1C6E8C"/>
          </a:solidFill>
          <a:ln/>
        </p:spPr>
      </p:sp>
      <p:sp>
        <p:nvSpPr>
          <p:cNvPr id="4" name="Text 2"/>
          <p:cNvSpPr/>
          <p:nvPr/>
        </p:nvSpPr>
        <p:spPr>
          <a:xfrm>
            <a:off x="11055096" y="5303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‏34‏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493776"/>
            <a:ext cx="102595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المطلوب من هذا الاجتماع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6629400" y="1375799"/>
            <a:ext cx="4937760" cy="3294639"/>
          </a:xfrm>
          <a:prstGeom prst="roundRect">
            <a:avLst>
              <a:gd name="adj" fmla="val 1943"/>
            </a:avLst>
          </a:prstGeom>
          <a:solidFill>
            <a:srgbClr val="0A1829"/>
          </a:solidFill>
          <a:ln w="12700">
            <a:solidFill>
              <a:srgbClr val="1C6E8C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812280" y="1375799"/>
            <a:ext cx="4572000" cy="3294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مساحة اللقطة الصامتة</a:t>
            </a:r>
            <a:endParaRPr lang="en-US" sz="1350" dirty="0"/>
          </a:p>
          <a:p>
            <a:pPr rtl="1" algn="ctr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المشهد ‏19‏ ‏—‏ الخاتمة</a:t>
            </a:r>
            <a:endParaRPr lang="en-US" sz="1350" dirty="0"/>
          </a:p>
          <a:p>
            <a:pPr rtl="1" algn="ctr"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5E8CA6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‏12‏ ثانية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1375799"/>
            <a:ext cx="5596128" cy="1397726"/>
          </a:xfrm>
          <a:prstGeom prst="roundRect">
            <a:avLst>
              <a:gd name="adj" fmla="val 4579"/>
            </a:avLst>
          </a:prstGeom>
          <a:solidFill>
            <a:srgbClr val="0A1829"/>
          </a:solidFill>
          <a:ln w="12700">
            <a:solidFill>
              <a:srgbClr val="0A1829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32104" y="1525555"/>
            <a:ext cx="5120640" cy="419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7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أولاً:‏ اعتماد المرحلة</a:t>
            </a:r>
            <a:endParaRPr lang="en-US" sz="2070" dirty="0"/>
          </a:p>
        </p:txBody>
      </p:sp>
      <p:sp>
        <p:nvSpPr>
          <p:cNvPr id="10" name="Text 8"/>
          <p:cNvSpPr/>
          <p:nvPr/>
        </p:nvSpPr>
        <p:spPr>
          <a:xfrm>
            <a:off x="832104" y="2004775"/>
            <a:ext cx="5120640" cy="648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500"/>
              </a:lnSpc>
              <a:buNone/>
            </a:pPr>
            <a:r>
              <a:rPr lang="en-US" sz="1560" dirty="0">
                <a:solidFill>
                  <a:srgbClr val="A9BDCE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بنطاقها المحدّد كما عُرض، وباستثناءاتها المعلَنة.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594360" y="2973200"/>
            <a:ext cx="5596128" cy="1697238"/>
          </a:xfrm>
          <a:prstGeom prst="roundRect">
            <a:avLst>
              <a:gd name="adj" fmla="val 3771"/>
            </a:avLst>
          </a:prstGeom>
          <a:solidFill>
            <a:srgbClr val="0A1829"/>
          </a:solidFill>
          <a:ln w="12700">
            <a:solidFill>
              <a:srgbClr val="0A1829"/>
            </a:solidFill>
            <a:prstDash val="solid"/>
          </a:ln>
          <a:effectLst>
            <a:outerShdw sx="100000" sy="100000" kx="0" ky="0" algn="bl" rotWithShape="0" blurRad="114300" dist="25400" dir="5400000">
              <a:srgbClr val="0A1829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" y="3122956"/>
            <a:ext cx="5120640" cy="419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7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ثانياً:‏ بروتوكول المرحلة القادمة</a:t>
            </a:r>
            <a:endParaRPr lang="en-US" sz="2070" dirty="0"/>
          </a:p>
        </p:txBody>
      </p:sp>
      <p:sp>
        <p:nvSpPr>
          <p:cNvPr id="13" name="Text 11"/>
          <p:cNvSpPr/>
          <p:nvPr/>
        </p:nvSpPr>
        <p:spPr>
          <a:xfrm>
            <a:off x="832104" y="3622144"/>
            <a:ext cx="5120640" cy="9484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مرجعٌ واحد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يملك حق الحسم لديكم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إيقاعٌ ثابت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لاتخاذ القرارات في مواعيد معلومة</a:t>
            </a:r>
            <a:endParaRPr lang="en-US" sz="1350" dirty="0"/>
          </a:p>
          <a:p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FFFFFF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تثبيتٌ كتابي  </a:t>
            </a:r>
            <a:pPr rtl="1" algn="r" indent="0" marL="0">
              <a:lnSpc>
                <a:spcPts val="2300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C8D6E2"/>
                </a:solidFill>
                <a:latin typeface="Dubai" pitchFamily="34" charset="0"/>
                <a:ea typeface="Dubai" pitchFamily="34" charset="-122"/>
                <a:cs typeface="Dubai" pitchFamily="34" charset="-120"/>
              </a:rPr>
              <a:t>لأي قرارٍ قبل تنفيذه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94360" y="4969951"/>
            <a:ext cx="10972800" cy="1247969"/>
          </a:xfrm>
          <a:prstGeom prst="roundRect">
            <a:avLst>
              <a:gd name="adj" fmla="val 5129"/>
            </a:avLst>
          </a:prstGeom>
          <a:solidFill>
            <a:srgbClr val="1C6E8C"/>
          </a:solidFill>
          <a:ln w="12700">
            <a:solidFill>
              <a:srgbClr val="1C6E8C"/>
            </a:solidFill>
            <a:prstDash val="solid"/>
          </a:ln>
          <a:effectLst>
            <a:outerShdw sx="100000" sy="100000" kx="0" ky="0" algn="bl" rotWithShape="0" blurRad="177800" dist="38100" dir="5400000">
              <a:srgbClr val="0A1829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969951"/>
            <a:ext cx="10424160" cy="12479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3400"/>
              </a:lnSpc>
              <a:buNone/>
            </a:pPr>
            <a:r>
              <a:rPr lang="en-US" sz="2380" b="1" dirty="0">
                <a:solidFill>
                  <a:srgbClr val="FFFFFF"/>
                </a:solidFill>
                <a:latin typeface="Dubai Medium" pitchFamily="34" charset="0"/>
                <a:ea typeface="Dubai Medium" pitchFamily="34" charset="-122"/>
                <a:cs typeface="Dubai Medium" pitchFamily="34" charset="-120"/>
              </a:rPr>
              <a:t>حُفظت الروح، واستُبدل الهيكل ‏—‏ وبقي طريقٌ واحد لم نصله بعد</a:t>
            </a:r>
            <a:endParaRPr lang="en-US" sz="23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2026-08-19T13:04:53Z</dcterms:created>
  <dcterms:modified xsi:type="dcterms:W3CDTF">2026-08-19T13:04:53Z</dcterms:modified>
</cp:coreProperties>
</file>